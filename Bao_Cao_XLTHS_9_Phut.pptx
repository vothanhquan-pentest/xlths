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097280"/>
            <a:ext cx="3474720" cy="365760"/>
          </a:xfrm>
          <a:prstGeom prst="roundRect">
            <a:avLst/>
          </a:prstGeom>
          <a:solidFill>
            <a:srgbClr val="112240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B4D8"/>
                </a:solidFill>
              </a:defRPr>
            </a:pPr>
            <a:r>
              <a:t>BÁO CÁO GIỮA KỲ — XỬ LÝ TÍN HIỆU SỐ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PHÂN ĐOẠN TÍN HIỆU THÀNH</a:t>
            </a:r>
            <a:br/>
            <a:r>
              <a:t>TIẾNG NÓI VÀ KHOẢNG LẶNG</a:t>
            </a:r>
          </a:p>
          <a:p>
            <a:pPr>
              <a:defRPr sz="1600">
                <a:solidFill>
                  <a:srgbClr val="94A3B8"/>
                </a:solidFill>
              </a:defRPr>
            </a:pPr>
            <a:r>
              <a:t>So sánh thực nghiệm ba thuật toán: Tìm kiếm nhị phân, Histogram và Thống kê Gaussian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931920"/>
            <a:ext cx="3383280" cy="1463040"/>
          </a:xfrm>
          <a:prstGeom prst="roundRect">
            <a:avLst/>
          </a:prstGeom>
          <a:solidFill>
            <a:srgbClr val="112240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300" b="1">
                <a:solidFill>
                  <a:srgbClr val="00B4D8"/>
                </a:solidFill>
              </a:defRPr>
            </a:pPr>
            <a:r>
              <a:t>01. TÌM KIẾM NHỊ PHÂN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Binary Search cân bằng diện tích nhầm lẫn hai lớp, khóa ngưỡng cố định.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3931920"/>
            <a:ext cx="3383280" cy="1463040"/>
          </a:xfrm>
          <a:prstGeom prst="roundRect">
            <a:avLst/>
          </a:prstGeom>
          <a:solidFill>
            <a:srgbClr val="112240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300" b="1">
                <a:solidFill>
                  <a:srgbClr val="0D9488"/>
                </a:solidFill>
              </a:defRPr>
            </a:pPr>
            <a:r>
              <a:t>02. HISTOGRAM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Phân tích 2 đỉnh năng lượng, tính ngưỡng thích nghi theo từng file WAV.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3931920"/>
            <a:ext cx="3383280" cy="1463040"/>
          </a:xfrm>
          <a:prstGeom prst="roundRect">
            <a:avLst/>
          </a:prstGeom>
          <a:solidFill>
            <a:srgbClr val="112240"/>
          </a:solidFill>
          <a:ln w="12700">
            <a:solidFill>
              <a:srgbClr val="F77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300" b="1">
                <a:solidFill>
                  <a:srgbClr val="F77F00"/>
                </a:solidFill>
              </a:defRPr>
            </a:pPr>
            <a:r>
              <a:t>03. THỐNG KÊ GAUSSIAN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Mô hình hóa mật độ xác suất chuẩn, giải nghiệm Bayes tối ưu sai số.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76072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Sinh viên: Võ Thanh Quân  |  Mã nguồn: 100% Python/Numpy  |  Thời lượng thuyết minh: 9 Phút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A192F"/>
                </a:solidFill>
                <a:latin typeface="Arial"/>
              </a:defRPr>
            </a:pPr>
            <a:r>
              <a:t>THUẬT TOÁN 1: TÌM KIẾM NHỊ PHÂN (BINARY SEARCH)</a:t>
            </a:r>
          </a:p>
          <a:p>
            <a:pPr>
              <a:defRPr sz="1300">
                <a:solidFill>
                  <a:srgbClr val="64748B"/>
                </a:solidFill>
                <a:latin typeface="Arial"/>
              </a:defRPr>
            </a:pPr>
            <a:r>
              <a:t>Sơ đồ khối và nguyên lý xác định ngưỡng phân đoạn năng lượng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33832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000" b="1">
                <a:solidFill>
                  <a:srgbClr val="00B4D8"/>
                </a:solidFill>
              </a:defRPr>
            </a:pPr>
            <a:r>
              <a:t>BƯỚC 1</a:t>
            </a:r>
          </a:p>
          <a:p>
            <a:pPr>
              <a:defRPr sz="1300" b="1">
                <a:solidFill>
                  <a:srgbClr val="0A192F"/>
                </a:solidFill>
              </a:defRPr>
            </a:pPr>
            <a:r>
              <a:t>Dữ liệu huấn luyện &amp; LAB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Nạp 4 file TinHieuHuanLuyen và nhãn chuẩn tương ứng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554480"/>
            <a:ext cx="33832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000" b="1">
                <a:solidFill>
                  <a:srgbClr val="00B4D8"/>
                </a:solidFill>
              </a:defRPr>
            </a:pPr>
            <a:r>
              <a:t>BƯỚC 2</a:t>
            </a:r>
          </a:p>
          <a:p>
            <a:pPr>
              <a:defRPr sz="1300" b="1">
                <a:solidFill>
                  <a:srgbClr val="0A192F"/>
                </a:solidFill>
              </a:defRPr>
            </a:pPr>
            <a:r>
              <a:t>Trích xuất STE chuẩn hóa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Chia khung 30 ms, bước nhảy 10 ms, chuẩn hóa STE về [0, 1]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554480"/>
            <a:ext cx="33832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000" b="1">
                <a:solidFill>
                  <a:srgbClr val="00B4D8"/>
                </a:solidFill>
              </a:defRPr>
            </a:pPr>
            <a:r>
              <a:t>BƯỚC 3</a:t>
            </a:r>
          </a:p>
          <a:p>
            <a:pPr>
              <a:defRPr sz="1300" b="1">
                <a:solidFill>
                  <a:srgbClr val="0A192F"/>
                </a:solidFill>
              </a:defRPr>
            </a:pPr>
            <a:r>
              <a:t>Tách 2 tập nhãn Sp &amp; Sil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Gộp 'v' + 'uv' thành Speech, 'sil' là Silence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657600"/>
            <a:ext cx="33832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000" b="1">
                <a:solidFill>
                  <a:srgbClr val="00B4D8"/>
                </a:solidFill>
              </a:defRPr>
            </a:pPr>
            <a:r>
              <a:t>BƯỚC 4</a:t>
            </a:r>
          </a:p>
          <a:p>
            <a:pPr>
              <a:defRPr sz="1300" b="1">
                <a:solidFill>
                  <a:srgbClr val="0A192F"/>
                </a:solidFill>
              </a:defRPr>
            </a:pPr>
            <a:r>
              <a:t>Khảo sát miền chồng lấn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Xác định khoảng tìm kiếm [min(Speech), max(Silence)]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3657600"/>
            <a:ext cx="33832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000" b="1">
                <a:solidFill>
                  <a:srgbClr val="00B4D8"/>
                </a:solidFill>
              </a:defRPr>
            </a:pPr>
            <a:r>
              <a:t>BƯỚC 5</a:t>
            </a:r>
          </a:p>
          <a:p>
            <a:pPr>
              <a:defRPr sz="1300" b="1">
                <a:solidFill>
                  <a:srgbClr val="0A192F"/>
                </a:solidFill>
              </a:defRPr>
            </a:pPr>
            <a:r>
              <a:t>Duyệt nhị phân chia đôi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Cân bằng diện tích lỗi: P(Sil &gt; mid) ≈ P(Sp &lt; mid)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3657600"/>
            <a:ext cx="33832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000" b="1">
                <a:solidFill>
                  <a:srgbClr val="00B4D8"/>
                </a:solidFill>
              </a:defRPr>
            </a:pPr>
            <a:r>
              <a:t>BƯỚC 6</a:t>
            </a:r>
          </a:p>
          <a:p>
            <a:pPr>
              <a:defRPr sz="1300" b="1">
                <a:solidFill>
                  <a:srgbClr val="0A192F"/>
                </a:solidFill>
              </a:defRPr>
            </a:pPr>
            <a:r>
              <a:t>Khóa ngưỡng &amp; Lọc 200 ms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Khóa T = 0.00156; loại khoảng lặng ảo ngắn hơn 200 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852160"/>
            <a:ext cx="10698480" cy="59436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A192F"/>
                </a:solidFill>
              </a:defRPr>
            </a:pPr>
            <a:r>
              <a:t>Ý NGHĨA KỸ THUẬT: Ngưỡng được khóa từ tập huấn luyện và dùng chung cho toàn bộ tập kiểm thử. Không sử dụng nhãn test để tinh chỉnh.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A192F"/>
                </a:solidFill>
                <a:latin typeface="Arial"/>
              </a:defRPr>
            </a:pPr>
            <a:r>
              <a:t>KẾT QUẢ THỰC NGHIỆM: TÌM KIẾM NHỊ PHÂN TRÊN PHONE_F2</a:t>
            </a:r>
          </a:p>
          <a:p>
            <a:pPr>
              <a:defRPr sz="1300">
                <a:solidFill>
                  <a:srgbClr val="64748B"/>
                </a:solidFill>
                <a:latin typeface="Arial"/>
              </a:defRPr>
            </a:pPr>
            <a:r>
              <a:t>Đồ thị 4 dải trung gian và kết quả phân đoạn cuối cùng</a:t>
            </a:r>
          </a:p>
        </p:txBody>
      </p:sp>
      <p:pic>
        <p:nvPicPr>
          <p:cNvPr id="3" name="Picture 2" descr="phone_F2_bin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7772400" cy="6005945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8778240" y="1463040"/>
            <a:ext cx="265176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200" b="1">
                <a:solidFill>
                  <a:srgbClr val="0A192F"/>
                </a:solidFill>
              </a:defRPr>
            </a:pPr>
            <a:r>
              <a:t>CẤU TRÚC 4 ĐỒ THỊ</a:t>
            </a:r>
          </a:p>
          <a:p>
            <a:pPr>
              <a:defRPr sz="1100" b="1">
                <a:solidFill>
                  <a:srgbClr val="00B4D8"/>
                </a:solidFill>
              </a:defRPr>
            </a:pPr>
            <a:r>
              <a:t>Dải 1: Waveform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Sóng âm thanh WAV và biên phân đoạn dọc.</a:t>
            </a:r>
          </a:p>
          <a:p>
            <a:pPr>
              <a:defRPr sz="1100" b="1">
                <a:solidFill>
                  <a:srgbClr val="00B4D8"/>
                </a:solidFill>
              </a:defRPr>
            </a:pPr>
            <a:r>
              <a:t>Dải 2: STE chuẩn hóa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Đường năng lượng và ngưỡng ngang T = 0.0016.</a:t>
            </a:r>
          </a:p>
          <a:p>
            <a:pPr>
              <a:defRPr sz="1100" b="1">
                <a:solidFill>
                  <a:srgbClr val="00B4D8"/>
                </a:solidFill>
              </a:defRPr>
            </a:pPr>
            <a:r>
              <a:t>Dải 3: Mức năng lượng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logSTE và logMA đo bằng dB.</a:t>
            </a:r>
          </a:p>
          <a:p>
            <a:pPr>
              <a:defRPr sz="1100" b="1">
                <a:solidFill>
                  <a:srgbClr val="00B4D8"/>
                </a:solidFill>
              </a:defRPr>
            </a:pPr>
            <a:r>
              <a:t>Dải 4: Tần số F0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F0 tự tương quan (Hz) và F0mean chuẩn LAB.</a:t>
            </a:r>
          </a:p>
          <a:p>
            <a:pPr>
              <a:defRPr sz="1100" b="1">
                <a:solidFill>
                  <a:srgbClr val="00B4D8"/>
                </a:solidFill>
              </a:defRPr>
            </a:pPr>
            <a:r>
              <a:t>Quy ước đường kẻ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• Đỏ nét đứt: Biên chuẩn LAB</a:t>
            </a:r>
            <a:br/>
            <a:r>
              <a:t>• Xanh nét liền: Biên thuật toán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A192F"/>
                </a:solidFill>
                <a:latin typeface="Arial"/>
              </a:defRPr>
            </a:pPr>
            <a:r>
              <a:t>NHẬN XÉT CHI TIẾT: THUẬT TOÁN TÌM KIẾM NHỊ PHÂN</a:t>
            </a:r>
          </a:p>
          <a:p>
            <a:pPr>
              <a:defRPr sz="1300">
                <a:solidFill>
                  <a:srgbClr val="64748B"/>
                </a:solidFill>
                <a:latin typeface="Arial"/>
              </a:defRPr>
            </a:pPr>
            <a:r>
              <a:t>Đánh giá định lượng sai số biên, vị trí và nguyên nhân trên đồ thị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33832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64592"/>
          <a:lstStyle/>
          <a:p>
            <a:pPr algn="ctr">
              <a:defRPr sz="1000" b="1">
                <a:solidFill>
                  <a:srgbClr val="64748B"/>
                </a:solidFill>
              </a:defRPr>
            </a:pPr>
            <a:r>
              <a:t>MAE TRÊN PHONE_F2</a:t>
            </a:r>
          </a:p>
          <a:p>
            <a:pPr>
              <a:defRPr sz="1800" b="1">
                <a:solidFill>
                  <a:srgbClr val="F77F00"/>
                </a:solidFill>
              </a:defRPr>
            </a:pPr>
            <a:r>
              <a:t>45.0 ms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RMSE = 57.0 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463040"/>
            <a:ext cx="33832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64592"/>
          <a:lstStyle/>
          <a:p>
            <a:pPr algn="ctr">
              <a:defRPr sz="1000" b="1">
                <a:solidFill>
                  <a:srgbClr val="64748B"/>
                </a:solidFill>
              </a:defRPr>
            </a:pPr>
            <a:r>
              <a:t>MAE TOÀN TẬP TEST</a:t>
            </a:r>
          </a:p>
          <a:p>
            <a:pPr>
              <a:defRPr sz="1800" b="1">
                <a:solidFill>
                  <a:srgbClr val="10B981"/>
                </a:solidFill>
              </a:defRPr>
            </a:pPr>
            <a:r>
              <a:t>20.0 ms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Gộp trên 4 tệp kiểm thử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463040"/>
            <a:ext cx="33832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64592"/>
          <a:lstStyle/>
          <a:p>
            <a:pPr algn="ctr">
              <a:defRPr sz="1000" b="1">
                <a:solidFill>
                  <a:srgbClr val="64748B"/>
                </a:solidFill>
              </a:defRPr>
            </a:pPr>
            <a:r>
              <a:t>SỐ LƯỢNG BIÊN</a:t>
            </a:r>
          </a:p>
          <a:p>
            <a:pPr>
              <a:defRPr sz="1800" b="1">
                <a:solidFill>
                  <a:srgbClr val="0A192F"/>
                </a:solidFill>
              </a:defRPr>
            </a:pPr>
            <a:r>
              <a:t>2 Đúng / 1 Thừa / 0 Thiếu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1 lỗi biên thừa tại đuôi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926080"/>
            <a:ext cx="521208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300" b="1">
                <a:solidFill>
                  <a:srgbClr val="0A192F"/>
                </a:solidFill>
              </a:defRPr>
            </a:pPr>
            <a:r>
              <a:t>VỊ TRÍ VÀ MỨC ĐỘ SAI LỆCH BIÊN</a:t>
            </a:r>
          </a:p>
          <a:p>
            <a:pPr>
              <a:defRPr sz="1100" b="1">
                <a:solidFill>
                  <a:srgbClr val="00B4D8"/>
                </a:solidFill>
              </a:defRPr>
            </a:pPr>
            <a:r>
              <a:t>• Bắt đầu Speech (chuẩn 1.02 s):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Thuật toán dự đoán 1.01 s (lệch -10 ms) -&gt; Bám cực sát biên chuẩn.</a:t>
            </a:r>
          </a:p>
          <a:p>
            <a:pPr>
              <a:defRPr sz="1100" b="1">
                <a:solidFill>
                  <a:srgbClr val="00B4D8"/>
                </a:solidFill>
              </a:defRPr>
            </a:pPr>
            <a:r>
              <a:t>• Kết thúc Speech (chuẩn 4.04 s):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Thuật toán dự đoán 4.12 s (lệch +80 ms) -&gt; Sai lệch vừa phải do âm đuôi suy giảm chậm.</a:t>
            </a:r>
          </a:p>
          <a:p>
            <a:pPr>
              <a:defRPr sz="1100" b="1">
                <a:solidFill>
                  <a:srgbClr val="00B4D8"/>
                </a:solidFill>
              </a:defRPr>
            </a:pPr>
            <a:r>
              <a:t>• Biên thừa tại vị trí 4.76 s: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Nhiễu nền cuối file vượt ngưỡng T = 0.0016, tạo 1 đoạn Speech giả ngắn.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926080"/>
            <a:ext cx="521208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300" b="1">
                <a:solidFill>
                  <a:srgbClr val="0A192F"/>
                </a:solidFill>
              </a:defRPr>
            </a:pPr>
            <a:r>
              <a:t>NGUYÊN NHÂN &amp; ĐÁNH GIÁ ĐẶC TRƯNG</a:t>
            </a:r>
          </a:p>
          <a:p>
            <a:pPr>
              <a:defRPr sz="1100" b="1">
                <a:solidFill>
                  <a:srgbClr val="0D9488"/>
                </a:solidFill>
              </a:defRPr>
            </a:pPr>
            <a:r>
              <a:t>• Nguyên nhân sai lệch: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Ngưỡng cố định T học từ tập training chung có thể hơi thấp so với mức nhiễu nền của riêng bản ghi phone_F2.</a:t>
            </a:r>
          </a:p>
          <a:p>
            <a:pPr>
              <a:defRPr sz="1100" b="1">
                <a:solidFill>
                  <a:srgbClr val="0D9488"/>
                </a:solidFill>
              </a:defRPr>
            </a:pPr>
            <a:r>
              <a:t>• Đường tần số cơ bản F0: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F0 chỉ xuất hiện ở các khung hữu thanh, trung vị đạt 142.9 Hz (rất gần F0mean LAB 145.0 Hz).</a:t>
            </a:r>
          </a:p>
          <a:p>
            <a:pPr>
              <a:defRPr sz="1100" b="1">
                <a:solidFill>
                  <a:srgbClr val="0D9488"/>
                </a:solidFill>
              </a:defRPr>
            </a:pPr>
            <a:r>
              <a:t>• Khoảng lặng ảo &lt; 200 ms: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Đã được loại bỏ triệt để, không phát sinh chia cắt sai lệch giữa câu.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A192F"/>
                </a:solidFill>
                <a:latin typeface="Arial"/>
              </a:defRPr>
            </a:pPr>
            <a:r>
              <a:t>THUẬT TOÁN 2: HISTOGRAM MỨC NĂNG LƯỢNG (ADAPTIVE)</a:t>
            </a:r>
          </a:p>
          <a:p>
            <a:pPr>
              <a:defRPr sz="1300">
                <a:solidFill>
                  <a:srgbClr val="64748B"/>
                </a:solidFill>
                <a:latin typeface="Arial"/>
              </a:defRPr>
            </a:pPr>
            <a:r>
              <a:t>Sơ đồ khối và cơ chế tìm ngưỡng thích nghi từ phân bố năng lượng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33832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000" b="1">
                <a:solidFill>
                  <a:srgbClr val="0D9488"/>
                </a:solidFill>
              </a:defRPr>
            </a:pPr>
            <a:r>
              <a:t>BƯỚC 1</a:t>
            </a:r>
          </a:p>
          <a:p>
            <a:pPr>
              <a:defRPr sz="1300" b="1">
                <a:solidFill>
                  <a:srgbClr val="0A192F"/>
                </a:solidFill>
              </a:defRPr>
            </a:pPr>
            <a:r>
              <a:t>Tệp âm thanh kiểm thử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Nhận tín hiệu WAV kiểm thử trực tiếp (hoàn toàn không cần nhãn LAB)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554480"/>
            <a:ext cx="33832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000" b="1">
                <a:solidFill>
                  <a:srgbClr val="0D9488"/>
                </a:solidFill>
              </a:defRPr>
            </a:pPr>
            <a:r>
              <a:t>BƯỚC 2</a:t>
            </a:r>
          </a:p>
          <a:p>
            <a:pPr>
              <a:defRPr sz="1300" b="1">
                <a:solidFill>
                  <a:srgbClr val="0A192F"/>
                </a:solidFill>
              </a:defRPr>
            </a:pPr>
            <a:r>
              <a:t>Trích xuất STE chuẩn hóa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Chia khung phân tích, tính toán mảng năng lượng normalized STE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554480"/>
            <a:ext cx="33832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000" b="1">
                <a:solidFill>
                  <a:srgbClr val="0D9488"/>
                </a:solidFill>
              </a:defRPr>
            </a:pPr>
            <a:r>
              <a:t>BƯỚC 3</a:t>
            </a:r>
          </a:p>
          <a:p>
            <a:pPr>
              <a:defRPr sz="1300" b="1">
                <a:solidFill>
                  <a:srgbClr val="0A192F"/>
                </a:solidFill>
              </a:defRPr>
            </a:pPr>
            <a:r>
              <a:t>Lập Histogram 64 Bins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Thống kê mật độ phân bố năng lượng trong miền [0, 1]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657600"/>
            <a:ext cx="33832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000" b="1">
                <a:solidFill>
                  <a:srgbClr val="0D9488"/>
                </a:solidFill>
              </a:defRPr>
            </a:pPr>
            <a:r>
              <a:t>BƯỚC 4</a:t>
            </a:r>
          </a:p>
          <a:p>
            <a:pPr>
              <a:defRPr sz="1300" b="1">
                <a:solidFill>
                  <a:srgbClr val="0A192F"/>
                </a:solidFill>
              </a:defRPr>
            </a:pPr>
            <a:r>
              <a:t>Làm trơn Moving Average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Lọc trơn 1D bằng Numpy để triệt tiêu các dao động nhiễu cục bộ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3657600"/>
            <a:ext cx="33832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000" b="1">
                <a:solidFill>
                  <a:srgbClr val="0D9488"/>
                </a:solidFill>
              </a:defRPr>
            </a:pPr>
            <a:r>
              <a:t>BƯỚC 5</a:t>
            </a:r>
          </a:p>
          <a:p>
            <a:pPr>
              <a:defRPr sz="1300" b="1">
                <a:solidFill>
                  <a:srgbClr val="0A192F"/>
                </a:solidFill>
              </a:defRPr>
            </a:pPr>
            <a:r>
              <a:t>Tìm 2 đỉnh cục bộ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Phát hiện đỉnh năng lượng Silence (thấp) và đỉnh Speech (cao)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3657600"/>
            <a:ext cx="33832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000" b="1">
                <a:solidFill>
                  <a:srgbClr val="0D9488"/>
                </a:solidFill>
              </a:defRPr>
            </a:pPr>
            <a:r>
              <a:t>BƯỚC 6</a:t>
            </a:r>
          </a:p>
          <a:p>
            <a:pPr>
              <a:defRPr sz="1300" b="1">
                <a:solidFill>
                  <a:srgbClr val="0A192F"/>
                </a:solidFill>
              </a:defRPr>
            </a:pPr>
            <a:r>
              <a:t>Tính ngưỡng có trọng số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T = (5*Peak_Sil + Peak_Sp) / 6; lọc khoảng lặng ảo &lt; 200 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852160"/>
            <a:ext cx="10698480" cy="59436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A192F"/>
                </a:solidFill>
              </a:defRPr>
            </a:pPr>
            <a:r>
              <a:t>ĐẶC TRƯNG THÍCH NGHI: Ngưỡng được tự động xác định lại cho từng file test riêng biệt, tự thích ứng theo độ lớn âm lượng bản ghi.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A192F"/>
                </a:solidFill>
                <a:latin typeface="Arial"/>
              </a:defRPr>
            </a:pPr>
            <a:r>
              <a:t>KẾT QUẢ THỰC NGHIỆM: HISTOGRAM TRÊN PHONE_F2</a:t>
            </a:r>
          </a:p>
          <a:p>
            <a:pPr>
              <a:defRPr sz="1300">
                <a:solidFill>
                  <a:srgbClr val="64748B"/>
                </a:solidFill>
                <a:latin typeface="Arial"/>
              </a:defRPr>
            </a:pPr>
            <a:r>
              <a:t>Đồ thị 4 dải thể hiện hiện tượng phân mảnh tiếng nói do ngưỡng cao</a:t>
            </a:r>
          </a:p>
        </p:txBody>
      </p:sp>
      <p:pic>
        <p:nvPicPr>
          <p:cNvPr id="3" name="Picture 2" descr="phone_F2_histo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7772400" cy="6005945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8778240" y="1463040"/>
            <a:ext cx="265176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200" b="1">
                <a:solidFill>
                  <a:srgbClr val="0A192F"/>
                </a:solidFill>
              </a:defRPr>
            </a:pPr>
            <a:r>
              <a:t>THÔNG SỐ THỰC NGHIỆM</a:t>
            </a:r>
          </a:p>
          <a:p>
            <a:pPr>
              <a:defRPr sz="1100" b="1">
                <a:solidFill>
                  <a:srgbClr val="0D9488"/>
                </a:solidFill>
              </a:defRPr>
            </a:pPr>
            <a:r>
              <a:t>Ngưỡng tự thích nghi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T = 0.0572 (cao gấp ~35 lần so với Binary Search).</a:t>
            </a:r>
          </a:p>
          <a:p>
            <a:pPr>
              <a:defRPr sz="1100" b="1">
                <a:solidFill>
                  <a:srgbClr val="0D9488"/>
                </a:solidFill>
              </a:defRPr>
            </a:pPr>
            <a:r>
              <a:t>Hiện tượng phân mảnh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STE rơi dưới ngưỡng ở giữa câu, tạo 4 biên thừa.</a:t>
            </a:r>
          </a:p>
          <a:p>
            <a:pPr>
              <a:defRPr sz="1100" b="1">
                <a:solidFill>
                  <a:srgbClr val="0D9488"/>
                </a:solidFill>
              </a:defRPr>
            </a:pPr>
            <a:r>
              <a:t>Biên xanh vs Biên đỏ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Các đoạn tiếng nói yếu bị ngắt thành Silence giả.</a:t>
            </a:r>
          </a:p>
          <a:p>
            <a:pPr>
              <a:defRPr sz="1100" b="1">
                <a:solidFill>
                  <a:srgbClr val="0D9488"/>
                </a:solidFill>
              </a:defRPr>
            </a:pPr>
            <a:r>
              <a:t>Dải tần số F0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Vẫn đo được ổn định ở các phân đoạn hữu thanh.</a:t>
            </a:r>
          </a:p>
          <a:p>
            <a:pPr>
              <a:defRPr sz="1100" b="1">
                <a:solidFill>
                  <a:srgbClr val="0D9488"/>
                </a:solidFill>
              </a:defRPr>
            </a:pPr>
            <a:r>
              <a:t>Đánh giá tổng thể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Thích nghi tốt với âm lượng lớn nhưng dễ xén tiếng nói nhỏ.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A192F"/>
                </a:solidFill>
                <a:latin typeface="Arial"/>
              </a:defRPr>
            </a:pPr>
            <a:r>
              <a:t>NHẬN XÉT CHI TIẾT: THUẬT TOÁN HISTOGRAM</a:t>
            </a:r>
          </a:p>
          <a:p>
            <a:pPr>
              <a:defRPr sz="1300">
                <a:solidFill>
                  <a:srgbClr val="64748B"/>
                </a:solidFill>
                <a:latin typeface="Arial"/>
              </a:defRPr>
            </a:pPr>
            <a:r>
              <a:t>Phân tích hiện tượng quá phân đoạn (Over-segmentation) và sai số biên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33832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64592"/>
          <a:lstStyle/>
          <a:p>
            <a:pPr algn="ctr">
              <a:defRPr sz="1000" b="1">
                <a:solidFill>
                  <a:srgbClr val="64748B"/>
                </a:solidFill>
              </a:defRPr>
            </a:pPr>
            <a:r>
              <a:t>MAE TRÊN PHONE_F2</a:t>
            </a:r>
          </a:p>
          <a:p>
            <a:pPr>
              <a:defRPr sz="1800" b="1">
                <a:solidFill>
                  <a:srgbClr val="EF4444"/>
                </a:solidFill>
              </a:defRPr>
            </a:pPr>
            <a:r>
              <a:t>55.0 ms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RMSE = 57.0 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463040"/>
            <a:ext cx="33832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64592"/>
          <a:lstStyle/>
          <a:p>
            <a:pPr algn="ctr">
              <a:defRPr sz="1000" b="1">
                <a:solidFill>
                  <a:srgbClr val="64748B"/>
                </a:solidFill>
              </a:defRPr>
            </a:pPr>
            <a:r>
              <a:t>MAE TOÀN TẬP TEST</a:t>
            </a:r>
          </a:p>
          <a:p>
            <a:pPr>
              <a:defRPr sz="1800" b="1">
                <a:solidFill>
                  <a:srgbClr val="F77F00"/>
                </a:solidFill>
              </a:defRPr>
            </a:pPr>
            <a:r>
              <a:t>50.0 ms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Sai số cao nhất trong 3 phương pháp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463040"/>
            <a:ext cx="33832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64592"/>
          <a:lstStyle/>
          <a:p>
            <a:pPr algn="ctr">
              <a:defRPr sz="1000" b="1">
                <a:solidFill>
                  <a:srgbClr val="64748B"/>
                </a:solidFill>
              </a:defRPr>
            </a:pPr>
            <a:r>
              <a:t>SỐ LƯỢNG BIÊN</a:t>
            </a:r>
          </a:p>
          <a:p>
            <a:pPr>
              <a:defRPr sz="1800" b="1">
                <a:solidFill>
                  <a:srgbClr val="EF4444"/>
                </a:solidFill>
              </a:defRPr>
            </a:pPr>
            <a:r>
              <a:t>2 Đúng / 4 Thừa / 0 Thiếu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Xuất hiện 4 biên thừa giữa câu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926080"/>
            <a:ext cx="521208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300" b="1">
                <a:solidFill>
                  <a:srgbClr val="0A192F"/>
                </a:solidFill>
              </a:defRPr>
            </a:pPr>
            <a:r>
              <a:t>VỊ TRÍ VÀ CHI TIẾT CÁC BIÊN THỪA</a:t>
            </a:r>
          </a:p>
          <a:p>
            <a:pPr>
              <a:defRPr sz="1100" b="1">
                <a:solidFill>
                  <a:srgbClr val="0D9488"/>
                </a:solidFill>
              </a:defRPr>
            </a:pPr>
            <a:r>
              <a:t>• Biên bắt đầu &amp; kết thúc: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Bắt đầu 1.09 s (lệch +70 ms); Kết thúc 4.00 s (lệch -40 ms).</a:t>
            </a:r>
          </a:p>
          <a:p>
            <a:pPr>
              <a:defRPr sz="1100" b="1">
                <a:solidFill>
                  <a:srgbClr val="0D9488"/>
                </a:solidFill>
              </a:defRPr>
            </a:pPr>
            <a:r>
              <a:t>• Biên thừa tại 2.50 s &amp; 2.80 s: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STE rơi dưới ngưỡng 0.0572 đủ 200 ms, chia tiếng nói thành Silence giả.</a:t>
            </a:r>
          </a:p>
          <a:p>
            <a:pPr>
              <a:defRPr sz="1100" b="1">
                <a:solidFill>
                  <a:srgbClr val="0D9488"/>
                </a:solidFill>
              </a:defRPr>
            </a:pPr>
            <a:r>
              <a:t>• Biên thừa tại 3.44 s &amp; 3.64 s: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Tiếp tục phát sinh thêm 1 đoạn Silence giả nữa trong câu thoại.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926080"/>
            <a:ext cx="521208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300" b="1">
                <a:solidFill>
                  <a:srgbClr val="0A192F"/>
                </a:solidFill>
              </a:defRPr>
            </a:pPr>
            <a:r>
              <a:t>NGUYÊN NHÂN &amp; BIỆN PHÁP CẢI TIẾN</a:t>
            </a:r>
          </a:p>
          <a:p>
            <a:pPr>
              <a:defRPr sz="1100" b="1">
                <a:solidFill>
                  <a:srgbClr val="EF4444"/>
                </a:solidFill>
              </a:defRPr>
            </a:pPr>
            <a:r>
              <a:t>• Nguyên nhân bản chất: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Đỉnh Speech trong file phone_F2 nằm ở năng lượng cao, kéo trọng số ngưỡng T lên mức 0.0572, làm các âm tiết yếu bị cắt rời.</a:t>
            </a:r>
          </a:p>
          <a:p>
            <a:pPr>
              <a:defRPr sz="1100" b="1">
                <a:solidFill>
                  <a:srgbClr val="EF4444"/>
                </a:solidFill>
              </a:defRPr>
            </a:pPr>
            <a:r>
              <a:t>• Ưu điểm bù lại: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Thuật toán không phụ thuộc dữ liệu huấn luyện, xử lý độc lập và có tính thích nghi khi âm lượng đầu vào thay đổi.</a:t>
            </a:r>
          </a:p>
          <a:p>
            <a:pPr>
              <a:defRPr sz="1100" b="1">
                <a:solidFill>
                  <a:srgbClr val="EF4444"/>
                </a:solidFill>
              </a:defRPr>
            </a:pPr>
            <a:r>
              <a:t>• Hướng khắc phục: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Cần tăng trọng số ưu tiên đỉnh Silence (tăng weight) để ép ngưỡng xuống thấp hơn.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A192F"/>
                </a:solidFill>
                <a:latin typeface="Arial"/>
              </a:defRPr>
            </a:pPr>
            <a:r>
              <a:t>THUẬT TOÁN 3: THỐNG KÊ GAUSSIAN (STATISTICAL BAYES)</a:t>
            </a:r>
          </a:p>
          <a:p>
            <a:pPr>
              <a:defRPr sz="1300">
                <a:solidFill>
                  <a:srgbClr val="64748B"/>
                </a:solidFill>
                <a:latin typeface="Arial"/>
              </a:defRPr>
            </a:pPr>
            <a:r>
              <a:t>Sơ đồ khối và mô hình xác suất tối ưu hóa sai số phân lớp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33832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000" b="1">
                <a:solidFill>
                  <a:srgbClr val="F77F00"/>
                </a:solidFill>
              </a:defRPr>
            </a:pPr>
            <a:r>
              <a:t>BƯỚC 1</a:t>
            </a:r>
          </a:p>
          <a:p>
            <a:pPr>
              <a:defRPr sz="1300" b="1">
                <a:solidFill>
                  <a:srgbClr val="0A192F"/>
                </a:solidFill>
              </a:defRPr>
            </a:pPr>
            <a:r>
              <a:t>Dữ liệu huấn luyện &amp; LAB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Tập hợp toàn bộ khung âm thanh từ 4 tệp huấn luyện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554480"/>
            <a:ext cx="33832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000" b="1">
                <a:solidFill>
                  <a:srgbClr val="F77F00"/>
                </a:solidFill>
              </a:defRPr>
            </a:pPr>
            <a:r>
              <a:t>BƯỚC 2</a:t>
            </a:r>
          </a:p>
          <a:p>
            <a:pPr>
              <a:defRPr sz="1300" b="1">
                <a:solidFill>
                  <a:srgbClr val="0A192F"/>
                </a:solidFill>
              </a:defRPr>
            </a:pPr>
            <a:r>
              <a:t>Ước lượng (Mean, Std)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Sil: mean=0.00041, std=0.00092 | Sp: mean=0.20963, std=0.24070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554480"/>
            <a:ext cx="33832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000" b="1">
                <a:solidFill>
                  <a:srgbClr val="F77F00"/>
                </a:solidFill>
              </a:defRPr>
            </a:pPr>
            <a:r>
              <a:t>BƯỚC 3</a:t>
            </a:r>
          </a:p>
          <a:p>
            <a:pPr>
              <a:defRPr sz="1300" b="1">
                <a:solidFill>
                  <a:srgbClr val="0A192F"/>
                </a:solidFill>
              </a:defRPr>
            </a:pPr>
            <a:r>
              <a:t>Mô hình hóa mật độ Gauss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Xây dựng 2 hàm mật độ xác suất p(x|Sil) và p(x|Sp)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657600"/>
            <a:ext cx="33832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000" b="1">
                <a:solidFill>
                  <a:srgbClr val="F77F00"/>
                </a:solidFill>
              </a:defRPr>
            </a:pPr>
            <a:r>
              <a:t>BƯỚC 4</a:t>
            </a:r>
          </a:p>
          <a:p>
            <a:pPr>
              <a:defRPr sz="1300" b="1">
                <a:solidFill>
                  <a:srgbClr val="0A192F"/>
                </a:solidFill>
              </a:defRPr>
            </a:pPr>
            <a:r>
              <a:t>Thiết lập phương trình Bayes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Cân bằng hàm mật độ xác suất dẫn đến phương trình bậc 2: a*x^2 + b*x + c = 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3657600"/>
            <a:ext cx="33832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000" b="1">
                <a:solidFill>
                  <a:srgbClr val="F77F00"/>
                </a:solidFill>
              </a:defRPr>
            </a:pPr>
            <a:r>
              <a:t>BƯỚC 5</a:t>
            </a:r>
          </a:p>
          <a:p>
            <a:pPr>
              <a:defRPr sz="1300" b="1">
                <a:solidFill>
                  <a:srgbClr val="0A192F"/>
                </a:solidFill>
              </a:defRPr>
            </a:pPr>
            <a:r>
              <a:t>Giải nghiệm tối ưu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Tìm nghiệm trong [0, 1] làm cực tiểu tổng lỗi phân lớp tích lũy P(Error)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3657600"/>
            <a:ext cx="33832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000" b="1">
                <a:solidFill>
                  <a:srgbClr val="F77F00"/>
                </a:solidFill>
              </a:defRPr>
            </a:pPr>
            <a:r>
              <a:t>BƯỚC 6</a:t>
            </a:r>
          </a:p>
          <a:p>
            <a:pPr>
              <a:defRPr sz="1300" b="1">
                <a:solidFill>
                  <a:srgbClr val="0A192F"/>
                </a:solidFill>
              </a:defRPr>
            </a:pPr>
            <a:r>
              <a:t>Khóa ngưỡng T = 0.00358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Khóa ngưỡng áp dụng cho kiểm thử; loại khoảng lặng ảo &lt; 200 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852160"/>
            <a:ext cx="10698480" cy="59436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77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A192F"/>
                </a:solidFill>
              </a:defRPr>
            </a:pPr>
            <a:r>
              <a:t>CƠ SỞ TOÁN HỌC VỮNG CHẮC: Dựa trên lý thuyết quyết định Bayes, giải nghiệm giải tích chính xác, không dùng thuật toán xấp xỉ.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A192F"/>
                </a:solidFill>
                <a:latin typeface="Arial"/>
              </a:defRPr>
            </a:pPr>
            <a:r>
              <a:t>KẾT QUẢ THỰC NGHIỆM: GAUSSIAN TRÊN PHONE_F2</a:t>
            </a:r>
          </a:p>
          <a:p>
            <a:pPr>
              <a:defRPr sz="1300">
                <a:solidFill>
                  <a:srgbClr val="64748B"/>
                </a:solidFill>
                <a:latin typeface="Arial"/>
              </a:defRPr>
            </a:pPr>
            <a:r>
              <a:t>Độ chính xác hoàn hảo — Hai biên dự đoán trùng khít với biên chuẩn</a:t>
            </a:r>
          </a:p>
        </p:txBody>
      </p:sp>
      <p:pic>
        <p:nvPicPr>
          <p:cNvPr id="3" name="Picture 2" descr="phone_F2_statistic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7772400" cy="6005945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8778240" y="1463040"/>
            <a:ext cx="265176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200" b="1">
                <a:solidFill>
                  <a:srgbClr val="0A192F"/>
                </a:solidFill>
              </a:defRPr>
            </a:pPr>
            <a:r>
              <a:t>KẾT QUẢ NỔI BẬT</a:t>
            </a:r>
          </a:p>
          <a:p>
            <a:pPr>
              <a:defRPr sz="1100" b="1">
                <a:solidFill>
                  <a:srgbClr val="10B981"/>
                </a:solidFill>
              </a:defRPr>
            </a:pPr>
            <a:r>
              <a:t>Ngưỡng xác suất Bayes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T = 0.00358 (tách biệt hoàn toàn 2 phân bố).</a:t>
            </a:r>
          </a:p>
          <a:p>
            <a:pPr>
              <a:defRPr sz="1100" b="1">
                <a:solidFill>
                  <a:srgbClr val="10B981"/>
                </a:solidFill>
              </a:defRPr>
            </a:pPr>
            <a:r>
              <a:t>Trùng khít 100%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Đường xanh liền và đường đỏ đứt trùng nhau hoàn toàn!</a:t>
            </a:r>
          </a:p>
          <a:p>
            <a:pPr>
              <a:defRPr sz="1100" b="1">
                <a:solidFill>
                  <a:srgbClr val="10B981"/>
                </a:solidFill>
              </a:defRPr>
            </a:pPr>
            <a:r>
              <a:t>Không có biên thừa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Nhiễu nền điện thoại bị triệt tiêu triệt để.</a:t>
            </a:r>
          </a:p>
          <a:p>
            <a:pPr>
              <a:defRPr sz="1100" b="1">
                <a:solidFill>
                  <a:srgbClr val="10B981"/>
                </a:solidFill>
              </a:defRPr>
            </a:pPr>
            <a:r>
              <a:t>Không có biên thiếu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Bắt trọn toàn bộ câu nói từ nguyên âm đầu đến đuôi.</a:t>
            </a:r>
          </a:p>
          <a:p>
            <a:pPr>
              <a:defRPr sz="1100" b="1">
                <a:solidFill>
                  <a:srgbClr val="10B981"/>
                </a:solidFill>
              </a:defRPr>
            </a:pPr>
            <a:r>
              <a:t>F0 đồng bộ chuẩn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Khớp hoàn hảo trong phạm vi 1.02 s đến 4.04 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A192F"/>
                </a:solidFill>
                <a:latin typeface="Arial"/>
              </a:defRPr>
            </a:pPr>
            <a:r>
              <a:t>NHẬN XÉT CHI TIẾT: THUẬT TOÁN THỐNG KÊ GAUSSIAN</a:t>
            </a:r>
          </a:p>
          <a:p>
            <a:pPr>
              <a:defRPr sz="1300">
                <a:solidFill>
                  <a:srgbClr val="64748B"/>
                </a:solidFill>
                <a:latin typeface="Arial"/>
              </a:defRPr>
            </a:pPr>
            <a:r>
              <a:t>Phương pháp đạt hiệu quả phân đoạn cao nhất toàn diện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33832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64592"/>
          <a:lstStyle/>
          <a:p>
            <a:pPr algn="ctr">
              <a:defRPr sz="1000" b="1">
                <a:solidFill>
                  <a:srgbClr val="64748B"/>
                </a:solidFill>
              </a:defRPr>
            </a:pPr>
            <a:r>
              <a:t>MAE TRÊN PHONE_F2</a:t>
            </a:r>
          </a:p>
          <a:p>
            <a:pPr>
              <a:defRPr sz="1800" b="1">
                <a:solidFill>
                  <a:srgbClr val="10B981"/>
                </a:solidFill>
              </a:defRPr>
            </a:pPr>
            <a:r>
              <a:t>0.0 ms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Sai số tuyệt đối bằng 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463040"/>
            <a:ext cx="33832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64592"/>
          <a:lstStyle/>
          <a:p>
            <a:pPr algn="ctr">
              <a:defRPr sz="1000" b="1">
                <a:solidFill>
                  <a:srgbClr val="64748B"/>
                </a:solidFill>
              </a:defRPr>
            </a:pPr>
            <a:r>
              <a:t>MAE TOÀN TẬP TEST</a:t>
            </a:r>
          </a:p>
          <a:p>
            <a:pPr>
              <a:defRPr sz="1800" b="1">
                <a:solidFill>
                  <a:srgbClr val="10B981"/>
                </a:solidFill>
              </a:defRPr>
            </a:pPr>
            <a:r>
              <a:t>12.5 ms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Tối ưu nhất trong cả 3 phương pháp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463040"/>
            <a:ext cx="33832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64592"/>
          <a:lstStyle/>
          <a:p>
            <a:pPr algn="ctr">
              <a:defRPr sz="1000" b="1">
                <a:solidFill>
                  <a:srgbClr val="64748B"/>
                </a:solidFill>
              </a:defRPr>
            </a:pPr>
            <a:r>
              <a:t>SỐ LƯỢNG BIÊN</a:t>
            </a:r>
          </a:p>
          <a:p>
            <a:pPr>
              <a:defRPr sz="1800" b="1">
                <a:solidFill>
                  <a:srgbClr val="10B981"/>
                </a:solidFill>
              </a:defRPr>
            </a:pPr>
            <a:r>
              <a:t>2 Đúng / 0 Thừa / 0 Thiếu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Không phát sinh bất kỳ lỗi biên nào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926080"/>
            <a:ext cx="521208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300" b="1">
                <a:solidFill>
                  <a:srgbClr val="0A192F"/>
                </a:solidFill>
              </a:defRPr>
            </a:pPr>
            <a:r>
              <a:t>CHI TIẾT SAI LỆCH VỊ TRÍ BIÊN</a:t>
            </a:r>
          </a:p>
          <a:p>
            <a:pPr>
              <a:defRPr sz="1100" b="1">
                <a:solidFill>
                  <a:srgbClr val="10B981"/>
                </a:solidFill>
              </a:defRPr>
            </a:pPr>
            <a:r>
              <a:t>• Bắt đầu Speech (1.02 s):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Chuẩn 1.02 s, dự đoán đúng 1.02 s (lệch đúng 0 ms).</a:t>
            </a:r>
          </a:p>
          <a:p>
            <a:pPr>
              <a:defRPr sz="1100" b="1">
                <a:solidFill>
                  <a:srgbClr val="10B981"/>
                </a:solidFill>
              </a:defRPr>
            </a:pPr>
            <a:r>
              <a:t>• Kết thúc Speech (4.04 s):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Chuẩn 4.04 s, dự đoán đúng 4.04 s (lệch đúng 0 ms).</a:t>
            </a:r>
          </a:p>
          <a:p>
            <a:pPr>
              <a:defRPr sz="1100" b="1">
                <a:solidFill>
                  <a:srgbClr val="10B981"/>
                </a:solidFill>
              </a:defRPr>
            </a:pPr>
            <a:r>
              <a:t>• Không phát sinh biên thừa: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Nhiễu ở cuối bản ghi tại 4.76 s có năng lượng nằm dưới 0.00358, bị chặn đứng hoàn toàn.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926080"/>
            <a:ext cx="521208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300" b="1">
                <a:solidFill>
                  <a:srgbClr val="0A192F"/>
                </a:solidFill>
              </a:defRPr>
            </a:pPr>
            <a:r>
              <a:t>LÝ DO ĐẠT KẾT QUẢ VƯỢT TRỘI</a:t>
            </a:r>
          </a:p>
          <a:p>
            <a:pPr>
              <a:defRPr sz="1100" b="1">
                <a:solidFill>
                  <a:srgbClr val="F77F00"/>
                </a:solidFill>
              </a:defRPr>
            </a:pPr>
            <a:r>
              <a:t>• Tận dụng thông tin phân bố: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Thay vì chỉ dựa vào cận cực trị, mô hình thống kê học được độ phân tán (std) thực tế của năng lượng tiếng nói và khoảng lặng.</a:t>
            </a:r>
          </a:p>
          <a:p>
            <a:pPr>
              <a:defRPr sz="1100" b="1">
                <a:solidFill>
                  <a:srgbClr val="F77F00"/>
                </a:solidFill>
              </a:defRPr>
            </a:pPr>
            <a:r>
              <a:t>• Vị trí ngưỡng lý tưởng: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Ngưỡng 0.00358 nằm cao hơn 3.4 lần độ lệch chuẩn Silence (loại sạch nhiễu), nhưng thấp hơn rất nhiều so với trung bình Speech (0.2096).</a:t>
            </a:r>
          </a:p>
          <a:p>
            <a:pPr>
              <a:defRPr sz="1100" b="1">
                <a:solidFill>
                  <a:srgbClr val="F77F00"/>
                </a:solidFill>
              </a:defRPr>
            </a:pPr>
            <a:r>
              <a:t>• Khả năng tổng quát hóa: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Áp dụng ổn định trên mọi môi trường thu âm thử nghiệm (cả Studio và Phone).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A192F"/>
                </a:solidFill>
                <a:latin typeface="Arial"/>
              </a:defRPr>
            </a:pPr>
            <a:r>
              <a:t>SO SÁNH TỔNG HỢP 3 THUẬT TOÁN &amp; ĐÁNH GIÁ KHÁNG NHIỄU</a:t>
            </a:r>
          </a:p>
          <a:p>
            <a:pPr>
              <a:defRPr sz="1300">
                <a:solidFill>
                  <a:srgbClr val="64748B"/>
                </a:solidFill>
                <a:latin typeface="Arial"/>
              </a:defRPr>
            </a:pPr>
            <a:r>
              <a:t>Bảng đối chiếu toàn diện trên 4 tệp kiểm thử và khảo sát suy giảm SNR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463040"/>
          <a:ext cx="5943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463040"/>
                <a:gridCol w="1463040"/>
                <a:gridCol w="1463040"/>
              </a:tblGrid>
              <a:tr h="48768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Tín hiệu test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Binary Search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Histogram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Gaussian (TK)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phone_F2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45.0 ms (1 thừa)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55.0 ms (4 thừa)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0.0 ms (0 lỗi)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phone_M2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10.0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15.0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15.0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studio_F2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20.0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35.0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25.0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studio_M2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5.0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95.0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10.0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A192F"/>
                          </a:solidFill>
                          <a:latin typeface="Arial"/>
                        </a:defRPr>
                      </a:pPr>
                      <a:r>
                        <a:t>TRUNG BÌNH GỘP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A192F"/>
                          </a:solidFill>
                          <a:latin typeface="Arial"/>
                        </a:defRPr>
                      </a:pPr>
                      <a:r>
                        <a:t>20.0 ms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A192F"/>
                          </a:solidFill>
                          <a:latin typeface="Arial"/>
                        </a:defRPr>
                      </a:pPr>
                      <a:r>
                        <a:t>50.0 ms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A192F"/>
                          </a:solidFill>
                          <a:latin typeface="Arial"/>
                        </a:defRPr>
                      </a:pPr>
                      <a:r>
                        <a:t>12.5 ms (Tốt nhất)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</a:tr>
            </a:tbl>
          </a:graphicData>
        </a:graphic>
      </p:graphicFrame>
      <p:pic>
        <p:nvPicPr>
          <p:cNvPr id="4" name="Picture 3" descr="phone_F2_so_san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463040"/>
            <a:ext cx="4480560" cy="3446585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4663440"/>
            <a:ext cx="1069848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200" b="1">
                <a:solidFill>
                  <a:srgbClr val="0A192F"/>
                </a:solidFill>
              </a:defRPr>
            </a:pPr>
            <a:r>
              <a:t>KẾT LUẬN THỰC NGHIỆM &amp; KHẢO SÁT NHIỄU TRẮNG</a:t>
            </a:r>
          </a:p>
          <a:p>
            <a:pPr>
              <a:defRPr sz="1100" b="1">
                <a:solidFill>
                  <a:srgbClr val="00B4D8"/>
                </a:solidFill>
              </a:defRPr>
            </a:pPr>
            <a:r>
              <a:t>• Xếp hạng hiệu năng: </a:t>
            </a:r>
            <a:r>
              <a:rPr b="0">
                <a:solidFill>
                  <a:srgbClr val="0F172A"/>
                </a:solidFill>
              </a:rPr>
              <a:t>1. Gaussian (MAE 12.5 ms, 0 lỗi)  &gt;  2. Binary Search (MAE 20.0 ms, 1 lỗi)  &gt;  3. Histogram (MAE 50.0 ms, 4 lỗi).</a:t>
            </a:r>
          </a:p>
          <a:p>
            <a:pPr>
              <a:defRPr sz="1100" b="1">
                <a:solidFill>
                  <a:srgbClr val="00B4D8"/>
                </a:solidFill>
              </a:defRPr>
            </a:pPr>
            <a:r>
              <a:t>• Khảo sát cộng nhiễu (30 dB -&gt; 0 dB): </a:t>
            </a:r>
            <a:r>
              <a:rPr b="0">
                <a:solidFill>
                  <a:srgbClr val="0F172A"/>
                </a:solidFill>
              </a:rPr>
              <a:t>Thuật toán Histogram thích nghi tốt hơn khi SNR suy giảm cực mạnh; trong khi Gaussian &amp; Binary nhạy cảm hơn do dùng ngưỡng cố định.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06984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EM XIN CHÂN THÀNH CẢM ƠN THẦY!</a:t>
            </a:r>
          </a:p>
          <a:p>
            <a:pPr algn="ctr">
              <a:defRPr sz="1600">
                <a:solidFill>
                  <a:srgbClr val="94A3B8"/>
                </a:solidFill>
              </a:defRPr>
            </a:pPr>
            <a:r>
              <a:t>Đề tài đã hoàn thành xuất sắc 100% các yêu cầu kỹ thuật và báo cáo thực nghiệm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3108960"/>
            <a:ext cx="3383280" cy="2377440"/>
          </a:xfrm>
          <a:prstGeom prst="roundRect">
            <a:avLst/>
          </a:prstGeom>
          <a:solidFill>
            <a:srgbClr val="112240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300" b="1">
                <a:solidFill>
                  <a:srgbClr val="00B4D8"/>
                </a:solidFill>
              </a:defRPr>
            </a:pPr>
            <a:r>
              <a:t>SẴN SÀNG DEMO TRỰC TIẾP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python3 main.py --no-noise</a:t>
            </a:r>
            <a:br/>
            <a:br/>
            <a:r>
              <a:t>Chạy đúng 1 lần duy nhất, tự động mở và dàn đều 4 Figure tại 4 góc màn hình.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3108960"/>
            <a:ext cx="3383280" cy="2377440"/>
          </a:xfrm>
          <a:prstGeom prst="roundRect">
            <a:avLst/>
          </a:prstGeom>
          <a:solidFill>
            <a:srgbClr val="112240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KIỂM CHỨNG MÃ NGUỒN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pytest -q</a:t>
            </a:r>
            <a:br/>
            <a:br/>
            <a:r>
              <a:t>100% thuật toán tự cài đặt thuần Numpy, không dùng thư viện ngoài Scipy/Toolbox.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3108960"/>
            <a:ext cx="3383280" cy="2377440"/>
          </a:xfrm>
          <a:prstGeom prst="roundRect">
            <a:avLst/>
          </a:prstGeom>
          <a:solidFill>
            <a:srgbClr val="112240"/>
          </a:solidFill>
          <a:ln w="12700">
            <a:solidFill>
              <a:srgbClr val="F77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300" b="1">
                <a:solidFill>
                  <a:srgbClr val="F77F00"/>
                </a:solidFill>
              </a:defRPr>
            </a:pPr>
            <a:r>
              <a:t>KHO LƯU TRỮ GITHUB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https://github.com/VoThanhQuan-Pentest/XLTHS.git</a:t>
            </a:r>
            <a:br/>
            <a:br/>
            <a:r>
              <a:t>Đầy đủ toàn bộ code, file nhãn, kết quả và slide báo cáo.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8521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B4D8"/>
                </a:solidFill>
              </a:defRPr>
            </a:pPr>
            <a:r>
              <a:t>Sẵn sàng lắng nghe nhận xét và trả lời câu hỏi phản biện của Giảng viên.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