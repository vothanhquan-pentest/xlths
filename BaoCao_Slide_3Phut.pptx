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>
              <a:spcAft>
                <a:spcPts val="1400"/>
              </a:spcAft>
              <a:defRPr sz="1600" b="1">
                <a:solidFill>
                  <a:srgbClr val="0284C7"/>
                </a:solidFill>
                <a:latin typeface="Arial"/>
              </a:defRPr>
            </a:pPr>
            <a:r>
              <a:t>BÁO CÁO GIỮA KỲ — XỬ LÝ TÍN HIỆU SỐ</a:t>
            </a:r>
          </a:p>
          <a:p>
            <a:pPr algn="ctr">
              <a:defRPr sz="3200" b="1">
                <a:solidFill>
                  <a:srgbClr val="0F172A"/>
                </a:solidFill>
                <a:latin typeface="Arial"/>
              </a:defRPr>
            </a:pPr>
            <a:r>
              <a:t>PHÂN ĐOẠN TIẾNG NÓI &amp; KHOẢNG LẶNG</a:t>
            </a:r>
          </a:p>
          <a:p>
            <a:pPr algn="ctr">
              <a:spcAft>
                <a:spcPts val="28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So sánh 3 phương pháp: Nhị phân, Histogram, Gaussian</a:t>
            </a:r>
          </a:p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r>
              <a:t>Sinh viên thực hiện: Võ Thanh Quân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0284C7"/>
                </a:solidFill>
                <a:latin typeface="Arial"/>
              </a:defRPr>
            </a:pPr>
            <a:r>
              <a:t>Mã số sinh viên: 102240161</a:t>
            </a:r>
          </a:p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t>Kế hoạch: 3 phút báo cáo slide + 1 phút chạy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GIẢI PHÁP LÕI &amp; DỮ LIỆU HUẤN LUYỆN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Sơ đồ khối xử lý và Xác định ngưỡng dùng chung</a:t>
            </a:r>
          </a:p>
        </p:txBody>
      </p:sp>
      <p:pic>
        <p:nvPicPr>
          <p:cNvPr id="4" name="Picture 3" descr="phan_bo_huan_luy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645920"/>
            <a:ext cx="37490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CÁC BƯỚC TIẾN HÀNH &amp; NGƯỠNG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Tiền xử lý: Lọc bỏ thành phần DC lệch tâm.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Đặc trưng: Tính năng lượng STE và tần số F0.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Huấn luyện: Gom 4 tín hiệu TinHieuHuanLuyen.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Ngưỡng Nhị phân: 0.00156 (tối ưu sai số biên).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Ngưỡng Histogram: Thích nghi theo thung lũng năng lượng.</a:t>
            </a:r>
          </a:p>
          <a:p>
            <a:pPr>
              <a:spcAft>
                <a:spcPts val="600"/>
              </a:spcAft>
              <a:defRPr sz="1800" b="1">
                <a:solidFill>
                  <a:srgbClr val="10956A"/>
                </a:solidFill>
                <a:latin typeface="Arial"/>
              </a:defRPr>
            </a:pPr>
            <a:r>
              <a:t>• Ngưỡng Gaussian: 0.00358 (giao điểm 2 phân bố).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Hậu xử lý: Xóa đoạn ngắn dưới 200 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THỰC NGHIỆM TÍN HIỆU 1 / 4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Kết quả phân đoạn: studio_M2 (Nam — Phòng thu)</a:t>
            </a:r>
          </a:p>
        </p:txBody>
      </p:sp>
      <p:pic>
        <p:nvPicPr>
          <p:cNvPr id="4" name="Picture 3" descr="studio_M2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50873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645920"/>
            <a:ext cx="33832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NHẬN XÉT ĐỒ THỊ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SNR nền: 37.7 dB (môi trường phòng thu sạch).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Biên chuẩn: Bắt đầu 0.45s, kết thúc 1.93s.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Kết quả: 0.45s (lệch 0 ms) và 1.91s (-20 ms).</a:t>
            </a:r>
          </a:p>
          <a:p>
            <a:pPr>
              <a:spcAft>
                <a:spcPts val="600"/>
              </a:spcAft>
              <a:defRPr sz="1800" b="1">
                <a:solidFill>
                  <a:srgbClr val="10956A"/>
                </a:solidFill>
                <a:latin typeface="Arial"/>
              </a:defRPr>
            </a:pPr>
            <a:r>
              <a:t>• Độ chính xác: MAE = 10 ms, không biên thừa.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Lệch đuôi 20 ms do năng lượng giảm dần.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Đường F0: Hiện rõ ở vùng hữu thanh ~125 Hz.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THỰC NGHIỆM TÍN HIỆU 2 / 4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Kết quả phân đoạn: studio_F2 (Nữ — Phòng thu)</a:t>
            </a:r>
          </a:p>
        </p:txBody>
      </p:sp>
      <p:pic>
        <p:nvPicPr>
          <p:cNvPr id="4" name="Picture 3" descr="studio_F2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50873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645920"/>
            <a:ext cx="33832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NHẬN XÉT ĐỒ THỊ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SNR nền: 49.3 dB (rất sạch, không tạp âm).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Biên chuẩn: Bắt đầu 0.77s, kết thúc 2.37s.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Kết quả: 0.75s (-20 ms) và 2.34s (-30 ms).</a:t>
            </a:r>
          </a:p>
          <a:p>
            <a:pPr>
              <a:spcAft>
                <a:spcPts val="600"/>
              </a:spcAft>
              <a:defRPr sz="1800" b="1">
                <a:solidFill>
                  <a:srgbClr val="10956A"/>
                </a:solidFill>
                <a:latin typeface="Arial"/>
              </a:defRPr>
            </a:pPr>
            <a:r>
              <a:t>• Độ chính xác: MAE = 25 ms, rất chuẩn xác.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Lệch nhẹ ở biên do âm xát năng lượng bé.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Đường F0: Bắt chuẩn tần số cơ bản ~210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THỰC NGHIỆM TÍN HIỆU 3 / 4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Kết quả phân đoạn: phone_M2 (Nam — Điện thoại)</a:t>
            </a:r>
          </a:p>
        </p:txBody>
      </p:sp>
      <p:pic>
        <p:nvPicPr>
          <p:cNvPr id="4" name="Picture 3" descr="phone_M2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50873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645920"/>
            <a:ext cx="33832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NHẬN XÉT ĐỒ THỊ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SNR nền: 27.0 dB (kênh truyền thoại có nhiễu).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Biên chuẩn: Bắt đầu 0.53s, kết thúc 2.52s.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Kết quả: 0.52s (-10 ms) và 2.50s (-20 ms).</a:t>
            </a:r>
          </a:p>
          <a:p>
            <a:pPr>
              <a:spcAft>
                <a:spcPts val="600"/>
              </a:spcAft>
              <a:defRPr sz="1800" b="1">
                <a:solidFill>
                  <a:srgbClr val="10956A"/>
                </a:solidFill>
                <a:latin typeface="Arial"/>
              </a:defRPr>
            </a:pPr>
            <a:r>
              <a:t>• Độ chính xác: MAE = 15 ms, bám sát biên.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Lọc DC tốt giúp loại bỏ hoàn toàn biên giả.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Đường F0: Nhận diện chính xác khoảng ~135 Hz.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THỰC NGHIỆM TÍN HIỆU 4 / 4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Kết quả phân đoạn: phone_F2 (Nữ — Điện thoại)</a:t>
            </a:r>
          </a:p>
        </p:txBody>
      </p:sp>
      <p:pic>
        <p:nvPicPr>
          <p:cNvPr id="4" name="Picture 3" descr="phone_F2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50873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645920"/>
            <a:ext cx="33832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NHẬN XÉT ĐỒ THỊ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SNR nền: 24.8 dB (nhiễu kênh thoại lớn nhất).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Biên chuẩn: Bắt đầu 1.02s, kết thúc 4.04s.</a:t>
            </a:r>
          </a:p>
          <a:p>
            <a:pPr>
              <a:spcAft>
                <a:spcPts val="600"/>
              </a:spcAft>
              <a:defRPr sz="1800" b="1">
                <a:solidFill>
                  <a:srgbClr val="10956A"/>
                </a:solidFill>
                <a:latin typeface="Arial"/>
              </a:defRPr>
            </a:pPr>
            <a:r>
              <a:t>• Gaussian: 1.02s (0 ms) và 4.04s (0 ms).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Độ chính xác tuyệt đối: MAE = 0.0 ms!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Nhị phân bị lệch đuôi +80 ms do nhiễu nền.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Đường F0: Hiện ổn định ở khoảng ~230 Hz.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TỔNG KẾT THỰC NGHIỆM &amp; KẾT LUẬN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So sánh 3 phương pháp và Chuẩn bị chạy Demo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Thuật toán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 Trung bình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Biên Thừa / Thiếu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Kháng nhiễu (SNR 10dB)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Thống kê Gaussian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956A"/>
                          </a:solidFill>
                          <a:latin typeface="Arial"/>
                        </a:defRPr>
                      </a:pPr>
                      <a:r>
                        <a:t>12.5 ms (Tối ưu)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 thừa / 0 thiếu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956A"/>
                          </a:solidFill>
                          <a:latin typeface="Arial"/>
                        </a:defRPr>
                      </a:pPr>
                      <a:r>
                        <a:t>MAE &lt; 40 ms (Rất tốt)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Tìm kiếm Nhị phân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20.0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thừa / 0 thiếu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MAE ~ 65 ms (Khá)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Histogram Phân bố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50.0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 thừa / 0 thiếu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Dễ vỡ phân bố (Kém)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102714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KẾT LUẬN &amp; SẴN SÀNG CHUYỂN SANG PHẦN DEMO (1 PHÚT)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Thống kê Gaussian đạt độ chính xác cao nhất (MAE = 12.5 ms).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Hoạt động bền vững trên cả kênh phòng thu và điện thoại.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Hậu xử lý loại bỏ hoàn toàn các khung nhiễu giả.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Lệnh chạy Demo: python3 main.py (tự xếp 4 góc màn hình).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