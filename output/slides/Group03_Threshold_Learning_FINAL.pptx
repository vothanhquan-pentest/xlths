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e038db75b848de" /><Relationship Type="http://schemas.openxmlformats.org/officeDocument/2006/relationships/extended-properties" Target="/docProps/app.xml" Id="R9622d326a52b4f61" /><Relationship Type="http://schemas.openxmlformats.org/officeDocument/2006/relationships/officeDocument" Target="/ppt/presentation.xml" Id="R30dab24f5ebe4518" /></Relationships>
</file>

<file path=ppt/presentation.xml><?xml version="1.0" encoding="utf-8"?>
<p:presentation xmlns:p="http://schemas.openxmlformats.org/presentationml/2006/main">
  <p:sldMasterIdLst>
    <p:sldMasterId xmlns:r="http://schemas.openxmlformats.org/officeDocument/2006/relationships" id="2147483648" r:id="Rfeeb3d0625bc497a"/>
  </p:sldMasterIdLst>
  <p:notesMasterIdLst>
    <p:notesMasterId xmlns:r="http://schemas.openxmlformats.org/officeDocument/2006/relationships" r:id="Raad4adbfdbaa4048"/>
  </p:notesMasterIdLst>
  <p:sldIdLst>
    <p:sldId xmlns:r="http://schemas.openxmlformats.org/officeDocument/2006/relationships" id="256" r:id="R24c2bbb30f644512"/>
    <p:sldId xmlns:r="http://schemas.openxmlformats.org/officeDocument/2006/relationships" id="257" r:id="R95be3e07ba844241"/>
    <p:sldId xmlns:r="http://schemas.openxmlformats.org/officeDocument/2006/relationships" id="258" r:id="Re9e3e896a5fc4f27"/>
    <p:sldId xmlns:r="http://schemas.openxmlformats.org/officeDocument/2006/relationships" id="259" r:id="Rc2baa1d5d9c5490c"/>
    <p:sldId xmlns:r="http://schemas.openxmlformats.org/officeDocument/2006/relationships" id="260" r:id="Rd9a2181725b24050"/>
    <p:sldId xmlns:r="http://schemas.openxmlformats.org/officeDocument/2006/relationships" id="261" r:id="R708690e9e98b44c5"/>
    <p:sldId xmlns:r="http://schemas.openxmlformats.org/officeDocument/2006/relationships" id="262" r:id="R4490c16f4fb844db"/>
    <p:sldId xmlns:r="http://schemas.openxmlformats.org/officeDocument/2006/relationships" id="263" r:id="Rc301584edb274885"/>
    <p:sldId xmlns:r="http://schemas.openxmlformats.org/officeDocument/2006/relationships" id="264" r:id="R62b36c1af65f4c7c"/>
    <p:sldId xmlns:r="http://schemas.openxmlformats.org/officeDocument/2006/relationships" id="265" r:id="R7c4d3c886b284f05"/>
    <p:sldId xmlns:r="http://schemas.openxmlformats.org/officeDocument/2006/relationships" id="266" r:id="Rf832555de0294737"/>
    <p:sldId xmlns:r="http://schemas.openxmlformats.org/officeDocument/2006/relationships" id="267" r:id="Rf001f5241e4a45c2"/>
    <p:sldId xmlns:r="http://schemas.openxmlformats.org/officeDocument/2006/relationships" id="268" r:id="R06e9554f1ae04784"/>
    <p:sldId xmlns:r="http://schemas.openxmlformats.org/officeDocument/2006/relationships" id="269" r:id="Rc351e2f031e54153"/>
    <p:sldId xmlns:r="http://schemas.openxmlformats.org/officeDocument/2006/relationships" id="270" r:id="R3f805003a7234e47"/>
    <p:sldId xmlns:r="http://schemas.openxmlformats.org/officeDocument/2006/relationships" id="271" r:id="R0294029fe25743da"/>
    <p:sldId xmlns:r="http://schemas.openxmlformats.org/officeDocument/2006/relationships" id="272" r:id="Ra26b8e34f41e4a66"/>
    <p:sldId xmlns:r="http://schemas.openxmlformats.org/officeDocument/2006/relationships" id="273" r:id="R2ca236ba8b624b69"/>
    <p:sldId xmlns:r="http://schemas.openxmlformats.org/officeDocument/2006/relationships" id="274" r:id="Rafbc8fd1b58a4226"/>
    <p:sldId xmlns:r="http://schemas.openxmlformats.org/officeDocument/2006/relationships" id="275" r:id="R177f5c106b2e4b78"/>
    <p:sldId xmlns:r="http://schemas.openxmlformats.org/officeDocument/2006/relationships" id="276" r:id="R328ebc189ce44e9f"/>
    <p:sldId xmlns:r="http://schemas.openxmlformats.org/officeDocument/2006/relationships" id="277" r:id="Rbdc8d46f744f49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747e56b6c949bd" /><Relationship Type="http://schemas.openxmlformats.org/officeDocument/2006/relationships/slideMaster" Target="/ppt/slideMasters/slideMaster1.xml" Id="Rfeeb3d0625bc497a" /><Relationship Type="http://schemas.openxmlformats.org/officeDocument/2006/relationships/notesMaster" Target="/ppt/notesMasters/notesMaster1.xml" Id="Raad4adbfdbaa4048" /><Relationship Type="http://schemas.openxmlformats.org/officeDocument/2006/relationships/presProps" Target="/ppt/presProps.xml" Id="R92de844e62da43b0" /><Relationship Type="http://schemas.openxmlformats.org/officeDocument/2006/relationships/tableStyles" Target="/ppt/tableStyles.xml" Id="R99211b86065946d2" /><Relationship Type="http://schemas.openxmlformats.org/officeDocument/2006/relationships/slide" Target="/ppt/slides/slide1.xml" Id="R24c2bbb30f644512" /><Relationship Type="http://schemas.openxmlformats.org/officeDocument/2006/relationships/slide" Target="/ppt/slides/slide2.xml" Id="R95be3e07ba844241" /><Relationship Type="http://schemas.openxmlformats.org/officeDocument/2006/relationships/slide" Target="/ppt/slides/slide3.xml" Id="Re9e3e896a5fc4f27" /><Relationship Type="http://schemas.openxmlformats.org/officeDocument/2006/relationships/slide" Target="/ppt/slides/slide4.xml" Id="Rc2baa1d5d9c5490c" /><Relationship Type="http://schemas.openxmlformats.org/officeDocument/2006/relationships/slide" Target="/ppt/slides/slide5.xml" Id="Rd9a2181725b24050" /><Relationship Type="http://schemas.openxmlformats.org/officeDocument/2006/relationships/slide" Target="/ppt/slides/slide6.xml" Id="R708690e9e98b44c5" /><Relationship Type="http://schemas.openxmlformats.org/officeDocument/2006/relationships/slide" Target="/ppt/slides/slide7.xml" Id="R4490c16f4fb844db" /><Relationship Type="http://schemas.openxmlformats.org/officeDocument/2006/relationships/slide" Target="/ppt/slides/slide8.xml" Id="Rc301584edb274885" /><Relationship Type="http://schemas.openxmlformats.org/officeDocument/2006/relationships/slide" Target="/ppt/slides/slide9.xml" Id="R62b36c1af65f4c7c" /><Relationship Type="http://schemas.openxmlformats.org/officeDocument/2006/relationships/slide" Target="/ppt/slides/slide10.xml" Id="R7c4d3c886b284f05" /><Relationship Type="http://schemas.openxmlformats.org/officeDocument/2006/relationships/slide" Target="/ppt/slides/slide11.xml" Id="Rf832555de0294737" /><Relationship Type="http://schemas.openxmlformats.org/officeDocument/2006/relationships/slide" Target="/ppt/slides/slide12.xml" Id="Rf001f5241e4a45c2" /><Relationship Type="http://schemas.openxmlformats.org/officeDocument/2006/relationships/slide" Target="/ppt/slides/slide13.xml" Id="R06e9554f1ae04784" /><Relationship Type="http://schemas.openxmlformats.org/officeDocument/2006/relationships/slide" Target="/ppt/slides/slide14.xml" Id="Rc351e2f031e54153" /><Relationship Type="http://schemas.openxmlformats.org/officeDocument/2006/relationships/slide" Target="/ppt/slides/slide15.xml" Id="R3f805003a7234e47" /><Relationship Type="http://schemas.openxmlformats.org/officeDocument/2006/relationships/slide" Target="/ppt/slides/slide16.xml" Id="R0294029fe25743da" /><Relationship Type="http://schemas.openxmlformats.org/officeDocument/2006/relationships/slide" Target="/ppt/slides/slide17.xml" Id="Ra26b8e34f41e4a66" /><Relationship Type="http://schemas.openxmlformats.org/officeDocument/2006/relationships/slide" Target="/ppt/slides/slide18.xml" Id="R2ca236ba8b624b69" /><Relationship Type="http://schemas.openxmlformats.org/officeDocument/2006/relationships/slide" Target="/ppt/slides/slide19.xml" Id="Rafbc8fd1b58a4226" /><Relationship Type="http://schemas.openxmlformats.org/officeDocument/2006/relationships/slide" Target="/ppt/slides/slide20.xml" Id="R177f5c106b2e4b78" /><Relationship Type="http://schemas.openxmlformats.org/officeDocument/2006/relationships/slide" Target="/ppt/slides/slide21.xml" Id="R328ebc189ce44e9f" /><Relationship Type="http://schemas.openxmlformats.org/officeDocument/2006/relationships/slide" Target="/ppt/slides/slide22.xml" Id="Rbdc8d46f744f49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3c1e63336343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be452200c94182" /><Relationship Type="http://schemas.openxmlformats.org/officeDocument/2006/relationships/notesMaster" Target="/ppt/notesMasters/notesMaster1.xml" Id="R420e54db40f946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bf1e527ecc4a24" /><Relationship Type="http://schemas.openxmlformats.org/officeDocument/2006/relationships/notesMaster" Target="/ppt/notesMasters/notesMaster1.xml" Id="R8f5317da69a4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490c4dfca948f6" /><Relationship Type="http://schemas.openxmlformats.org/officeDocument/2006/relationships/notesMaster" Target="/ppt/notesMasters/notesMaster1.xml" Id="R91ec6e722e9347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e3e4bb82c24fef" /><Relationship Type="http://schemas.openxmlformats.org/officeDocument/2006/relationships/notesMaster" Target="/ppt/notesMasters/notesMaster1.xml" Id="R735f696ef8b144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3edac131354bf4" /><Relationship Type="http://schemas.openxmlformats.org/officeDocument/2006/relationships/notesMaster" Target="/ppt/notesMasters/notesMaster1.xml" Id="R2a13edb819194e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d098cec8b244a3" /><Relationship Type="http://schemas.openxmlformats.org/officeDocument/2006/relationships/notesMaster" Target="/ppt/notesMasters/notesMaster1.xml" Id="R2a066164d33540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e8c570037947ed" /><Relationship Type="http://schemas.openxmlformats.org/officeDocument/2006/relationships/notesMaster" Target="/ppt/notesMasters/notesMaster1.xml" Id="R46e4441e7e424f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48666c2e54444e" /><Relationship Type="http://schemas.openxmlformats.org/officeDocument/2006/relationships/notesMaster" Target="/ppt/notesMasters/notesMaster1.xml" Id="R9f44987c25354a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246f7ae26a41b8" /><Relationship Type="http://schemas.openxmlformats.org/officeDocument/2006/relationships/notesMaster" Target="/ppt/notesMasters/notesMaster1.xml" Id="R7de6fed998be40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4420d2ea1945f0" /><Relationship Type="http://schemas.openxmlformats.org/officeDocument/2006/relationships/notesMaster" Target="/ppt/notesMasters/notesMaster1.xml" Id="R25fbf1acddeb4f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d22d77e85541ae" /><Relationship Type="http://schemas.openxmlformats.org/officeDocument/2006/relationships/notesMaster" Target="/ppt/notesMasters/notesMaster1.xml" Id="Rc24712065fef4d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a91667e8e84347" /><Relationship Type="http://schemas.openxmlformats.org/officeDocument/2006/relationships/notesMaster" Target="/ppt/notesMasters/notesMaster1.xml" Id="Ra9c7cb31526c4d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a15790606943a7" /><Relationship Type="http://schemas.openxmlformats.org/officeDocument/2006/relationships/notesMaster" Target="/ppt/notesMasters/notesMaster1.xml" Id="R79a095e6c97b4d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46a719beb4d1b" /><Relationship Type="http://schemas.openxmlformats.org/officeDocument/2006/relationships/notesMaster" Target="/ppt/notesMasters/notesMaster1.xml" Id="R900fa496f1d143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ab2c586e354658" /><Relationship Type="http://schemas.openxmlformats.org/officeDocument/2006/relationships/notesMaster" Target="/ppt/notesMasters/notesMaster1.xml" Id="R888136777d904e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a5664d55c74ff8" /><Relationship Type="http://schemas.openxmlformats.org/officeDocument/2006/relationships/notesMaster" Target="/ppt/notesMasters/notesMaster1.xml" Id="R0d1f21a0d6bc48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b6c598e94a4dc3" /><Relationship Type="http://schemas.openxmlformats.org/officeDocument/2006/relationships/notesMaster" Target="/ppt/notesMasters/notesMaster1.xml" Id="R92d60de6cd544c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62afda50ea4155" /><Relationship Type="http://schemas.openxmlformats.org/officeDocument/2006/relationships/notesMaster" Target="/ppt/notesMasters/notesMaster1.xml" Id="R1302d61d81e64c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12d40e9ab141ab" /><Relationship Type="http://schemas.openxmlformats.org/officeDocument/2006/relationships/notesMaster" Target="/ppt/notesMasters/notesMaster1.xml" Id="Rdb1cafbc050f4c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b0f366f0dd4847" /><Relationship Type="http://schemas.openxmlformats.org/officeDocument/2006/relationships/notesMaster" Target="/ppt/notesMasters/notesMaster1.xml" Id="Rb80bf6623f784b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b7b130de1f46ee" /><Relationship Type="http://schemas.openxmlformats.org/officeDocument/2006/relationships/notesMaster" Target="/ppt/notesMasters/notesMaster1.xml" Id="Rf692940c54044e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207ea653514c6c" /><Relationship Type="http://schemas.openxmlformats.org/officeDocument/2006/relationships/notesMaster" Target="/ppt/notesMasters/notesMaster1.xml" Id="R5775e11e666842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Group 03. We compare Binary Search, Histogram and Statistics for speech and silence segmentation.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four TRAIN WAVs and four separate TEST WAVs. Each 25 ms window is centered on a 10 ms decision cell. We normalize STE per WAV, then fill silence below 200 ms. Red boundaries come from LAB. Blue boundaries come from the algorithm. F0 is an independent estimate.</a:t>
            </a:r>
          </a:p>
          <a:p xmlns:a="http://schemas.openxmlformats.org/drawingml/2006/main">
            <a:r>
              <a:t/>
            </a:r>
          </a:p>
          <a:p xmlns:a="http://schemas.openxmlformats.org/drawingml/2006/main">
            <a:r>
              <a:t>Sources (reference only): speech_silence/features.py, pipeline.py and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selects a median order after STE normalization. LAB labels split the frames into two classes. We keep overlap values and bisect to balance their energy errors. Boundary errors, then MAE, select median 15. The shared threshold is about 0.0016. TEST uses the same processing, followed by the 200 ms silence rule.</a:t>
            </a:r>
          </a:p>
          <a:p xmlns:a="http://schemas.openxmlformats.org/drawingml/2006/main">
            <a:r>
              <a:t/>
            </a:r>
          </a:p>
          <a:p xmlns:a="http://schemas.openxmlformats.org/drawingml/2006/main">
            <a:r>
              <a:t>Sources (reference only): TT1_BinarySearch/algorithm.py, speech_silence/pipeline.py.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plot uses the actual TRAIN overlap. Increasing T reduces Silence energy above T and increases Speech energy below T. The green line marks their balance. The right plot records the real midpoint and search interval over 24 iterations. It converges to the shared threshold. The curves and iteration history come from the same solver used for classification.</a:t>
            </a:r>
          </a:p>
          <a:p xmlns:a="http://schemas.openxmlformats.org/drawingml/2006/main">
            <a:r>
              <a:t/>
            </a:r>
          </a:p>
          <a:p xmlns:a="http://schemas.openxmlformats.org/drawingml/2006/main">
            <a:r>
              <a:t>Sources (reference only): TT1_BinarySearch/ket_qua/tim_nguong_binary.png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60 ms late. MAE is 30 ms. Tail median STE remains above the fixed threshold. Extra and missing boundaries are zero.</a:t>
            </a:r>
          </a:p>
          <a:p xmlns:a="http://schemas.openxmlformats.org/drawingml/2006/main">
            <a:r>
              <a:t/>
            </a:r>
          </a:p>
          <a:p xmlns:a="http://schemas.openxmlformats.org/drawingml/2006/main">
            <a:r>
              <a:t>Sources (reference only): TT1_BinarySearch/ket_qua/phone_F2.png; TT1_BinarySearch/ket_qua/ket_qua.csv. LAB start/end: 1.02 / 4.04 s. Predictions: 1.02 / 4.10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matches. MAE is 0 ms. Both LAB timestamps match the detected transitions. Extra and missing boundaries are zero.</a:t>
            </a:r>
          </a:p>
          <a:p xmlns:a="http://schemas.openxmlformats.org/drawingml/2006/main">
            <a:r>
              <a:t/>
            </a:r>
          </a:p>
          <a:p xmlns:a="http://schemas.openxmlformats.org/drawingml/2006/main">
            <a:r>
              <a:t>Sources (reference only): TT1_BinarySearch/ket_qua/phone_M2.png; TT1_BinarySearch/ket_qua/ket_qua.csv. LAB start/end: 0.53 / 2.52 s. Predictions: 0.53 / 2.52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10 ms early. MAE is 10 ms. Energy crosses T before the LAB transitions. Extra and missing boundaries are zero.</a:t>
            </a:r>
          </a:p>
          <a:p xmlns:a="http://schemas.openxmlformats.org/drawingml/2006/main">
            <a:r>
              <a:t/>
            </a:r>
          </a:p>
          <a:p xmlns:a="http://schemas.openxmlformats.org/drawingml/2006/main">
            <a:r>
              <a:t>Sources (reference only): TT1_BinarySearch/ket_qua/studio_F2.png; TT1_BinarySearch/ket_qua/ket_qua.csv. LAB start/end: 0.77 / 2.37 s. Predictions: 0.76 / 2.36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matches. MAE is 5 ms. Possible cause: weak energy near the onset. Extra and missing boundaries are zero.</a:t>
            </a:r>
          </a:p>
          <a:p xmlns:a="http://schemas.openxmlformats.org/drawingml/2006/main">
            <a:r>
              <a:t/>
            </a:r>
          </a:p>
          <a:p xmlns:a="http://schemas.openxmlformats.org/drawingml/2006/main">
            <a:r>
              <a:t>Sources (reference only): TT1_BinarySearch/ket_qua/studio_M2.png; TT1_BinarySearch/ket_qua/ket_qua.csv. LAB start/end: 0.45 / 1.93 s. Predictions: 0.46 / 1.93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build 128-bin histograms and smooth the counts over three bins. TRAIN selects W from eight candidates using boundary errors, then MAE. The selected W is 30. For each TEST recording, we choose the first two local peaks along the energy axis. We combine their locations with more weight on the first peak. The threshold therefore adapts to each WAV. If fewer than two peaks exist, we use the mean STE of that WAV. After classification, we fill silence below 200 ms.</a:t>
            </a:r>
          </a:p>
          <a:p xmlns:a="http://schemas.openxmlformats.org/drawingml/2006/main">
            <a:r>
              <a:t/>
            </a:r>
          </a:p>
          <a:p xmlns:a="http://schemas.openxmlformats.org/drawingml/2006/main">
            <a:r>
              <a:t>Sources (reference only): TT2_Histogram/algorithm.py, speech_silence/pipeline.py.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actual energy counts for phone_F2. The blue line is the three-bin smoothing. M1 and M2 are the first two local peaks along the energy axis. The green line marks T. W equals 30, so T stays close to M1. The zoom uses logarithmic counts to make the smaller second peak visible. No TEST labels select these peaks.</a:t>
            </a:r>
          </a:p>
          <a:p xmlns:a="http://schemas.openxmlformats.org/drawingml/2006/main">
            <a:r>
              <a:t/>
            </a:r>
          </a:p>
          <a:p xmlns:a="http://schemas.openxmlformats.org/drawingml/2006/main">
            <a:r>
              <a:t>Sources (reference only): TT2_Histogram/ket_qua/phone_F2_histogram.png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10 ms late. End 10 ms early. MAE is 10 ms. Possible cause: weak energy near the boundaries. Extra and missing boundaries are zero.</a:t>
            </a:r>
          </a:p>
          <a:p xmlns:a="http://schemas.openxmlformats.org/drawingml/2006/main">
            <a:r>
              <a:t/>
            </a:r>
          </a:p>
          <a:p xmlns:a="http://schemas.openxmlformats.org/drawingml/2006/main">
            <a:r>
              <a:t>Sources (reference only): TT2_Histogram/ket_qua/phone_F2.png; TT2_Histogram/ket_qua/ket_qua.csv. LAB start/end: 1.02 / 4.04 s. Predictions: 1.03 / 4.03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Possible cause: weak energy near the boundaries. Extra and missing boundaries are zero.</a:t>
            </a:r>
          </a:p>
          <a:p xmlns:a="http://schemas.openxmlformats.org/drawingml/2006/main">
            <a:r>
              <a:t/>
            </a:r>
          </a:p>
          <a:p xmlns:a="http://schemas.openxmlformats.org/drawingml/2006/main">
            <a:r>
              <a:t>Sources (reference only): TT2_Histogram/ket_qua/phone_M2.png; TT2_Histogram/ket_qua/ket_qua.csv. LAB start/end: 0.53 / 2.52 s. Predictions: 0.53 / 2.51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Onset window includes speech. Tail energy falls below T.. Extra and missing boundaries are zero.</a:t>
            </a:r>
          </a:p>
          <a:p xmlns:a="http://schemas.openxmlformats.org/drawingml/2006/main">
            <a:r>
              <a:t/>
            </a:r>
          </a:p>
          <a:p xmlns:a="http://schemas.openxmlformats.org/drawingml/2006/main">
            <a:r>
              <a:t>Sources (reference only): TT2_Histogram/ket_qua/studio_F2.png; TT2_Histogram/ket_qua/ket_qua.csv. LAB start/end: 0.77 / 2.37 s. Predictions: 0.76 / 2.35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20 ms late. End 10 ms early. MAE is 15 ms. Possible cause: weak energy near the boundaries. Extra and missing boundaries are zero.</a:t>
            </a:r>
          </a:p>
          <a:p xmlns:a="http://schemas.openxmlformats.org/drawingml/2006/main">
            <a:r>
              <a:t/>
            </a:r>
          </a:p>
          <a:p xmlns:a="http://schemas.openxmlformats.org/drawingml/2006/main">
            <a:r>
              <a:t>Sources (reference only): TT2_Histogram/ket_qua/studio_M2.png; TT2_Histogram/ket_qua/ket_qua.csv. LAB start/end: 0.45 / 1.93 s. Predictions: 0.47 / 1.92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uses labeled normalized STE from all four TRAIN recordings. LAB labels give 503 silence frames and 794 speech frames. We calculate each class mean and standard deviation, then choose a Gaussian crossing between the class means. The learned threshold is about 0.00276. We keep it fixed for every TEST WAV. This method uses unfiltered normalized STE. After classification, we fill silence shorter than 200 ms.</a:t>
            </a:r>
          </a:p>
          <a:p xmlns:a="http://schemas.openxmlformats.org/drawingml/2006/main">
            <a:r>
              <a:t/>
            </a:r>
          </a:p>
          <a:p xmlns:a="http://schemas.openxmlformats.org/drawingml/2006/main">
            <a:r>
              <a:t>Sources (reference only): TT3_Statistics/algorithm.py, TT3_Statistics/ket_qua/tham_so_huan_luyen.json.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compares observed TRAIN features with the two fitted Gaussian models. Silence is concentrated near zero, while Speech spreads more widely. Expanded axes make both visible. The right panel zooms on the selected crossing at about 0.00276. Observations do not perfectly follow Gaussian curves. The crossing provides the shared threshold used on TEST.</a:t>
            </a:r>
          </a:p>
          <a:p xmlns:a="http://schemas.openxmlformats.org/drawingml/2006/main">
            <a:r>
              <a:t/>
            </a:r>
          </a:p>
          <a:p xmlns:a="http://schemas.openxmlformats.org/drawingml/2006/main">
            <a:r>
              <a:t>Sources (reference only): TT3_Statistics/ket_qua/tim_nguong_gaussian.png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10 ms late. MAE is 5 ms. Tail STE remains above the shared threshold. Extra and missing boundaries are zero.</a:t>
            </a:r>
          </a:p>
          <a:p xmlns:a="http://schemas.openxmlformats.org/drawingml/2006/main">
            <a:r>
              <a:t/>
            </a:r>
          </a:p>
          <a:p xmlns:a="http://schemas.openxmlformats.org/drawingml/2006/main">
            <a:r>
              <a:t>Sources (reference only): TT3_Statistics/ket_qua/phone_F2.png; TT3_Statistics/ket_qua/ket_qua.csv. LAB start/end: 1.02 / 4.04 s. Predictions: 1.02 / 4.05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Possible cause: weak energy near the boundaries. Extra and missing boundaries are zero.</a:t>
            </a:r>
          </a:p>
          <a:p xmlns:a="http://schemas.openxmlformats.org/drawingml/2006/main">
            <a:r>
              <a:t/>
            </a:r>
          </a:p>
          <a:p xmlns:a="http://schemas.openxmlformats.org/drawingml/2006/main">
            <a:r>
              <a:t>Sources (reference only): TT3_Statistics/ket_qua/phone_M2.png; TT3_Statistics/ket_qua/ket_qua.csv. LAB start/end: 0.53 / 2.52 s. Predictions: 0.53 / 2.51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Onset window includes speech. Tail energy falls below T.. Extra and missing boundaries are zero.</a:t>
            </a:r>
          </a:p>
          <a:p xmlns:a="http://schemas.openxmlformats.org/drawingml/2006/main">
            <a:r>
              <a:t/>
            </a:r>
          </a:p>
          <a:p xmlns:a="http://schemas.openxmlformats.org/drawingml/2006/main">
            <a:r>
              <a:t>Sources (reference only): TT3_Statistics/ket_qua/studio_F2.png; TT3_Statistics/ket_qua/ket_qua.csv. LAB start/end: 0.77 / 2.37 s. Predictions: 0.76 / 2.35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10 ms early. MAE is 10 ms. Possible cause: weak energy near the boundaries. Extra and missing boundaries are zero.</a:t>
            </a:r>
          </a:p>
          <a:p xmlns:a="http://schemas.openxmlformats.org/drawingml/2006/main">
            <a:r>
              <a:t/>
            </a:r>
          </a:p>
          <a:p xmlns:a="http://schemas.openxmlformats.org/drawingml/2006/main">
            <a:r>
              <a:t>Sources (reference only): TT3_Statistics/ket_qua/studio_M2.png; TT3_Statistics/ket_qua/ket_qua.csv. LAB start/end: 0.45 / 1.93 s. Predictions: 0.46 / 1.92 s. The cause is a plot interpretation. LAB mean F0 is not a reference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these four TEST WAVs, Binary Search and Histogram both average 11.25 ms. Statistics averages 8.75 ms, the lowest in our comparison. All three methods match eight reference boundaries with zero extra or missing boundaries. The mean row averages the four files. These results apply to this TEST set.</a:t>
            </a:r>
          </a:p>
          <a:p xmlns:a="http://schemas.openxmlformats.org/drawingml/2006/main">
            <a:r>
              <a:t/>
            </a:r>
          </a:p>
          <a:p xmlns:a="http://schemas.openxmlformats.org/drawingml/2006/main">
            <a:r>
              <a:t>Sources (reference only): the three TT*/ket_qua/ket_qua.csv and tong_hop.csv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listening.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7afe2a8f1147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69a96d7809485c" /><Relationship Type="http://schemas.openxmlformats.org/officeDocument/2006/relationships/slideLayout" Target="/ppt/slideLayouts/slideLayout1.xml" Id="R268edda1729945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8edda1729945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6a8d31a3634e56" /><Relationship Type="http://schemas.openxmlformats.org/officeDocument/2006/relationships/notesSlide" Target="/ppt/notesSlides/notesSlide1.xml" Id="Rf41c743e299b45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062cb7fb84427a" /><Relationship Type="http://schemas.openxmlformats.org/officeDocument/2006/relationships/notesSlide" Target="/ppt/notesSlides/notesSlide2.xml" Id="Rb963b4289b1e4c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fe15154d7941c0" /><Relationship Type="http://schemas.openxmlformats.org/officeDocument/2006/relationships/notesSlide" Target="/ppt/notesSlides/notesSlide3.xml" Id="Rd59406d4003241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b2fd913aca4d39" /><Relationship Type="http://schemas.openxmlformats.org/officeDocument/2006/relationships/image" Target="/ppt/media/image.png" Id="Rb31ac5108f024814" /><Relationship Type="http://schemas.openxmlformats.org/officeDocument/2006/relationships/notesSlide" Target="/ppt/notesSlides/notesSlide4.xml" Id="Rf6476333753e4b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c46f40129f4f07" /><Relationship Type="http://schemas.openxmlformats.org/officeDocument/2006/relationships/image" Target="/ppt/media/image2.png" Id="R154da18e3eec4e48" /><Relationship Type="http://schemas.openxmlformats.org/officeDocument/2006/relationships/image" Target="/ppt/media/image3.png" Id="R65de7fe46ec94628" /><Relationship Type="http://schemas.openxmlformats.org/officeDocument/2006/relationships/image" Target="/ppt/media/image4.png" Id="R1739abecdff44877" /><Relationship Type="http://schemas.openxmlformats.org/officeDocument/2006/relationships/notesSlide" Target="/ppt/notesSlides/notesSlide5.xml" Id="R709484f0e80043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e27c8191be49dd" /><Relationship Type="http://schemas.openxmlformats.org/officeDocument/2006/relationships/image" Target="/ppt/media/image5.png" Id="R3935e32b070b4e99" /><Relationship Type="http://schemas.openxmlformats.org/officeDocument/2006/relationships/image" Target="/ppt/media/image6.png" Id="R89ef3cf966c94f32" /><Relationship Type="http://schemas.openxmlformats.org/officeDocument/2006/relationships/image" Target="/ppt/media/image7.png" Id="R7c5b26a9b7974ad5" /><Relationship Type="http://schemas.openxmlformats.org/officeDocument/2006/relationships/notesSlide" Target="/ppt/notesSlides/notesSlide6.xml" Id="R952b69266ed745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dd0d3955e2498a" /><Relationship Type="http://schemas.openxmlformats.org/officeDocument/2006/relationships/image" Target="/ppt/media/image8.png" Id="R34afe32aa49b4e60" /><Relationship Type="http://schemas.openxmlformats.org/officeDocument/2006/relationships/image" Target="/ppt/media/image9.png" Id="Re7f216fdd7734dac" /><Relationship Type="http://schemas.openxmlformats.org/officeDocument/2006/relationships/image" Target="/ppt/media/image10.png" Id="Rdaca67a3d9824711" /><Relationship Type="http://schemas.openxmlformats.org/officeDocument/2006/relationships/notesSlide" Target="/ppt/notesSlides/notesSlide7.xml" Id="Rf1cf4e8ad9574b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cca17176d7447b" /><Relationship Type="http://schemas.openxmlformats.org/officeDocument/2006/relationships/image" Target="/ppt/media/image11.png" Id="R917404554f8f43ff" /><Relationship Type="http://schemas.openxmlformats.org/officeDocument/2006/relationships/image" Target="/ppt/media/image12.png" Id="R11f10e9689164f72" /><Relationship Type="http://schemas.openxmlformats.org/officeDocument/2006/relationships/image" Target="/ppt/media/image13.png" Id="Rafac74e0c1b14bdd" /><Relationship Type="http://schemas.openxmlformats.org/officeDocument/2006/relationships/notesSlide" Target="/ppt/notesSlides/notesSlide8.xml" Id="R6bcec38b0bda4c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ede315d78247bc" /><Relationship Type="http://schemas.openxmlformats.org/officeDocument/2006/relationships/notesSlide" Target="/ppt/notesSlides/notesSlide9.xml" Id="Rc4b1139fe9d240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e0469195054769" /><Relationship Type="http://schemas.openxmlformats.org/officeDocument/2006/relationships/image" Target="/ppt/media/image14.png" Id="Rcc220facdd594769" /><Relationship Type="http://schemas.openxmlformats.org/officeDocument/2006/relationships/notesSlide" Target="/ppt/notesSlides/notesSlide10.xml" Id="R306c77a22bd844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8b6c3ca7eb4b71" /><Relationship Type="http://schemas.openxmlformats.org/officeDocument/2006/relationships/image" Target="/ppt/media/image15.png" Id="Rfedfb4ab22134d18" /><Relationship Type="http://schemas.openxmlformats.org/officeDocument/2006/relationships/image" Target="/ppt/media/image16.png" Id="Rd84cfc65bd124c44" /><Relationship Type="http://schemas.openxmlformats.org/officeDocument/2006/relationships/image" Target="/ppt/media/image17.png" Id="R6b3873a81d384a7c" /><Relationship Type="http://schemas.openxmlformats.org/officeDocument/2006/relationships/notesSlide" Target="/ppt/notesSlides/notesSlide11.xml" Id="R04497a10d9ca4e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8c3dce390c449c" /><Relationship Type="http://schemas.openxmlformats.org/officeDocument/2006/relationships/image" Target="/ppt/media/image18.png" Id="R95b92550d5b445bd" /><Relationship Type="http://schemas.openxmlformats.org/officeDocument/2006/relationships/image" Target="/ppt/media/image19.png" Id="Rabb441f12f9e4037" /><Relationship Type="http://schemas.openxmlformats.org/officeDocument/2006/relationships/image" Target="/ppt/media/image20.png" Id="R78ee644858a44654" /><Relationship Type="http://schemas.openxmlformats.org/officeDocument/2006/relationships/notesSlide" Target="/ppt/notesSlides/notesSlide12.xml" Id="Raefe705a12f245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52eabe634e49c5" /><Relationship Type="http://schemas.openxmlformats.org/officeDocument/2006/relationships/image" Target="/ppt/media/image21.png" Id="Rf0f47aecf756452d" /><Relationship Type="http://schemas.openxmlformats.org/officeDocument/2006/relationships/image" Target="/ppt/media/image22.png" Id="Rc0ad19047c97408c" /><Relationship Type="http://schemas.openxmlformats.org/officeDocument/2006/relationships/image" Target="/ppt/media/image23.png" Id="R3b4c58af50bd485d" /><Relationship Type="http://schemas.openxmlformats.org/officeDocument/2006/relationships/notesSlide" Target="/ppt/notesSlides/notesSlide13.xml" Id="Re0769ba3fe8548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cb0cab9a424a15" /><Relationship Type="http://schemas.openxmlformats.org/officeDocument/2006/relationships/image" Target="/ppt/media/image24.png" Id="R02071cb8268c4f9c" /><Relationship Type="http://schemas.openxmlformats.org/officeDocument/2006/relationships/image" Target="/ppt/media/image25.png" Id="R86027aa509f2408a" /><Relationship Type="http://schemas.openxmlformats.org/officeDocument/2006/relationships/image" Target="/ppt/media/image26.png" Id="Rd4fddbb68da04dea" /><Relationship Type="http://schemas.openxmlformats.org/officeDocument/2006/relationships/notesSlide" Target="/ppt/notesSlides/notesSlide14.xml" Id="R210ee7dbbdb744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72d6f78d8bf46de" /><Relationship Type="http://schemas.openxmlformats.org/officeDocument/2006/relationships/notesSlide" Target="/ppt/notesSlides/notesSlide15.xml" Id="R2d26968409c641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1ab6bdbde94b62" /><Relationship Type="http://schemas.openxmlformats.org/officeDocument/2006/relationships/image" Target="/ppt/media/image27.png" Id="R9320f1dd65214660" /><Relationship Type="http://schemas.openxmlformats.org/officeDocument/2006/relationships/notesSlide" Target="/ppt/notesSlides/notesSlide16.xml" Id="R30ad40043ecd45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51d014274e4894" /><Relationship Type="http://schemas.openxmlformats.org/officeDocument/2006/relationships/image" Target="/ppt/media/image28.png" Id="Rd2d578e9af9141fc" /><Relationship Type="http://schemas.openxmlformats.org/officeDocument/2006/relationships/image" Target="/ppt/media/image29.png" Id="Ref2f8206cd1446ef" /><Relationship Type="http://schemas.openxmlformats.org/officeDocument/2006/relationships/image" Target="/ppt/media/image30.png" Id="Reb9bf3e0a457422c" /><Relationship Type="http://schemas.openxmlformats.org/officeDocument/2006/relationships/notesSlide" Target="/ppt/notesSlides/notesSlide17.xml" Id="R431da8abf32543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0caacc43864c1b" /><Relationship Type="http://schemas.openxmlformats.org/officeDocument/2006/relationships/image" Target="/ppt/media/image31.png" Id="Ra3a18a8adc574b85" /><Relationship Type="http://schemas.openxmlformats.org/officeDocument/2006/relationships/image" Target="/ppt/media/image32.png" Id="Rb260fe8c4324448b" /><Relationship Type="http://schemas.openxmlformats.org/officeDocument/2006/relationships/image" Target="/ppt/media/image33.png" Id="Rbb90519d03004c59" /><Relationship Type="http://schemas.openxmlformats.org/officeDocument/2006/relationships/notesSlide" Target="/ppt/notesSlides/notesSlide18.xml" Id="R59d8147bb32444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8062edbd674383" /><Relationship Type="http://schemas.openxmlformats.org/officeDocument/2006/relationships/image" Target="/ppt/media/image34.png" Id="R9b57eae430884f6f" /><Relationship Type="http://schemas.openxmlformats.org/officeDocument/2006/relationships/image" Target="/ppt/media/image35.png" Id="Ref289d69e58b49a5" /><Relationship Type="http://schemas.openxmlformats.org/officeDocument/2006/relationships/image" Target="/ppt/media/image36.png" Id="R5d6490ad91c7454d" /><Relationship Type="http://schemas.openxmlformats.org/officeDocument/2006/relationships/notesSlide" Target="/ppt/notesSlides/notesSlide19.xml" Id="R554cf6840fe746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89772d254174e1d" /><Relationship Type="http://schemas.openxmlformats.org/officeDocument/2006/relationships/image" Target="/ppt/media/image37.png" Id="Ra1819cb08d33413f" /><Relationship Type="http://schemas.openxmlformats.org/officeDocument/2006/relationships/image" Target="/ppt/media/image38.png" Id="R559476a151ff4171" /><Relationship Type="http://schemas.openxmlformats.org/officeDocument/2006/relationships/image" Target="/ppt/media/image39.png" Id="Ra9b68d8a4ff34b9f" /><Relationship Type="http://schemas.openxmlformats.org/officeDocument/2006/relationships/notesSlide" Target="/ppt/notesSlides/notesSlide20.xml" Id="Rfce000892aa64b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17c93e19ca4ee6" /><Relationship Type="http://schemas.openxmlformats.org/officeDocument/2006/relationships/notesSlide" Target="/ppt/notesSlides/notesSlide21.xml" Id="R7df31f87701c4b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ec0e3c126764dee" /><Relationship Type="http://schemas.openxmlformats.org/officeDocument/2006/relationships/notesSlide" Target="/ppt/notesSlides/notesSlide22.xml" Id="R5681f694587c4e40" /></Relationships>
</file>

<file path=ppt/slides/slide1.xml><?xml version="1.0" encoding="utf-8"?>
<p:sld xmlns:p="http://schemas.openxmlformats.org/presentationml/2006/main">
  <p:cSld>
    <p:bg>
      <p:bgPr>
        <a:solidFill xmlns:a="http://schemas.openxmlformats.org/drawingml/2006/main">
          <a:srgbClr val="15363D"/>
        </a:solidFill>
      </p:bgPr>
    </p:bg>
    <p:spTree>
      <p:nvGrpSpPr>
        <p:cNvPr id="1" name=""/>
        <p:cNvGrpSpPr/>
        <p:nvPr/>
      </p:nvGrpSpPr>
      <p:grpSpPr>
        <a:xfrm xmlns:a="http://schemas.openxmlformats.org/drawingml/2006/main"/>
      </p:grpSpPr>
      <p:sp>
        <p:nvSpPr>
          <p:cNvPr id="7" name="DSP Midterm, Group 03">
            <a:extLst xmlns:a="http://schemas.openxmlformats.org/drawingml/2006/main">
              <a:ext uri="{FF2B5EF4-FFF2-40B4-BE49-F238E27FC236}">
                <a16:creationId xmlns:a16="http://schemas.microsoft.com/office/drawing/2014/main" id="{8A02321D-EC2C-475C-A96B-874918C06A4B}"/>
              </a:ext>
            </a:extLst>
          </p:cNvPr>
          <p:cNvSpPr>
            <a:spLocks xmlns:a="http://schemas.openxmlformats.org/drawingml/2006/main" noGrp="1"/>
          </p:cNvSpPr>
          <p:nvPr/>
        </p:nvSpPr>
        <p:spPr>
          <a:xfrm xmlns:a="http://schemas.openxmlformats.org/drawingml/2006/main">
            <a:off x="609600" y="4572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A9DECF"/>
                </a:solidFill>
                <a:latin typeface="Lato"/>
                <a:ea typeface="Lato"/>
                <a:cs typeface="Lato"/>
              </a:defRPr>
            </a:pPr>
            <a:r>
              <a:rPr sz="2250" b="1">
                <a:solidFill>
                  <a:srgbClr val="A9DECF"/>
                </a:solidFill>
                <a:latin typeface="Lato"/>
                <a:ea typeface="Lato"/>
                <a:cs typeface="Lato"/>
              </a:rPr>
              <a:t>DSP Midterm, Group 03</a:t>
            </a:r>
          </a:p>
        </p:txBody>
      </p:sp>
      <p:sp>
        <p:nvSpPr>
          <p:cNvPr id="2" name="Speech and silence">
            <a:extLst xmlns:a="http://schemas.openxmlformats.org/drawingml/2006/main">
              <a:ext uri="{FF2B5EF4-FFF2-40B4-BE49-F238E27FC236}">
                <a16:creationId xmlns:a16="http://schemas.microsoft.com/office/drawing/2014/main" id="{67745636-1043-4B9C-AB8C-7369E499FD49}"/>
              </a:ext>
            </a:extLst>
          </p:cNvPr>
          <p:cNvSpPr>
            <a:spLocks xmlns:a="http://schemas.openxmlformats.org/drawingml/2006/main" noGrp="1"/>
          </p:cNvSpPr>
          <p:nvPr/>
        </p:nvSpPr>
        <p:spPr>
          <a:xfrm xmlns:a="http://schemas.openxmlformats.org/drawingml/2006/main">
            <a:off x="609600" y="1524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150" b="1">
                <a:solidFill>
                  <a:srgbClr val="FFFFFF"/>
                </a:solidFill>
                <a:latin typeface="Lato"/>
                <a:ea typeface="Lato"/>
                <a:cs typeface="Lato"/>
              </a:defRPr>
            </a:pPr>
            <a:r>
              <a:rPr sz="6150" b="1">
                <a:solidFill>
                  <a:srgbClr val="FFFFFF"/>
                </a:solidFill>
                <a:latin typeface="Lato"/>
                <a:ea typeface="Lato"/>
                <a:cs typeface="Lato"/>
              </a:rPr>
              <a:t>Speech and silence</a:t>
            </a:r>
          </a:p>
        </p:txBody>
      </p:sp>
      <p:sp>
        <p:nvSpPr>
          <p:cNvPr id="3" name="segmentation">
            <a:extLst xmlns:a="http://schemas.openxmlformats.org/drawingml/2006/main">
              <a:ext uri="{FF2B5EF4-FFF2-40B4-BE49-F238E27FC236}">
                <a16:creationId xmlns:a16="http://schemas.microsoft.com/office/drawing/2014/main" id="{CFB8B3D7-A2CD-486E-8927-07C70DB4BCDD}"/>
              </a:ext>
            </a:extLst>
          </p:cNvPr>
          <p:cNvSpPr>
            <a:spLocks xmlns:a="http://schemas.openxmlformats.org/drawingml/2006/main" noGrp="1"/>
          </p:cNvSpPr>
          <p:nvPr/>
        </p:nvSpPr>
        <p:spPr>
          <a:xfrm xmlns:a="http://schemas.openxmlformats.org/drawingml/2006/main">
            <a:off x="609600" y="2476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150" b="1">
                <a:solidFill>
                  <a:srgbClr val="FFFFFF"/>
                </a:solidFill>
                <a:latin typeface="Lato"/>
                <a:ea typeface="Lato"/>
                <a:cs typeface="Lato"/>
              </a:defRPr>
            </a:pPr>
            <a:r>
              <a:rPr sz="6150" b="1">
                <a:solidFill>
                  <a:srgbClr val="FFFFFF"/>
                </a:solidFill>
                <a:latin typeface="Lato"/>
                <a:ea typeface="Lato"/>
                <a:cs typeface="Lato"/>
              </a:rPr>
              <a:t>segmentation</a:t>
            </a:r>
          </a:p>
        </p:txBody>
      </p:sp>
      <p:sp>
        <p:nvSpPr>
          <p:cNvPr id="4" name="Võ Thanh Quân: Binary Search">
            <a:extLst xmlns:a="http://schemas.openxmlformats.org/drawingml/2006/main">
              <a:ext uri="{FF2B5EF4-FFF2-40B4-BE49-F238E27FC236}">
                <a16:creationId xmlns:a16="http://schemas.microsoft.com/office/drawing/2014/main" id="{848151AC-07AD-4D10-AE7C-9A3982F44677}"/>
              </a:ext>
            </a:extLst>
          </p:cNvPr>
          <p:cNvSpPr>
            <a:spLocks xmlns:a="http://schemas.openxmlformats.org/drawingml/2006/main" noGrp="1"/>
          </p:cNvSpPr>
          <p:nvPr/>
        </p:nvSpPr>
        <p:spPr>
          <a:xfrm xmlns:a="http://schemas.openxmlformats.org/drawingml/2006/main">
            <a:off x="609600" y="4333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Võ Thanh Quân: Binary Search</a:t>
            </a:r>
          </a:p>
        </p:txBody>
      </p:sp>
      <p:sp>
        <p:nvSpPr>
          <p:cNvPr id="5" name="Vương Quốc Trung: Histogram">
            <a:extLst xmlns:a="http://schemas.openxmlformats.org/drawingml/2006/main">
              <a:ext uri="{FF2B5EF4-FFF2-40B4-BE49-F238E27FC236}">
                <a16:creationId xmlns:a16="http://schemas.microsoft.com/office/drawing/2014/main" id="{7AD6F201-11A7-4AB9-A847-9B47BB110764}"/>
              </a:ext>
            </a:extLst>
          </p:cNvPr>
          <p:cNvSpPr>
            <a:spLocks xmlns:a="http://schemas.openxmlformats.org/drawingml/2006/main" noGrp="1"/>
          </p:cNvSpPr>
          <p:nvPr/>
        </p:nvSpPr>
        <p:spPr>
          <a:xfrm xmlns:a="http://schemas.openxmlformats.org/drawingml/2006/main">
            <a:off x="609600" y="4848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Vương Quốc Trung: Histogram</a:t>
            </a:r>
          </a:p>
        </p:txBody>
      </p:sp>
      <p:sp>
        <p:nvSpPr>
          <p:cNvPr id="6" name="Đinh Huỳnh Nguyên Khang: Statistics">
            <a:extLst xmlns:a="http://schemas.openxmlformats.org/drawingml/2006/main">
              <a:ext uri="{FF2B5EF4-FFF2-40B4-BE49-F238E27FC236}">
                <a16:creationId xmlns:a16="http://schemas.microsoft.com/office/drawing/2014/main" id="{258D9A5D-E7AF-425E-A58A-477F6327496F}"/>
              </a:ext>
            </a:extLst>
          </p:cNvPr>
          <p:cNvSpPr>
            <a:spLocks xmlns:a="http://schemas.openxmlformats.org/drawingml/2006/main" noGrp="1"/>
          </p:cNvSpPr>
          <p:nvPr/>
        </p:nvSpPr>
        <p:spPr>
          <a:xfrm xmlns:a="http://schemas.openxmlformats.org/drawingml/2006/main">
            <a:off x="609600" y="53625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Đinh Huỳnh Nguyên Khang: Statistics</a:t>
            </a:r>
          </a:p>
        </p:txBody>
      </p:sp>
    </p:spTree>
    <p:extLst>
      <p:ext uri="{BB962C8B-B14F-4D97-AF65-F5344CB8AC3E}">
        <p14:creationId xmlns:p14="http://schemas.microsoft.com/office/powerpoint/2010/main" val="1606624123"/>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Shared experiment settings">
            <a:extLst xmlns:a="http://schemas.openxmlformats.org/drawingml/2006/main">
              <a:ext uri="{FF2B5EF4-FFF2-40B4-BE49-F238E27FC236}">
                <a16:creationId xmlns:a16="http://schemas.microsoft.com/office/drawing/2014/main" id="{383BED07-EF0D-4E83-AF8D-B9906CD92D09}"/>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15363D"/>
                </a:solidFill>
                <a:latin typeface="Lato"/>
                <a:ea typeface="Lato"/>
                <a:cs typeface="Lato"/>
              </a:defRPr>
            </a:pPr>
            <a:r>
              <a:rPr sz="3450" b="1">
                <a:solidFill>
                  <a:srgbClr val="15363D"/>
                </a:solidFill>
                <a:latin typeface="Lato"/>
                <a:ea typeface="Lato"/>
                <a:cs typeface="Lato"/>
              </a:rPr>
              <a:t>Shared experiment settings</a:t>
            </a:r>
          </a:p>
        </p:txBody>
      </p:sp>
      <p:sp>
        <p:nvSpPr>
          <p:cNvPr id="2" name="4 TRAIN WAVs. 4 separate TEST WAVs.">
            <a:extLst xmlns:a="http://schemas.openxmlformats.org/drawingml/2006/main">
              <a:ext uri="{FF2B5EF4-FFF2-40B4-BE49-F238E27FC236}">
                <a16:creationId xmlns:a16="http://schemas.microsoft.com/office/drawing/2014/main" id="{A2B51B49-4F3E-4361-8E1A-0F8B07CB901B}"/>
              </a:ext>
            </a:extLst>
          </p:cNvPr>
          <p:cNvSpPr>
            <a:spLocks xmlns:a="http://schemas.openxmlformats.org/drawingml/2006/main" noGrp="1"/>
          </p:cNvSpPr>
          <p:nvPr/>
        </p:nvSpPr>
        <p:spPr>
          <a:xfrm xmlns:a="http://schemas.openxmlformats.org/drawingml/2006/main">
            <a:off x="609600" y="1495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4 TRAIN WAVs. 4 separate TEST WAVs.</a:t>
            </a:r>
          </a:p>
        </p:txBody>
      </p:sp>
      <p:sp>
        <p:nvSpPr>
          <p:cNvPr id="3" name="25 ms windows centered on 10 ms decisions.">
            <a:extLst xmlns:a="http://schemas.openxmlformats.org/drawingml/2006/main">
              <a:ext uri="{FF2B5EF4-FFF2-40B4-BE49-F238E27FC236}">
                <a16:creationId xmlns:a16="http://schemas.microsoft.com/office/drawing/2014/main" id="{4D062D36-793A-4A2C-A02B-3B3F8B4BFD46}"/>
              </a:ext>
            </a:extLst>
          </p:cNvPr>
          <p:cNvSpPr>
            <a:spLocks xmlns:a="http://schemas.openxmlformats.org/drawingml/2006/main" noGrp="1"/>
          </p:cNvSpPr>
          <p:nvPr/>
        </p:nvSpPr>
        <p:spPr>
          <a:xfrm xmlns:a="http://schemas.openxmlformats.org/drawingml/2006/main">
            <a:off x="609600" y="2228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25 ms windows centered on 10 ms decisions.</a:t>
            </a:r>
          </a:p>
        </p:txBody>
      </p:sp>
      <p:sp>
        <p:nvSpPr>
          <p:cNvPr id="4" name="Normalize STE separately for each WAV.">
            <a:extLst xmlns:a="http://schemas.openxmlformats.org/drawingml/2006/main">
              <a:ext uri="{FF2B5EF4-FFF2-40B4-BE49-F238E27FC236}">
                <a16:creationId xmlns:a16="http://schemas.microsoft.com/office/drawing/2014/main" id="{C4E69760-B80C-4FC9-A19E-9A9975440E56}"/>
              </a:ext>
            </a:extLst>
          </p:cNvPr>
          <p:cNvSpPr>
            <a:spLocks xmlns:a="http://schemas.openxmlformats.org/drawingml/2006/main" noGrp="1"/>
          </p:cNvSpPr>
          <p:nvPr/>
        </p:nvSpPr>
        <p:spPr>
          <a:xfrm xmlns:a="http://schemas.openxmlformats.org/drawingml/2006/main">
            <a:off x="609600" y="2962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Normalize STE separately for each WAV.</a:t>
            </a:r>
          </a:p>
        </p:txBody>
      </p:sp>
      <p:sp>
        <p:nvSpPr>
          <p:cNvPr id="5" name="Merge all silence shorter than 200 ms.">
            <a:extLst xmlns:a="http://schemas.openxmlformats.org/drawingml/2006/main">
              <a:ext uri="{FF2B5EF4-FFF2-40B4-BE49-F238E27FC236}">
                <a16:creationId xmlns:a16="http://schemas.microsoft.com/office/drawing/2014/main" id="{09C1D221-37DF-4ED0-AEB5-E77D05D7F2EB}"/>
              </a:ext>
            </a:extLst>
          </p:cNvPr>
          <p:cNvSpPr>
            <a:spLocks xmlns:a="http://schemas.openxmlformats.org/drawingml/2006/main" noGrp="1"/>
          </p:cNvSpPr>
          <p:nvPr/>
        </p:nvSpPr>
        <p:spPr>
          <a:xfrm xmlns:a="http://schemas.openxmlformats.org/drawingml/2006/main">
            <a:off x="609600" y="3695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Merge all silence shorter than 200 ms.</a:t>
            </a:r>
          </a:p>
        </p:txBody>
      </p:sp>
      <p:sp>
        <p:nvSpPr>
          <p:cNvPr id="6" name="Red: LAB. Blue: predicted boundaries.">
            <a:extLst xmlns:a="http://schemas.openxmlformats.org/drawingml/2006/main">
              <a:ext uri="{FF2B5EF4-FFF2-40B4-BE49-F238E27FC236}">
                <a16:creationId xmlns:a16="http://schemas.microsoft.com/office/drawing/2014/main" id="{C8197409-57E9-4646-A288-BD10F9C32E2B}"/>
              </a:ext>
            </a:extLst>
          </p:cNvPr>
          <p:cNvSpPr>
            <a:spLocks xmlns:a="http://schemas.openxmlformats.org/drawingml/2006/main" noGrp="1"/>
          </p:cNvSpPr>
          <p:nvPr/>
        </p:nvSpPr>
        <p:spPr>
          <a:xfrm xmlns:a="http://schemas.openxmlformats.org/drawingml/2006/main">
            <a:off x="609600" y="4429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Red: LAB. Blue: predicted boundaries.</a:t>
            </a:r>
          </a:p>
        </p:txBody>
      </p:sp>
      <p:sp>
        <p:nvSpPr>
          <p:cNvPr id="7" name="F0 is shown as an independent estimate.">
            <a:extLst xmlns:a="http://schemas.openxmlformats.org/drawingml/2006/main">
              <a:ext uri="{FF2B5EF4-FFF2-40B4-BE49-F238E27FC236}">
                <a16:creationId xmlns:a16="http://schemas.microsoft.com/office/drawing/2014/main" id="{DCAD07E6-1066-4E7D-83A8-7D168C3A2BDA}"/>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5363D"/>
                </a:solidFill>
                <a:latin typeface="Lato"/>
                <a:ea typeface="Lato"/>
                <a:cs typeface="Lato"/>
              </a:defRPr>
            </a:pPr>
            <a:r>
              <a:rPr sz="2400" b="0">
                <a:solidFill>
                  <a:srgbClr val="15363D"/>
                </a:solidFill>
                <a:latin typeface="Lato"/>
                <a:ea typeface="Lato"/>
                <a:cs typeface="Lato"/>
              </a:rPr>
              <a:t>F0 is shown as an independent estimate.</a:t>
            </a:r>
          </a:p>
        </p:txBody>
      </p:sp>
    </p:spTree>
    <p:extLst>
      <p:ext uri="{BB962C8B-B14F-4D97-AF65-F5344CB8AC3E}">
        <p14:creationId xmlns:p14="http://schemas.microsoft.com/office/powerpoint/2010/main" val="21300245"/>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Binary Search">
            <a:extLst xmlns:a="http://schemas.openxmlformats.org/drawingml/2006/main">
              <a:ext uri="{FF2B5EF4-FFF2-40B4-BE49-F238E27FC236}">
                <a16:creationId xmlns:a16="http://schemas.microsoft.com/office/drawing/2014/main" id="{6D690527-D8DF-4327-9928-5F31F20EC972}"/>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Binary Search</a:t>
            </a:r>
          </a:p>
        </p:txBody>
      </p:sp>
      <p:sp>
        <p:nvSpPr>
          <p:cNvPr id="2" name="Võ Thanh Quân">
            <a:extLst xmlns:a="http://schemas.openxmlformats.org/drawingml/2006/main">
              <a:ext uri="{FF2B5EF4-FFF2-40B4-BE49-F238E27FC236}">
                <a16:creationId xmlns:a16="http://schemas.microsoft.com/office/drawing/2014/main" id="{9A98760D-FAF1-47A4-8327-86FFB388C287}"/>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Võ Thanh Quân</a:t>
            </a:r>
          </a:p>
        </p:txBody>
      </p:sp>
      <p:sp>
        <p:nvSpPr>
          <p:cNvPr id="3" name="TRAIN">
            <a:extLst xmlns:a="http://schemas.openxmlformats.org/drawingml/2006/main">
              <a:ext uri="{FF2B5EF4-FFF2-40B4-BE49-F238E27FC236}">
                <a16:creationId xmlns:a16="http://schemas.microsoft.com/office/drawing/2014/main" id="{168E34F5-16F4-4069-B3D0-C99ACDCCD6F1}"/>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Normalize STE Apply median">
            <a:extLst xmlns:a="http://schemas.openxmlformats.org/drawingml/2006/main">
              <a:ext uri="{FF2B5EF4-FFF2-40B4-BE49-F238E27FC236}">
                <a16:creationId xmlns:a16="http://schemas.microsoft.com/office/drawing/2014/main" id="{DD1F693B-2265-47DE-AA3B-A4215C2FFDB5}"/>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Apply median</a:t>
            </a:r>
          </a:p>
        </p:txBody>
      </p:sp>
      <p:sp>
        <p:nvSpPr>
          <p:cNvPr id="5" name="LAB frame labels Keep overlap">
            <a:extLst xmlns:a="http://schemas.openxmlformats.org/drawingml/2006/main">
              <a:ext uri="{FF2B5EF4-FFF2-40B4-BE49-F238E27FC236}">
                <a16:creationId xmlns:a16="http://schemas.microsoft.com/office/drawing/2014/main" id="{09C0E9DF-7B0B-4158-BC44-F344B04FE7C7}"/>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LAB frame labels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Keep overlap</a:t>
            </a:r>
          </a:p>
        </p:txBody>
      </p:sp>
      <p:sp>
        <p:nvSpPr>
          <p:cNvPr id="6" name="Bisect threshold Score TRAIN">
            <a:extLst xmlns:a="http://schemas.openxmlformats.org/drawingml/2006/main">
              <a:ext uri="{FF2B5EF4-FFF2-40B4-BE49-F238E27FC236}">
                <a16:creationId xmlns:a16="http://schemas.microsoft.com/office/drawing/2014/main" id="{DE420BBD-282A-4205-A41F-F5CB99AE4604}"/>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Bisect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Score TRAIN</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Median = 15. Shared T = 0.0016054242.">
            <a:extLst xmlns:a="http://schemas.openxmlformats.org/drawingml/2006/main">
              <a:ext uri="{FF2B5EF4-FFF2-40B4-BE49-F238E27FC236}">
                <a16:creationId xmlns:a16="http://schemas.microsoft.com/office/drawing/2014/main" id="{BF4DE0C5-45FC-4EAA-8428-1D9752FF2238}"/>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Median = 15. Shared T = 0.0016054242.</a:t>
            </a:r>
          </a:p>
        </p:txBody>
      </p:sp>
      <p:sp>
        <p:nvSpPr>
          <p:cNvPr id="10" name="TEST">
            <a:extLst xmlns:a="http://schemas.openxmlformats.org/drawingml/2006/main">
              <a:ext uri="{FF2B5EF4-FFF2-40B4-BE49-F238E27FC236}">
                <a16:creationId xmlns:a16="http://schemas.microsoft.com/office/drawing/2014/main" id="{5A66AD9E-0F20-4E95-B23A-4D7941F27F08}"/>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Same TEST features Median = 15">
            <a:extLst xmlns:a="http://schemas.openxmlformats.org/drawingml/2006/main">
              <a:ext uri="{FF2B5EF4-FFF2-40B4-BE49-F238E27FC236}">
                <a16:creationId xmlns:a16="http://schemas.microsoft.com/office/drawing/2014/main" id="{FF0C10D7-8C10-4D73-A065-8300BD493550}"/>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Same TEST features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Median = 15</a:t>
            </a:r>
          </a:p>
        </p:txBody>
      </p:sp>
      <p:sp>
        <p:nvSpPr>
          <p:cNvPr id="12" name="Fixed threshold Speech or silence">
            <a:extLst xmlns:a="http://schemas.openxmlformats.org/drawingml/2006/main">
              <a:ext uri="{FF2B5EF4-FFF2-40B4-BE49-F238E27FC236}">
                <a16:creationId xmlns:a16="http://schemas.microsoft.com/office/drawing/2014/main" id="{888D3F06-BBAA-4359-B0F3-541018532F69}"/>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Fixed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Speech or silence</a:t>
            </a:r>
          </a:p>
        </p:txBody>
      </p:sp>
      <p:sp>
        <p:nvSpPr>
          <p:cNvPr id="13" name="Fill short silence Under 200 ms">
            <a:extLst xmlns:a="http://schemas.openxmlformats.org/drawingml/2006/main">
              <a:ext uri="{FF2B5EF4-FFF2-40B4-BE49-F238E27FC236}">
                <a16:creationId xmlns:a16="http://schemas.microsoft.com/office/drawing/2014/main" id="{3AD81AC8-7D97-4631-9AC1-BCD01B875D0F}"/>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Fill short silence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126734514"/>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 name="Binary Search: finding the balance">
            <a:extLst xmlns:a="http://schemas.openxmlformats.org/drawingml/2006/main">
              <a:ext uri="{FF2B5EF4-FFF2-40B4-BE49-F238E27FC236}">
                <a16:creationId xmlns:a16="http://schemas.microsoft.com/office/drawing/2014/main" id="{88F06ECE-9F70-40BB-85B5-C12A1792A4DD}"/>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5363D"/>
                </a:solidFill>
                <a:latin typeface="Lato"/>
                <a:ea typeface="Lato"/>
                <a:cs typeface="Lato"/>
              </a:defRPr>
            </a:pPr>
            <a:r>
              <a:rPr sz="3300" b="1">
                <a:solidFill>
                  <a:srgbClr val="15363D"/>
                </a:solidFill>
                <a:latin typeface="Lato"/>
                <a:ea typeface="Lato"/>
                <a:cs typeface="Lato"/>
              </a:rPr>
              <a:t>Binary Search: finding the balance</a:t>
            </a:r>
          </a:p>
        </p:txBody>
      </p:sp>
      <p:sp>
        <p:nvSpPr>
          <p:cNvPr id="2" name="TRAIN overlap. 24 actual bisection iterations.">
            <a:extLst xmlns:a="http://schemas.openxmlformats.org/drawingml/2006/main">
              <a:ext uri="{FF2B5EF4-FFF2-40B4-BE49-F238E27FC236}">
                <a16:creationId xmlns:a16="http://schemas.microsoft.com/office/drawing/2014/main" id="{9E089659-4261-40D0-989B-2B50A1579F84}"/>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TRAIN overlap. 24 actual bisection iterations.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31ac5108f024814"/>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28013623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Binary Search: phone_F2">
            <a:extLst xmlns:a="http://schemas.openxmlformats.org/drawingml/2006/main">
              <a:ext uri="{FF2B5EF4-FFF2-40B4-BE49-F238E27FC236}">
                <a16:creationId xmlns:a16="http://schemas.microsoft.com/office/drawing/2014/main" id="{BC4E5B35-B3A2-4F0F-9FBF-C80170FACD55}"/>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phone_F2</a:t>
            </a:r>
          </a:p>
        </p:txBody>
      </p:sp>
      <p:sp>
        <p:nvSpPr>
          <p:cNvPr id="2" name="MAE 30 ms">
            <a:extLst xmlns:a="http://schemas.openxmlformats.org/drawingml/2006/main">
              <a:ext uri="{FF2B5EF4-FFF2-40B4-BE49-F238E27FC236}">
                <a16:creationId xmlns:a16="http://schemas.microsoft.com/office/drawing/2014/main" id="{8DBFF56D-DEDA-4807-A818-3F3C67D384B5}"/>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30 ms</a:t>
            </a:r>
          </a:p>
        </p:txBody>
      </p:sp>
      <p:sp>
        <p:nvSpPr>
          <p:cNvPr id="3" name="Start matches. End 60 ms late.">
            <a:extLst xmlns:a="http://schemas.openxmlformats.org/drawingml/2006/main">
              <a:ext uri="{FF2B5EF4-FFF2-40B4-BE49-F238E27FC236}">
                <a16:creationId xmlns:a16="http://schemas.microsoft.com/office/drawing/2014/main" id="{29D8CB89-5A4D-43D6-BC7C-89DE0814C334}"/>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60 ms late.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54da18e3eec4e48"/>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5de7fe46ec94628"/>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739abecdff44877"/>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0DFE3AC2-6203-4C5A-8175-03DDBFD5C9FD}"/>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51F6AD64-4C9A-4AC1-B9E2-EF7BEFAF0600}"/>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458E9DE8-70D4-4174-827C-8BEE3C497B92}"/>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03974FD0-DB10-491F-8A32-AA40E9B6161C}"/>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FFE90881-FF5B-48FC-8BFB-F1C727586D6B}"/>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B12B56D7-ACFB-4262-943A-B52F9FE3A1F9}"/>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F03C63BC-568F-45A2-A79B-5C8B3E87F0B4}"/>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19346D15-1390-4ABA-869C-C09B0DF80BDE}"/>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58BA29B9-16FD-42EA-B81D-62A162AE3491}"/>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CDF6BBED-F615-4179-9D06-A3D1BFB2D220}"/>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FC5476E9-2735-41D5-9DA1-F0EEF40167A3}"/>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54BED715-B514-4BCA-AC0F-0CE3958610EA}"/>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034AC5E1-D35B-4851-B4F9-30E8408F1BF8}"/>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B8664C51-AE78-4BF9-AD6F-146AC05EBD8A}"/>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6495A5A9-534B-480A-8115-0E834F63C4F9}"/>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B9891A45-8CBC-4A11-9748-5B6B10FC9935}"/>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9FB068D6-9B18-46AB-A506-85CE44EA0ED5}"/>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5AA0CF6D-8F7E-45AC-9B72-755C4EA7DBAB}"/>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E6CA7B91-58D9-4F9F-BA0E-707EF5835C71}"/>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266AD6CC-74BD-476A-AA91-0A535133803E}"/>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41A3B27C-86A4-46AB-8CCF-BDB084F4A8B2}"/>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69294175-FBFC-460C-9373-0F9CFAD3AE45}"/>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09983475-03CA-42E7-BD3A-6C491B31BB70}"/>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D51F7D80-0E6E-4C29-94F2-9558F6AC7526}"/>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85AAEA28-83A4-4EC9-901A-534E9AD47E87}"/>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FE76FC28-F84A-4D9C-B94E-14100A16C696}"/>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C0E97B71-1D16-412D-A147-FC1903B888B6}"/>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Tail median STE remains">
            <a:extLst xmlns:a="http://schemas.openxmlformats.org/drawingml/2006/main">
              <a:ext uri="{FF2B5EF4-FFF2-40B4-BE49-F238E27FC236}">
                <a16:creationId xmlns:a16="http://schemas.microsoft.com/office/drawing/2014/main" id="{0ECE2ABA-9E50-4D85-8E96-E3B55E9DC6BB}"/>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median STE remains</a:t>
            </a:r>
          </a:p>
        </p:txBody>
      </p:sp>
      <p:sp>
        <p:nvSpPr>
          <p:cNvPr id="35" name="above the fixed threshold">
            <a:extLst xmlns:a="http://schemas.openxmlformats.org/drawingml/2006/main">
              <a:ext uri="{FF2B5EF4-FFF2-40B4-BE49-F238E27FC236}">
                <a16:creationId xmlns:a16="http://schemas.microsoft.com/office/drawing/2014/main" id="{8926C895-1B07-4452-B573-A65CD30F0EF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above the fixed threshold</a:t>
            </a:r>
          </a:p>
        </p:txBody>
      </p:sp>
      <p:sp>
        <p:nvSpPr>
          <p:cNvPr id="36" name="Extra: 0. Missed: 0.">
            <a:extLst xmlns:a="http://schemas.openxmlformats.org/drawingml/2006/main">
              <a:ext uri="{FF2B5EF4-FFF2-40B4-BE49-F238E27FC236}">
                <a16:creationId xmlns:a16="http://schemas.microsoft.com/office/drawing/2014/main" id="{16C0D57C-9B34-4502-981C-A5CF1E6EB76C}"/>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552690799"/>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Binary Search: phone_M2">
            <a:extLst xmlns:a="http://schemas.openxmlformats.org/drawingml/2006/main">
              <a:ext uri="{FF2B5EF4-FFF2-40B4-BE49-F238E27FC236}">
                <a16:creationId xmlns:a16="http://schemas.microsoft.com/office/drawing/2014/main" id="{6C2DE260-18A7-4706-878C-052136DA670C}"/>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phone_M2</a:t>
            </a:r>
          </a:p>
        </p:txBody>
      </p:sp>
      <p:sp>
        <p:nvSpPr>
          <p:cNvPr id="2" name="MAE 0 ms">
            <a:extLst xmlns:a="http://schemas.openxmlformats.org/drawingml/2006/main">
              <a:ext uri="{FF2B5EF4-FFF2-40B4-BE49-F238E27FC236}">
                <a16:creationId xmlns:a16="http://schemas.microsoft.com/office/drawing/2014/main" id="{03E0C211-B571-42A7-BB1C-BC4FDF0F7356}"/>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0 ms</a:t>
            </a:r>
          </a:p>
        </p:txBody>
      </p:sp>
      <p:sp>
        <p:nvSpPr>
          <p:cNvPr id="3" name="Start matches. End matches.">
            <a:extLst xmlns:a="http://schemas.openxmlformats.org/drawingml/2006/main">
              <a:ext uri="{FF2B5EF4-FFF2-40B4-BE49-F238E27FC236}">
                <a16:creationId xmlns:a16="http://schemas.microsoft.com/office/drawing/2014/main" id="{F34DD6D2-A8BC-450B-B375-08FDDFBC37E7}"/>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matches.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935e32b070b4e99"/>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9ef3cf966c94f32"/>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c5b26a9b7974ad5"/>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3DD443E8-3D2E-45B0-A41D-D52C497C6DA3}"/>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97DC459A-AC31-4D45-985D-8FEDD9CFEFA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3F408CD2-1FFF-4269-94C1-42069D54946A}"/>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2EAD4BFF-A529-4084-AFB7-612F3787B5A1}"/>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7C26614D-CC87-421F-8359-E41EC9619E40}"/>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C7E457FC-EF35-49EA-9300-FC6D0CF50B3C}"/>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E1175887-EC92-4184-8A2C-6641A8771333}"/>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ED89BB88-1800-4987-AD72-68C2000DAB36}"/>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8CA080A7-9E66-4446-A901-DD6962E811A6}"/>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FAAD7F9D-A6BF-45A4-A16A-EE97833544E7}"/>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EC560FCE-CE21-4345-8C85-FFB9DC57FE7F}"/>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CB520A43-109B-48DF-AACF-83C9D82D69EF}"/>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4477DE19-AD47-4949-BEAD-B30C2F6C1D72}"/>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7113464A-C9DC-40FB-B7C9-BD157C39DF4F}"/>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08546C89-5407-44E2-B531-2C5310BA6AFA}"/>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0662EDFB-9639-4FD1-ADD2-71E3FE2007CA}"/>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6EFD9DC1-B69E-4D42-8C98-8DDAB41D7CBF}"/>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A71EFF2D-7047-406D-B143-299DE9353809}"/>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B8C25E28-3E3D-45C9-9DBA-BD9972524AC0}"/>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6B8B8F6E-1BD3-411F-B778-DE0890C1A6DF}"/>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35C65ED7-D51B-4D78-A34F-6E00B754D508}"/>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Both LAB timestamps match">
            <a:extLst xmlns:a="http://schemas.openxmlformats.org/drawingml/2006/main">
              <a:ext uri="{FF2B5EF4-FFF2-40B4-BE49-F238E27FC236}">
                <a16:creationId xmlns:a16="http://schemas.microsoft.com/office/drawing/2014/main" id="{282A70DC-6FA3-4726-A906-6BDDD283DF43}"/>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Both LAB timestamps match</a:t>
            </a:r>
          </a:p>
        </p:txBody>
      </p:sp>
      <p:sp>
        <p:nvSpPr>
          <p:cNvPr id="29" name="the detected transitions">
            <a:extLst xmlns:a="http://schemas.openxmlformats.org/drawingml/2006/main">
              <a:ext uri="{FF2B5EF4-FFF2-40B4-BE49-F238E27FC236}">
                <a16:creationId xmlns:a16="http://schemas.microsoft.com/office/drawing/2014/main" id="{36E74B8D-74FC-4B0E-9DC0-F90023E64AC1}"/>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detected transitions</a:t>
            </a:r>
          </a:p>
        </p:txBody>
      </p:sp>
      <p:sp>
        <p:nvSpPr>
          <p:cNvPr id="30" name="Extra: 0. Missed: 0.">
            <a:extLst xmlns:a="http://schemas.openxmlformats.org/drawingml/2006/main">
              <a:ext uri="{FF2B5EF4-FFF2-40B4-BE49-F238E27FC236}">
                <a16:creationId xmlns:a16="http://schemas.microsoft.com/office/drawing/2014/main" id="{ADF1072F-5C63-4A41-8136-5D6DE08700B5}"/>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409493191"/>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Binary Search: studio_F2">
            <a:extLst xmlns:a="http://schemas.openxmlformats.org/drawingml/2006/main">
              <a:ext uri="{FF2B5EF4-FFF2-40B4-BE49-F238E27FC236}">
                <a16:creationId xmlns:a16="http://schemas.microsoft.com/office/drawing/2014/main" id="{FB6FB08A-AB37-49F8-8C5F-2AD4D34CAA8F}"/>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studio_F2</a:t>
            </a:r>
          </a:p>
        </p:txBody>
      </p:sp>
      <p:sp>
        <p:nvSpPr>
          <p:cNvPr id="2" name="MAE 10 ms">
            <a:extLst xmlns:a="http://schemas.openxmlformats.org/drawingml/2006/main">
              <a:ext uri="{FF2B5EF4-FFF2-40B4-BE49-F238E27FC236}">
                <a16:creationId xmlns:a16="http://schemas.microsoft.com/office/drawing/2014/main" id="{BDB44E9E-3906-4527-8961-268951D7AB8F}"/>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early. End 10 ms early.">
            <a:extLst xmlns:a="http://schemas.openxmlformats.org/drawingml/2006/main">
              <a:ext uri="{FF2B5EF4-FFF2-40B4-BE49-F238E27FC236}">
                <a16:creationId xmlns:a16="http://schemas.microsoft.com/office/drawing/2014/main" id="{6A15A55D-D507-4227-A6E0-CCA51B963D53}"/>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10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4afe32aa49b4e60"/>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7f216fdd7734dac"/>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aca67a3d9824711"/>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04180516-2921-4FDD-8DB0-9F61C022F863}"/>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9DCAA450-2087-4AFD-AA14-F3244F5F108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8AF30075-EC6B-4C64-AC11-01719E0A118F}"/>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4A4E77CE-D151-4711-9647-3C8AD0F10860}"/>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EB8934B4-40AB-4A6E-83A7-348B8D2C1931}"/>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16110408-8600-4070-9D67-BD1541367612}"/>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BA18EBBF-5CC8-45A6-ADB2-D945DFCDD5B4}"/>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A0BFBB21-3220-4DA1-B70B-17A8525C3BA0}"/>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587D5CAC-FEB3-4EDB-AB8F-ECDE53EABE48}"/>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ABB9890C-A840-44DC-9E86-3083856CB8C0}"/>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E82F08D9-69B0-452E-97D0-E8FCC441F6AA}"/>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D59D03A9-2E66-491B-8F9C-18E4A796AF3E}"/>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E7D0F447-6D45-4D1E-A3DC-78907795FF56}"/>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EEF019A1-212C-42CC-85FF-8BB2E74D64DD}"/>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4B9D932E-4721-4454-89CA-5EC538218D31}"/>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00B150B9-3F77-45A0-90F3-2FD2255FDC00}"/>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26CCE9AB-71D6-4B91-8E23-3D46722BE49A}"/>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87C85A71-803A-4F4C-B0AE-DF807CEFE488}"/>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C6B3192D-DDF3-4523-BC2F-9FCE65794AE4}"/>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AB697A46-E17D-4605-A732-889E9F141996}"/>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0F956D2D-B3B3-4880-8A7E-0C802D37DB67}"/>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B35BB9D7-5EB0-4F6A-9443-40D1D4489E14}"/>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1E1454CF-80EA-464D-8E2B-BBE42A9CF78A}"/>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E3235F8C-1566-4A11-B43A-289C983D49C5}"/>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Energy crosses T before">
            <a:extLst xmlns:a="http://schemas.openxmlformats.org/drawingml/2006/main">
              <a:ext uri="{FF2B5EF4-FFF2-40B4-BE49-F238E27FC236}">
                <a16:creationId xmlns:a16="http://schemas.microsoft.com/office/drawing/2014/main" id="{39B53D2C-98DC-43EB-A5C8-9C25B12C884A}"/>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crosses T before</a:t>
            </a:r>
          </a:p>
        </p:txBody>
      </p:sp>
      <p:sp>
        <p:nvSpPr>
          <p:cNvPr id="32" name="the LAB transitions">
            <a:extLst xmlns:a="http://schemas.openxmlformats.org/drawingml/2006/main">
              <a:ext uri="{FF2B5EF4-FFF2-40B4-BE49-F238E27FC236}">
                <a16:creationId xmlns:a16="http://schemas.microsoft.com/office/drawing/2014/main" id="{36444067-6ADA-432E-BD62-94907728DD62}"/>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LAB transitions</a:t>
            </a:r>
          </a:p>
        </p:txBody>
      </p:sp>
      <p:sp>
        <p:nvSpPr>
          <p:cNvPr id="33" name="Extra: 0. Missed: 0.">
            <a:extLst xmlns:a="http://schemas.openxmlformats.org/drawingml/2006/main">
              <a:ext uri="{FF2B5EF4-FFF2-40B4-BE49-F238E27FC236}">
                <a16:creationId xmlns:a16="http://schemas.microsoft.com/office/drawing/2014/main" id="{DA565566-6DE2-4935-8F43-ECC174FD72A9}"/>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491580115"/>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Binary Search: studio_M2">
            <a:extLst xmlns:a="http://schemas.openxmlformats.org/drawingml/2006/main">
              <a:ext uri="{FF2B5EF4-FFF2-40B4-BE49-F238E27FC236}">
                <a16:creationId xmlns:a16="http://schemas.microsoft.com/office/drawing/2014/main" id="{C3452A64-4746-4AA0-A81C-560E48D39D98}"/>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Binary Search: studio_M2</a:t>
            </a:r>
          </a:p>
        </p:txBody>
      </p:sp>
      <p:sp>
        <p:nvSpPr>
          <p:cNvPr id="2" name="MAE 5 ms">
            <a:extLst xmlns:a="http://schemas.openxmlformats.org/drawingml/2006/main">
              <a:ext uri="{FF2B5EF4-FFF2-40B4-BE49-F238E27FC236}">
                <a16:creationId xmlns:a16="http://schemas.microsoft.com/office/drawing/2014/main" id="{9DD2605B-48A6-4C92-AD8B-9371943ED42F}"/>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10 ms late. End matches.">
            <a:extLst xmlns:a="http://schemas.openxmlformats.org/drawingml/2006/main">
              <a:ext uri="{FF2B5EF4-FFF2-40B4-BE49-F238E27FC236}">
                <a16:creationId xmlns:a16="http://schemas.microsoft.com/office/drawing/2014/main" id="{F2B64D6C-5129-4E9B-A4E0-A1BCCCAF737B}"/>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matches.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17404554f8f43ff"/>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1f10e9689164f72"/>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fac74e0c1b14bdd"/>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5D2D41DB-B536-4D7E-AF2C-619385CB10C8}"/>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B7894A5C-55A9-4921-B775-D30DB61E6048}"/>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Grey: raw STE. Blue: median STE.">
            <a:extLst xmlns:a="http://schemas.openxmlformats.org/drawingml/2006/main">
              <a:ext uri="{FF2B5EF4-FFF2-40B4-BE49-F238E27FC236}">
                <a16:creationId xmlns:a16="http://schemas.microsoft.com/office/drawing/2014/main" id="{4AA42AF7-A2BE-4117-923B-A90EC7520946}"/>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Grey: raw STE. Blue: median STE.</a:t>
            </a:r>
          </a:p>
        </p:txBody>
      </p:sp>
      <p:sp>
        <p:nvSpPr>
          <p:cNvPr id="10" name="T = 0.0016054242">
            <a:extLst xmlns:a="http://schemas.openxmlformats.org/drawingml/2006/main">
              <a:ext uri="{FF2B5EF4-FFF2-40B4-BE49-F238E27FC236}">
                <a16:creationId xmlns:a16="http://schemas.microsoft.com/office/drawing/2014/main" id="{E3526E37-A374-47B9-8866-FCC5269686AF}"/>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0.0016054242</a:t>
            </a:r>
          </a:p>
        </p:txBody>
      </p:sp>
      <p:sp>
        <p:nvSpPr>
          <p:cNvPr id="11" name="t (s)">
            <a:extLst xmlns:a="http://schemas.openxmlformats.org/drawingml/2006/main">
              <a:ext uri="{FF2B5EF4-FFF2-40B4-BE49-F238E27FC236}">
                <a16:creationId xmlns:a16="http://schemas.microsoft.com/office/drawing/2014/main" id="{AF340B53-17D6-403E-AA1E-E96D832BE144}"/>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31FA874E-B8D7-4E91-B5BB-E540116A5EFC}"/>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D77E9489-6BB5-4ABA-BCB6-CB213C99917F}"/>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481FC044-8B7D-4C20-88A5-9EBFB27BC6DD}"/>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CCDDA6B8-E832-4C0D-A665-0D2228DF0D1C}"/>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87575D34-5EC9-4FC7-A783-0AC25CB48AFB}"/>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8DAB9FDC-8951-4D34-BAA7-F001D091AED9}"/>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F16BAB95-337E-434C-A064-4AD2C33BA52D}"/>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72C1711B-26A2-40AE-A930-59B625289902}"/>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17E2ABE3-6DE3-4182-93FE-365BEB95BB2A}"/>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BB0B10DE-AACA-4018-8E97-9E05A3274099}"/>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2538B9DD-D6EC-42F7-9B71-75E93561A032}"/>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63980DCC-A1E8-4C92-B204-15753A8F83CA}"/>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D94837E8-3B77-4F08-BAA8-C49A4233B85D}"/>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25A84E2E-575A-4EA6-9BFF-1473E63C55F8}"/>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018B6E15-1AAB-45CC-A451-A10EDEE18759}"/>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B42F7F77-DEAB-42D5-B2BD-AC4EB401FC61}"/>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2D4897BE-4CE0-4842-9F40-308EDBB2DDD9}"/>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onset">
            <a:extLst xmlns:a="http://schemas.openxmlformats.org/drawingml/2006/main">
              <a:ext uri="{FF2B5EF4-FFF2-40B4-BE49-F238E27FC236}">
                <a16:creationId xmlns:a16="http://schemas.microsoft.com/office/drawing/2014/main" id="{F931AA80-3E15-4677-B1E2-3657E8B71A2A}"/>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onset</a:t>
            </a:r>
          </a:p>
        </p:txBody>
      </p:sp>
      <p:sp>
        <p:nvSpPr>
          <p:cNvPr id="30" name="Extra: 0. Missed: 0.">
            <a:extLst xmlns:a="http://schemas.openxmlformats.org/drawingml/2006/main">
              <a:ext uri="{FF2B5EF4-FFF2-40B4-BE49-F238E27FC236}">
                <a16:creationId xmlns:a16="http://schemas.microsoft.com/office/drawing/2014/main" id="{3F2191D4-FB22-4EBA-A33F-D357115BAAFD}"/>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259045260"/>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Histogram">
            <a:extLst xmlns:a="http://schemas.openxmlformats.org/drawingml/2006/main">
              <a:ext uri="{FF2B5EF4-FFF2-40B4-BE49-F238E27FC236}">
                <a16:creationId xmlns:a16="http://schemas.microsoft.com/office/drawing/2014/main" id="{D530364F-B969-461A-8A39-6520451854E8}"/>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Histogram</a:t>
            </a:r>
          </a:p>
        </p:txBody>
      </p:sp>
      <p:sp>
        <p:nvSpPr>
          <p:cNvPr id="2" name="Vương Quốc Trung">
            <a:extLst xmlns:a="http://schemas.openxmlformats.org/drawingml/2006/main">
              <a:ext uri="{FF2B5EF4-FFF2-40B4-BE49-F238E27FC236}">
                <a16:creationId xmlns:a16="http://schemas.microsoft.com/office/drawing/2014/main" id="{0683D027-4DCD-4985-8013-843D4AFF07A1}"/>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Vương Quốc Trung</a:t>
            </a:r>
          </a:p>
        </p:txBody>
      </p:sp>
      <p:sp>
        <p:nvSpPr>
          <p:cNvPr id="3" name="TRAIN">
            <a:extLst xmlns:a="http://schemas.openxmlformats.org/drawingml/2006/main">
              <a:ext uri="{FF2B5EF4-FFF2-40B4-BE49-F238E27FC236}">
                <a16:creationId xmlns:a16="http://schemas.microsoft.com/office/drawing/2014/main" id="{8189FB16-6C0B-4017-AAF7-A523EEB0FC22}"/>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TRAIN histograms 128 bins">
            <a:extLst xmlns:a="http://schemas.openxmlformats.org/drawingml/2006/main">
              <a:ext uri="{FF2B5EF4-FFF2-40B4-BE49-F238E27FC236}">
                <a16:creationId xmlns:a16="http://schemas.microsoft.com/office/drawing/2014/main" id="{722B2AA4-5422-4145-8FC9-D357E7C601DE}"/>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TRAIN histograms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128 bins</a:t>
            </a:r>
          </a:p>
        </p:txBody>
      </p:sp>
      <p:sp>
        <p:nvSpPr>
          <p:cNvPr id="5" name="Try W candidates Eight values">
            <a:extLst xmlns:a="http://schemas.openxmlformats.org/drawingml/2006/main">
              <a:ext uri="{FF2B5EF4-FFF2-40B4-BE49-F238E27FC236}">
                <a16:creationId xmlns:a16="http://schemas.microsoft.com/office/drawing/2014/main" id="{0A183963-C561-4C7F-BF5F-F201BF71D397}"/>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Try W candidates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Eight values</a:t>
            </a:r>
          </a:p>
        </p:txBody>
      </p:sp>
      <p:sp>
        <p:nvSpPr>
          <p:cNvPr id="6" name="Score TRAIN boundaries Errors, then MAE">
            <a:extLst xmlns:a="http://schemas.openxmlformats.org/drawingml/2006/main">
              <a:ext uri="{FF2B5EF4-FFF2-40B4-BE49-F238E27FC236}">
                <a16:creationId xmlns:a16="http://schemas.microsoft.com/office/drawing/2014/main" id="{7BBAABA4-E82A-4B33-BB91-7638F4837667}"/>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Score TRAIN boundaries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Errors, then MAE</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Selected W = 30. Smooth over 3 bins.">
            <a:extLst xmlns:a="http://schemas.openxmlformats.org/drawingml/2006/main">
              <a:ext uri="{FF2B5EF4-FFF2-40B4-BE49-F238E27FC236}">
                <a16:creationId xmlns:a16="http://schemas.microsoft.com/office/drawing/2014/main" id="{8E3A3AB6-DA6C-489F-B5A8-407E1EB48677}"/>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Selected W = 30. Smooth over 3 bins.</a:t>
            </a:r>
          </a:p>
        </p:txBody>
      </p:sp>
      <p:sp>
        <p:nvSpPr>
          <p:cNvPr id="10" name="TEST">
            <a:extLst xmlns:a="http://schemas.openxmlformats.org/drawingml/2006/main">
              <a:ext uri="{FF2B5EF4-FFF2-40B4-BE49-F238E27FC236}">
                <a16:creationId xmlns:a16="http://schemas.microsoft.com/office/drawing/2014/main" id="{8D38AA4A-462F-4D5B-97DF-E58318DCCB6A}"/>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TEST histogram Normalized STE">
            <a:extLst xmlns:a="http://schemas.openxmlformats.org/drawingml/2006/main">
              <a:ext uri="{FF2B5EF4-FFF2-40B4-BE49-F238E27FC236}">
                <a16:creationId xmlns:a16="http://schemas.microsoft.com/office/drawing/2014/main" id="{918A4B3F-D8EB-47DE-8593-0D1B3817C459}"/>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TEST histogram</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Normalized STE</a:t>
            </a:r>
          </a:p>
        </p:txBody>
      </p:sp>
      <p:sp>
        <p:nvSpPr>
          <p:cNvPr id="12" name="First two peaks Adaptive threshold">
            <a:extLst xmlns:a="http://schemas.openxmlformats.org/drawingml/2006/main">
              <a:ext uri="{FF2B5EF4-FFF2-40B4-BE49-F238E27FC236}">
                <a16:creationId xmlns:a16="http://schemas.microsoft.com/office/drawing/2014/main" id="{1A67802B-B64C-4BCC-8CF0-34D57A6F5503}"/>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First two peaks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Adaptive threshold</a:t>
            </a:r>
          </a:p>
        </p:txBody>
      </p:sp>
      <p:sp>
        <p:nvSpPr>
          <p:cNvPr id="13" name="Classify and merge Silence under 200 ms">
            <a:extLst xmlns:a="http://schemas.openxmlformats.org/drawingml/2006/main">
              <a:ext uri="{FF2B5EF4-FFF2-40B4-BE49-F238E27FC236}">
                <a16:creationId xmlns:a16="http://schemas.microsoft.com/office/drawing/2014/main" id="{86F9E318-C9EB-450F-855E-647721BC6FD8}"/>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Classify and merge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42942241"/>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 name="Histogram: selected peaks and threshold">
            <a:extLst xmlns:a="http://schemas.openxmlformats.org/drawingml/2006/main">
              <a:ext uri="{FF2B5EF4-FFF2-40B4-BE49-F238E27FC236}">
                <a16:creationId xmlns:a16="http://schemas.microsoft.com/office/drawing/2014/main" id="{5E481BEC-4515-491A-A418-35BFDF4FAED0}"/>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5363D"/>
                </a:solidFill>
                <a:latin typeface="Lato"/>
                <a:ea typeface="Lato"/>
                <a:cs typeface="Lato"/>
              </a:defRPr>
            </a:pPr>
            <a:r>
              <a:rPr sz="3300" b="1">
                <a:solidFill>
                  <a:srgbClr val="15363D"/>
                </a:solidFill>
                <a:latin typeface="Lato"/>
                <a:ea typeface="Lato"/>
                <a:cs typeface="Lato"/>
              </a:rPr>
              <a:t>Histogram: selected peaks and threshold</a:t>
            </a:r>
          </a:p>
        </p:txBody>
      </p:sp>
      <p:sp>
        <p:nvSpPr>
          <p:cNvPr id="2" name="phone_F2. W = 30 from TRAIN.">
            <a:extLst xmlns:a="http://schemas.openxmlformats.org/drawingml/2006/main">
              <a:ext uri="{FF2B5EF4-FFF2-40B4-BE49-F238E27FC236}">
                <a16:creationId xmlns:a16="http://schemas.microsoft.com/office/drawing/2014/main" id="{3E81CD18-9CA6-43ED-9138-28B636A63234}"/>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phone_F2. W = 30 from TRAIN.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c220facdd594769"/>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857565053"/>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Histogram: phone_F2">
            <a:extLst xmlns:a="http://schemas.openxmlformats.org/drawingml/2006/main">
              <a:ext uri="{FF2B5EF4-FFF2-40B4-BE49-F238E27FC236}">
                <a16:creationId xmlns:a16="http://schemas.microsoft.com/office/drawing/2014/main" id="{B193F2DF-5F0E-4791-98D6-88B20276AD75}"/>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phone_F2</a:t>
            </a:r>
          </a:p>
        </p:txBody>
      </p:sp>
      <p:sp>
        <p:nvSpPr>
          <p:cNvPr id="2" name="MAE 10 ms">
            <a:extLst xmlns:a="http://schemas.openxmlformats.org/drawingml/2006/main">
              <a:ext uri="{FF2B5EF4-FFF2-40B4-BE49-F238E27FC236}">
                <a16:creationId xmlns:a16="http://schemas.microsoft.com/office/drawing/2014/main" id="{CAE6448C-9F9E-43D0-82C5-9BEE772D02F3}"/>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late. End 10 ms early.">
            <a:extLst xmlns:a="http://schemas.openxmlformats.org/drawingml/2006/main">
              <a:ext uri="{FF2B5EF4-FFF2-40B4-BE49-F238E27FC236}">
                <a16:creationId xmlns:a16="http://schemas.microsoft.com/office/drawing/2014/main" id="{AF0B5F10-BC19-493F-8D9E-D83584B1FC93}"/>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10 ms early.</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edfb4ab22134d18"/>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84cfc65bd124c44"/>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b3873a81d384a7c"/>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0C89B107-6A26-44E5-A1D0-C143835323A3}"/>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2A0761E0-78FD-4975-9C96-3FE1155DADBD}"/>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5250EBF7-1ADE-4213-912E-4CC4EC91D981}"/>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54183468">
            <a:extLst xmlns:a="http://schemas.openxmlformats.org/drawingml/2006/main">
              <a:ext uri="{FF2B5EF4-FFF2-40B4-BE49-F238E27FC236}">
                <a16:creationId xmlns:a16="http://schemas.microsoft.com/office/drawing/2014/main" id="{6E5EECFA-5F5D-409A-87BE-182B1BD18D92}"/>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0.0054183468</a:t>
            </a:r>
          </a:p>
        </p:txBody>
      </p:sp>
      <p:sp>
        <p:nvSpPr>
          <p:cNvPr id="11" name="t (s)">
            <a:extLst xmlns:a="http://schemas.openxmlformats.org/drawingml/2006/main">
              <a:ext uri="{FF2B5EF4-FFF2-40B4-BE49-F238E27FC236}">
                <a16:creationId xmlns:a16="http://schemas.microsoft.com/office/drawing/2014/main" id="{99669521-03C4-4CD8-AD4B-C2A529D75716}"/>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A4AA00F2-2104-4304-839F-14831ECD337E}"/>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A5FCC78E-A97F-49BC-A478-76D9CB28055C}"/>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3DE270A5-FD29-4F30-854C-32D17FD35435}"/>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60949465-569C-43EA-8F27-16351287C905}"/>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EE5D81F5-5904-4CFF-BB87-C9D91A044B1F}"/>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D584B180-7DD3-45E3-9979-8D4199673E60}"/>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DDF9AF2F-FE1A-434D-B108-FDC3C5C21D6C}"/>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ED5AA829-C885-475B-B52C-2E2E3362077F}"/>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FD74604F-6D20-4A64-8BDA-8F8D9F4173A7}"/>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9A4BDD92-BF39-4FE1-BA05-5BB638918FB6}"/>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F272668B-50F1-4D15-A19C-68D2179E05AD}"/>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344254F1-399F-4FC1-88DB-6663648739C2}"/>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E2720B05-EC6E-4EFD-B516-9E09AD18B116}"/>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4609906B-F64C-46EF-BB4C-5FBD439C5DE3}"/>
              </a:ext>
            </a:extLst>
          </p:cNvPr>
          <p:cNvSpPr>
            <a:spLocks xmlns:a="http://schemas.openxmlformats.org/drawingml/2006/main" noGrp="1"/>
          </p:cNvSpPr>
          <p:nvPr/>
        </p:nvSpPr>
        <p:spPr>
          <a:xfrm xmlns:a="http://schemas.openxmlformats.org/drawingml/2006/main">
            <a:off x="699452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3350FB9D-07D3-4100-966D-73720D84CF47}"/>
              </a:ext>
            </a:extLst>
          </p:cNvPr>
          <p:cNvSpPr>
            <a:spLocks xmlns:a="http://schemas.openxmlformats.org/drawingml/2006/main" noGrp="1"/>
          </p:cNvSpPr>
          <p:nvPr/>
        </p:nvSpPr>
        <p:spPr>
          <a:xfrm xmlns:a="http://schemas.openxmlformats.org/drawingml/2006/main">
            <a:off x="821690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F21735BA-66FA-450E-94ED-A7D0389824EA}"/>
              </a:ext>
            </a:extLst>
          </p:cNvPr>
          <p:cNvSpPr>
            <a:spLocks xmlns:a="http://schemas.openxmlformats.org/drawingml/2006/main" noGrp="1"/>
          </p:cNvSpPr>
          <p:nvPr/>
        </p:nvSpPr>
        <p:spPr>
          <a:xfrm xmlns:a="http://schemas.openxmlformats.org/drawingml/2006/main">
            <a:off x="943927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4915877C-D03E-463D-A468-49F3726C84AB}"/>
              </a:ext>
            </a:extLst>
          </p:cNvPr>
          <p:cNvSpPr>
            <a:spLocks xmlns:a="http://schemas.openxmlformats.org/drawingml/2006/main" noGrp="1"/>
          </p:cNvSpPr>
          <p:nvPr/>
        </p:nvSpPr>
        <p:spPr>
          <a:xfrm xmlns:a="http://schemas.openxmlformats.org/drawingml/2006/main">
            <a:off x="10661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914AD69B-3D60-42ED-8E75-D63ABC4D7A70}"/>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D7361B3D-1457-4FD8-BE70-B60088BEA938}"/>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7A167A4F-95ED-4B73-9C8D-60C686721EE4}"/>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75590C25-E2B3-46E4-9299-10D1A317C23D}"/>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BA91F621-A642-4F54-AD68-A9B358BE32E5}"/>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Possible cause: weak">
            <a:extLst xmlns:a="http://schemas.openxmlformats.org/drawingml/2006/main">
              <a:ext uri="{FF2B5EF4-FFF2-40B4-BE49-F238E27FC236}">
                <a16:creationId xmlns:a16="http://schemas.microsoft.com/office/drawing/2014/main" id="{E18CEC54-8260-4DD4-AC5D-4806C702F6B8}"/>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35" name="energy near the boundaries">
            <a:extLst xmlns:a="http://schemas.openxmlformats.org/drawingml/2006/main">
              <a:ext uri="{FF2B5EF4-FFF2-40B4-BE49-F238E27FC236}">
                <a16:creationId xmlns:a16="http://schemas.microsoft.com/office/drawing/2014/main" id="{49D050AA-DF17-4FEB-8C28-62715303E7D3}"/>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6" name="Extra: 0. Missed: 0.">
            <a:extLst xmlns:a="http://schemas.openxmlformats.org/drawingml/2006/main">
              <a:ext uri="{FF2B5EF4-FFF2-40B4-BE49-F238E27FC236}">
                <a16:creationId xmlns:a16="http://schemas.microsoft.com/office/drawing/2014/main" id="{B008076C-9240-412C-B18A-F317A5A86445}"/>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75180139"/>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Histogram: phone_M2">
            <a:extLst xmlns:a="http://schemas.openxmlformats.org/drawingml/2006/main">
              <a:ext uri="{FF2B5EF4-FFF2-40B4-BE49-F238E27FC236}">
                <a16:creationId xmlns:a16="http://schemas.microsoft.com/office/drawing/2014/main" id="{7F49B758-5432-42ED-939D-4B3FB17E721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phone_M2</a:t>
            </a:r>
          </a:p>
        </p:txBody>
      </p:sp>
      <p:sp>
        <p:nvSpPr>
          <p:cNvPr id="2" name="MAE 5 ms">
            <a:extLst xmlns:a="http://schemas.openxmlformats.org/drawingml/2006/main">
              <a:ext uri="{FF2B5EF4-FFF2-40B4-BE49-F238E27FC236}">
                <a16:creationId xmlns:a16="http://schemas.microsoft.com/office/drawing/2014/main" id="{F044D4C1-2184-400C-BB2C-4AA87A82AA5E}"/>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early.">
            <a:extLst xmlns:a="http://schemas.openxmlformats.org/drawingml/2006/main">
              <a:ext uri="{FF2B5EF4-FFF2-40B4-BE49-F238E27FC236}">
                <a16:creationId xmlns:a16="http://schemas.microsoft.com/office/drawing/2014/main" id="{46538562-6450-4CEA-BF8E-E4D554A5EE14}"/>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5b92550d5b445bd"/>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bb441f12f9e4037"/>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8ee644858a44654"/>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37E9A639-AFA7-4A36-BA23-BAB67C20E805}"/>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F3D25040-E451-4A44-BEB3-1413E7FC7CDC}"/>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8A8E0567-6D00-4393-BF04-E71C7C3E3469}"/>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61743952">
            <a:extLst xmlns:a="http://schemas.openxmlformats.org/drawingml/2006/main">
              <a:ext uri="{FF2B5EF4-FFF2-40B4-BE49-F238E27FC236}">
                <a16:creationId xmlns:a16="http://schemas.microsoft.com/office/drawing/2014/main" id="{16740ED1-358D-4DA2-B779-0347D3D1DA7D}"/>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0.0061743952</a:t>
            </a:r>
          </a:p>
        </p:txBody>
      </p:sp>
      <p:sp>
        <p:nvSpPr>
          <p:cNvPr id="11" name="t (s)">
            <a:extLst xmlns:a="http://schemas.openxmlformats.org/drawingml/2006/main">
              <a:ext uri="{FF2B5EF4-FFF2-40B4-BE49-F238E27FC236}">
                <a16:creationId xmlns:a16="http://schemas.microsoft.com/office/drawing/2014/main" id="{E88953E6-7777-43DF-A5CF-DD862B213629}"/>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F0C67017-440E-4A82-86F6-939DA1472BF5}"/>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FDA395D5-E3C9-4440-988B-C436E6D80567}"/>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D6732C97-03D2-4132-8103-DF196CDA9C17}"/>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DE6F3C31-0556-4C8B-865B-3420A7242E31}"/>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82D81C07-9BC3-424D-B648-B0A664045F18}"/>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72396E07-A2A3-45EF-A3BD-609275D33016}"/>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009161D9-9955-40A4-986D-E286FA661148}"/>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74C52D5C-FA06-45B2-8D1E-F67ABBEA7CC2}"/>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A02A3FC3-7457-41BF-AA5B-1CAFC0406159}"/>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1FB364D1-8C61-45BC-816B-979B568E6EA8}"/>
              </a:ext>
            </a:extLst>
          </p:cNvPr>
          <p:cNvSpPr>
            <a:spLocks xmlns:a="http://schemas.openxmlformats.org/drawingml/2006/main" noGrp="1"/>
          </p:cNvSpPr>
          <p:nvPr/>
        </p:nvSpPr>
        <p:spPr>
          <a:xfrm xmlns:a="http://schemas.openxmlformats.org/drawingml/2006/main">
            <a:off x="7867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6BAD5139-981A-4F00-B71B-FF72A3C7FECA}"/>
              </a:ext>
            </a:extLst>
          </p:cNvPr>
          <p:cNvSpPr>
            <a:spLocks xmlns:a="http://schemas.openxmlformats.org/drawingml/2006/main" noGrp="1"/>
          </p:cNvSpPr>
          <p:nvPr/>
        </p:nvSpPr>
        <p:spPr>
          <a:xfrm xmlns:a="http://schemas.openxmlformats.org/drawingml/2006/main">
            <a:off x="9963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28BA4E3A-D2DC-4D50-A252-9E666B244CF3}"/>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BAE09B7B-CF51-43CD-87DB-34B73B77668A}"/>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33930E7D-CE82-4767-A94D-1CC6D622AF5D}"/>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FC99E8EC-1DF9-44EF-99D3-F7C8F6D04B63}"/>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0F6946A8-4F64-4AFF-8E04-E557BBD6A416}"/>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1074177E-DF13-4A0B-B11A-0F4D87EBDF53}"/>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C441928D-43D0-4491-810C-F8DC9F38DF34}"/>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034CA660-56E5-4426-A28F-33FEE1E5BF43}"/>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54016124"/>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Histogram: studio_F2">
            <a:extLst xmlns:a="http://schemas.openxmlformats.org/drawingml/2006/main">
              <a:ext uri="{FF2B5EF4-FFF2-40B4-BE49-F238E27FC236}">
                <a16:creationId xmlns:a16="http://schemas.microsoft.com/office/drawing/2014/main" id="{C4A996AD-EC96-46FF-8389-CC9221602F15}"/>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studio_F2</a:t>
            </a:r>
          </a:p>
        </p:txBody>
      </p:sp>
      <p:sp>
        <p:nvSpPr>
          <p:cNvPr id="2" name="MAE 15 ms">
            <a:extLst xmlns:a="http://schemas.openxmlformats.org/drawingml/2006/main">
              <a:ext uri="{FF2B5EF4-FFF2-40B4-BE49-F238E27FC236}">
                <a16:creationId xmlns:a16="http://schemas.microsoft.com/office/drawing/2014/main" id="{E42F2035-F66B-41C3-843D-17BFCF644BEE}"/>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10 ms early. End 20 ms early.">
            <a:extLst xmlns:a="http://schemas.openxmlformats.org/drawingml/2006/main">
              <a:ext uri="{FF2B5EF4-FFF2-40B4-BE49-F238E27FC236}">
                <a16:creationId xmlns:a16="http://schemas.microsoft.com/office/drawing/2014/main" id="{D1E0AA33-E3E8-4D59-9DF2-BA78A53902CB}"/>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20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0f47aecf756452d"/>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0ad19047c97408c"/>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b4c58af50bd485d"/>
          <a:stretch xmlns:a="http://schemas.openxmlformats.org/drawingml/2006/main"/>
        </p:blipFill>
        <p:spPr>
          <a:xfrm xmlns:a="http://schemas.openxmlformats.org/drawingml/2006/main">
            <a:off x="5924550" y="4991100"/>
            <a:ext cx="5867400" cy="146897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6A7FFF50-1BCE-4E59-85E3-3A044DAD0AFD}"/>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2A6E69CC-263A-4EAD-93DA-F86E1322A95C}"/>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70D77440-7DBC-476E-9C03-075F904A2E17}"/>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61743952">
            <a:extLst xmlns:a="http://schemas.openxmlformats.org/drawingml/2006/main">
              <a:ext uri="{FF2B5EF4-FFF2-40B4-BE49-F238E27FC236}">
                <a16:creationId xmlns:a16="http://schemas.microsoft.com/office/drawing/2014/main" id="{BD338B4D-CAA8-4BD8-9281-ADB2D2D8BF21}"/>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0.0061743952</a:t>
            </a:r>
          </a:p>
        </p:txBody>
      </p:sp>
      <p:sp>
        <p:nvSpPr>
          <p:cNvPr id="11" name="t (s)">
            <a:extLst xmlns:a="http://schemas.openxmlformats.org/drawingml/2006/main">
              <a:ext uri="{FF2B5EF4-FFF2-40B4-BE49-F238E27FC236}">
                <a16:creationId xmlns:a16="http://schemas.microsoft.com/office/drawing/2014/main" id="{A2FDBD6A-ED44-4192-8119-A22B68AB3BE3}"/>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0B23DE50-1CDB-4E65-8DA0-81515CD1C79E}"/>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DAA8AA66-1CF9-4936-A7DA-89702786D4C6}"/>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BA5CBAD0-6A4A-4EF3-B3A2-A062074BF916}"/>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C47058DE-DC84-4E8D-8CC5-D8EBF5D20B22}"/>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0F5623D6-8CA0-4C60-A750-CF65583C6186}"/>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04BCB28A-762A-4F91-95EF-95B14A360268}"/>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2810CBB6-23E9-4DC6-8B90-17824B036A47}"/>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D60CF6D2-F01C-4165-A909-79AB166D721C}"/>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753E5882-05F9-4823-A107-C7D9E410349E}"/>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0716F5F9-EBBC-4C63-8F6D-7933167D211B}"/>
              </a:ext>
            </a:extLst>
          </p:cNvPr>
          <p:cNvSpPr>
            <a:spLocks xmlns:a="http://schemas.openxmlformats.org/drawingml/2006/main" noGrp="1"/>
          </p:cNvSpPr>
          <p:nvPr/>
        </p:nvSpPr>
        <p:spPr>
          <a:xfrm xmlns:a="http://schemas.openxmlformats.org/drawingml/2006/main">
            <a:off x="5086350" y="64791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EB1DBE69-9EF0-4D3A-85E8-980426C00F56}"/>
              </a:ext>
            </a:extLst>
          </p:cNvPr>
          <p:cNvSpPr>
            <a:spLocks xmlns:a="http://schemas.openxmlformats.org/drawingml/2006/main" noGrp="1"/>
          </p:cNvSpPr>
          <p:nvPr/>
        </p:nvSpPr>
        <p:spPr>
          <a:xfrm xmlns:a="http://schemas.openxmlformats.org/drawingml/2006/main">
            <a:off x="577215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60AC4E2B-656B-40A8-AD1F-7436DB7A0B4E}"/>
              </a:ext>
            </a:extLst>
          </p:cNvPr>
          <p:cNvSpPr>
            <a:spLocks xmlns:a="http://schemas.openxmlformats.org/drawingml/2006/main" noGrp="1"/>
          </p:cNvSpPr>
          <p:nvPr/>
        </p:nvSpPr>
        <p:spPr>
          <a:xfrm xmlns:a="http://schemas.openxmlformats.org/drawingml/2006/main">
            <a:off x="763512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2D70950C-6BCC-4E12-A47B-7304937CDB3C}"/>
              </a:ext>
            </a:extLst>
          </p:cNvPr>
          <p:cNvSpPr>
            <a:spLocks xmlns:a="http://schemas.openxmlformats.org/drawingml/2006/main" noGrp="1"/>
          </p:cNvSpPr>
          <p:nvPr/>
        </p:nvSpPr>
        <p:spPr>
          <a:xfrm xmlns:a="http://schemas.openxmlformats.org/drawingml/2006/main">
            <a:off x="949810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01BAD1E6-94E8-4499-9D7A-7B45198863B7}"/>
              </a:ext>
            </a:extLst>
          </p:cNvPr>
          <p:cNvSpPr>
            <a:spLocks xmlns:a="http://schemas.openxmlformats.org/drawingml/2006/main" noGrp="1"/>
          </p:cNvSpPr>
          <p:nvPr/>
        </p:nvSpPr>
        <p:spPr>
          <a:xfrm xmlns:a="http://schemas.openxmlformats.org/drawingml/2006/main">
            <a:off x="1136107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EE17F0FC-8586-4B53-96D7-F13C7ACA8807}"/>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D32455F5-2532-44F8-9C09-72EBCA9BDBD5}"/>
              </a:ext>
            </a:extLst>
          </p:cNvPr>
          <p:cNvSpPr>
            <a:spLocks xmlns:a="http://schemas.openxmlformats.org/drawingml/2006/main" noGrp="1"/>
          </p:cNvSpPr>
          <p:nvPr/>
        </p:nvSpPr>
        <p:spPr>
          <a:xfrm xmlns:a="http://schemas.openxmlformats.org/drawingml/2006/main">
            <a:off x="5248275" y="613773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BD41C692-F5BA-43D2-A7AE-7B3EFC97F07A}"/>
              </a:ext>
            </a:extLst>
          </p:cNvPr>
          <p:cNvSpPr>
            <a:spLocks xmlns:a="http://schemas.openxmlformats.org/drawingml/2006/main" noGrp="1"/>
          </p:cNvSpPr>
          <p:nvPr/>
        </p:nvSpPr>
        <p:spPr>
          <a:xfrm xmlns:a="http://schemas.openxmlformats.org/drawingml/2006/main">
            <a:off x="5248275" y="574071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B6CCFE88-32B2-4864-90E8-D211350AE9ED}"/>
              </a:ext>
            </a:extLst>
          </p:cNvPr>
          <p:cNvSpPr>
            <a:spLocks xmlns:a="http://schemas.openxmlformats.org/drawingml/2006/main" noGrp="1"/>
          </p:cNvSpPr>
          <p:nvPr/>
        </p:nvSpPr>
        <p:spPr>
          <a:xfrm xmlns:a="http://schemas.openxmlformats.org/drawingml/2006/main">
            <a:off x="5248275" y="534369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973B22BB-CE6E-458A-B21A-50A58673FE82}"/>
              </a:ext>
            </a:extLst>
          </p:cNvPr>
          <p:cNvSpPr>
            <a:spLocks xmlns:a="http://schemas.openxmlformats.org/drawingml/2006/main" noGrp="1"/>
          </p:cNvSpPr>
          <p:nvPr/>
        </p:nvSpPr>
        <p:spPr>
          <a:xfrm xmlns:a="http://schemas.openxmlformats.org/drawingml/2006/main">
            <a:off x="5248275" y="49466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Onset window includes speech.">
            <a:extLst xmlns:a="http://schemas.openxmlformats.org/drawingml/2006/main">
              <a:ext uri="{FF2B5EF4-FFF2-40B4-BE49-F238E27FC236}">
                <a16:creationId xmlns:a16="http://schemas.microsoft.com/office/drawing/2014/main" id="{4BDD1804-92EA-4723-9647-9CE8313AD377}"/>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Onset window includes speech.</a:t>
            </a:r>
          </a:p>
        </p:txBody>
      </p:sp>
      <p:sp>
        <p:nvSpPr>
          <p:cNvPr id="32" name="Tail energy falls below T.">
            <a:extLst xmlns:a="http://schemas.openxmlformats.org/drawingml/2006/main">
              <a:ext uri="{FF2B5EF4-FFF2-40B4-BE49-F238E27FC236}">
                <a16:creationId xmlns:a16="http://schemas.microsoft.com/office/drawing/2014/main" id="{F4108C90-5005-42B8-B7FD-CC5B879DCD55}"/>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energy falls below T.</a:t>
            </a:r>
          </a:p>
        </p:txBody>
      </p:sp>
      <p:sp>
        <p:nvSpPr>
          <p:cNvPr id="33" name="Extra: 0. Missed: 0.">
            <a:extLst xmlns:a="http://schemas.openxmlformats.org/drawingml/2006/main">
              <a:ext uri="{FF2B5EF4-FFF2-40B4-BE49-F238E27FC236}">
                <a16:creationId xmlns:a16="http://schemas.microsoft.com/office/drawing/2014/main" id="{5563FE3D-272D-4D35-860A-FEC21FB45A51}"/>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570801758"/>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Histogram: studio_M2">
            <a:extLst xmlns:a="http://schemas.openxmlformats.org/drawingml/2006/main">
              <a:ext uri="{FF2B5EF4-FFF2-40B4-BE49-F238E27FC236}">
                <a16:creationId xmlns:a16="http://schemas.microsoft.com/office/drawing/2014/main" id="{B5535F78-A835-47C4-840B-3A42430C271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Histogram: studio_M2</a:t>
            </a:r>
          </a:p>
        </p:txBody>
      </p:sp>
      <p:sp>
        <p:nvSpPr>
          <p:cNvPr id="2" name="MAE 15 ms">
            <a:extLst xmlns:a="http://schemas.openxmlformats.org/drawingml/2006/main">
              <a:ext uri="{FF2B5EF4-FFF2-40B4-BE49-F238E27FC236}">
                <a16:creationId xmlns:a16="http://schemas.microsoft.com/office/drawing/2014/main" id="{0562D34A-21D8-4F3B-A563-4505B00F3844}"/>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20 ms late. End 10 ms early.">
            <a:extLst xmlns:a="http://schemas.openxmlformats.org/drawingml/2006/main">
              <a:ext uri="{FF2B5EF4-FFF2-40B4-BE49-F238E27FC236}">
                <a16:creationId xmlns:a16="http://schemas.microsoft.com/office/drawing/2014/main" id="{E2815C3F-B1F4-4A90-898D-9EDA28A0EFA7}"/>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20 ms late.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2071cb8268c4f9c"/>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6027aa509f2408a"/>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4fddbb68da04dea"/>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F775CC79-F9D0-4950-B931-607C60EC01A2}"/>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99538054-505E-42C0-BBAA-3C3E486D3CEC}"/>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F366A4E7-9848-45BE-8852-F0581AE6A426}"/>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49143145">
            <a:extLst xmlns:a="http://schemas.openxmlformats.org/drawingml/2006/main">
              <a:ext uri="{FF2B5EF4-FFF2-40B4-BE49-F238E27FC236}">
                <a16:creationId xmlns:a16="http://schemas.microsoft.com/office/drawing/2014/main" id="{57BE5689-767E-482E-972E-16024BAA89A5}"/>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0.0049143145</a:t>
            </a:r>
          </a:p>
        </p:txBody>
      </p:sp>
      <p:sp>
        <p:nvSpPr>
          <p:cNvPr id="11" name="t (s)">
            <a:extLst xmlns:a="http://schemas.openxmlformats.org/drawingml/2006/main">
              <a:ext uri="{FF2B5EF4-FFF2-40B4-BE49-F238E27FC236}">
                <a16:creationId xmlns:a16="http://schemas.microsoft.com/office/drawing/2014/main" id="{3B967C7E-16FF-433C-BCBB-D432173A8F77}"/>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6E2FB806-BC2D-43FE-A20C-9C68602F4898}"/>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D0160394-9FB4-45FA-A305-F56CFD40E7D2}"/>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FE815DE6-AC29-48C7-AA41-6EEF995357E9}"/>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647C425B-8EF5-420D-9A52-DF155417F6EB}"/>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F84D6DFA-2B3D-45EF-A85B-F92EE6BDF6A6}"/>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AA94A890-0DDC-44F9-A02E-9515980EA1CD}"/>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256EDCF0-72BA-4517-90ED-EEB6779BF154}"/>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66FF85FB-4FDA-41FB-9CFA-F891316EBE36}"/>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9CFF81D8-C88E-43AD-A5A6-DC3AADC43BDC}"/>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520F6CFD-3748-4A9D-A8DC-51B8B9B1C078}"/>
              </a:ext>
            </a:extLst>
          </p:cNvPr>
          <p:cNvSpPr>
            <a:spLocks xmlns:a="http://schemas.openxmlformats.org/drawingml/2006/main" noGrp="1"/>
          </p:cNvSpPr>
          <p:nvPr/>
        </p:nvSpPr>
        <p:spPr>
          <a:xfrm xmlns:a="http://schemas.openxmlformats.org/drawingml/2006/main">
            <a:off x="823552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8E94CBA2-A882-4F9E-AD2D-A2D70986E0BF}"/>
              </a:ext>
            </a:extLst>
          </p:cNvPr>
          <p:cNvSpPr>
            <a:spLocks xmlns:a="http://schemas.openxmlformats.org/drawingml/2006/main" noGrp="1"/>
          </p:cNvSpPr>
          <p:nvPr/>
        </p:nvSpPr>
        <p:spPr>
          <a:xfrm xmlns:a="http://schemas.openxmlformats.org/drawingml/2006/main">
            <a:off x="10698889"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1668B583-5B4B-410F-8B06-FF5EACA46E0A}"/>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6BF835FA-CEA0-44DB-A905-DDBB7A3B530C}"/>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8E50D789-74D0-418F-A16E-02F194F1E590}"/>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4C3D4929-C63E-4140-AD2C-E04C2DC05BC3}"/>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4CF0405A-0033-4334-8CDC-037816B11C29}"/>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6839391E-86E7-45B0-9932-B0D5DEA705ED}"/>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A26DEFCE-C60D-4AE2-A299-2C937D09BE8E}"/>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60EB1B47-44CF-473B-ABBB-FD5168BD9103}"/>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1619160726"/>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Gaussian Statistics">
            <a:extLst xmlns:a="http://schemas.openxmlformats.org/drawingml/2006/main">
              <a:ext uri="{FF2B5EF4-FFF2-40B4-BE49-F238E27FC236}">
                <a16:creationId xmlns:a16="http://schemas.microsoft.com/office/drawing/2014/main" id="{C5B49208-4C14-41E2-9903-5EABD3759F7E}"/>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5363D"/>
                </a:solidFill>
                <a:latin typeface="Lato"/>
                <a:ea typeface="Lato"/>
                <a:cs typeface="Lato"/>
              </a:defRPr>
            </a:pPr>
            <a:r>
              <a:rPr sz="3600" b="1">
                <a:solidFill>
                  <a:srgbClr val="15363D"/>
                </a:solidFill>
                <a:latin typeface="Lato"/>
                <a:ea typeface="Lato"/>
                <a:cs typeface="Lato"/>
              </a:rPr>
              <a:t>Gaussian Statistics</a:t>
            </a:r>
          </a:p>
        </p:txBody>
      </p:sp>
      <p:sp>
        <p:nvSpPr>
          <p:cNvPr id="2" name="Đinh Huỳnh Nguyên Khang">
            <a:extLst xmlns:a="http://schemas.openxmlformats.org/drawingml/2006/main">
              <a:ext uri="{FF2B5EF4-FFF2-40B4-BE49-F238E27FC236}">
                <a16:creationId xmlns:a16="http://schemas.microsoft.com/office/drawing/2014/main" id="{E1615723-2C5F-413F-8252-08B6F097F1A3}"/>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Đinh Huỳnh Nguyên Khang</a:t>
            </a:r>
          </a:p>
        </p:txBody>
      </p:sp>
      <p:sp>
        <p:nvSpPr>
          <p:cNvPr id="3" name="TRAIN">
            <a:extLst xmlns:a="http://schemas.openxmlformats.org/drawingml/2006/main">
              <a:ext uri="{FF2B5EF4-FFF2-40B4-BE49-F238E27FC236}">
                <a16:creationId xmlns:a16="http://schemas.microsoft.com/office/drawing/2014/main" id="{3B2D627A-B161-46CA-BA88-7CFBBAA6B741}"/>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TRAIN</a:t>
            </a:r>
          </a:p>
        </p:txBody>
      </p:sp>
      <p:sp>
        <p:nvSpPr>
          <p:cNvPr id="4" name="TRAIN STE Normalize each WAV">
            <a:extLst xmlns:a="http://schemas.openxmlformats.org/drawingml/2006/main">
              <a:ext uri="{FF2B5EF4-FFF2-40B4-BE49-F238E27FC236}">
                <a16:creationId xmlns:a16="http://schemas.microsoft.com/office/drawing/2014/main" id="{C0C10F16-DC2D-4668-8F20-B732E6270DEA}"/>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TRAIN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 each WAV</a:t>
            </a:r>
          </a:p>
        </p:txBody>
      </p:sp>
      <p:sp>
        <p:nvSpPr>
          <p:cNvPr id="5" name="LAB classes Silence and speech">
            <a:extLst xmlns:a="http://schemas.openxmlformats.org/drawingml/2006/main">
              <a:ext uri="{FF2B5EF4-FFF2-40B4-BE49-F238E27FC236}">
                <a16:creationId xmlns:a16="http://schemas.microsoft.com/office/drawing/2014/main" id="{4FC76C13-B15F-4CA8-AD15-8E82011E5788}"/>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LAB classes</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and speech</a:t>
            </a:r>
          </a:p>
        </p:txBody>
      </p:sp>
      <p:sp>
        <p:nvSpPr>
          <p:cNvPr id="6" name="Mean and std Gaussian crossing">
            <a:extLst xmlns:a="http://schemas.openxmlformats.org/drawingml/2006/main">
              <a:ext uri="{FF2B5EF4-FFF2-40B4-BE49-F238E27FC236}">
                <a16:creationId xmlns:a16="http://schemas.microsoft.com/office/drawing/2014/main" id="{8FFF6053-5F4F-4EF1-9143-B61A27111996}"/>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Mean and std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Gaussian crossing</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
        <p:nvSpPr>
          <p:cNvPr id="9" name="503 silence, 794 speech. T = 0.0027634166.">
            <a:extLst xmlns:a="http://schemas.openxmlformats.org/drawingml/2006/main">
              <a:ext uri="{FF2B5EF4-FFF2-40B4-BE49-F238E27FC236}">
                <a16:creationId xmlns:a16="http://schemas.microsoft.com/office/drawing/2014/main" id="{89955E3A-5D79-4FF3-93FB-9C7112FF012A}"/>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087F78"/>
                </a:solidFill>
                <a:latin typeface="Lato"/>
                <a:ea typeface="Lato"/>
                <a:cs typeface="Lato"/>
              </a:defRPr>
            </a:pPr>
            <a:r>
              <a:rPr sz="2400" b="1">
                <a:solidFill>
                  <a:srgbClr val="087F78"/>
                </a:solidFill>
                <a:latin typeface="Lato"/>
                <a:ea typeface="Lato"/>
                <a:cs typeface="Lato"/>
              </a:rPr>
              <a:t>503 silence, 794 speech. T = 0.0027634166.</a:t>
            </a:r>
          </a:p>
        </p:txBody>
      </p:sp>
      <p:sp>
        <p:nvSpPr>
          <p:cNvPr id="10" name="TEST">
            <a:extLst xmlns:a="http://schemas.openxmlformats.org/drawingml/2006/main">
              <a:ext uri="{FF2B5EF4-FFF2-40B4-BE49-F238E27FC236}">
                <a16:creationId xmlns:a16="http://schemas.microsoft.com/office/drawing/2014/main" id="{625E6D7B-5B3A-495F-B46C-FB29D64A952B}"/>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087F78"/>
                </a:solidFill>
                <a:latin typeface="Lato"/>
                <a:ea typeface="Lato"/>
                <a:cs typeface="Lato"/>
              </a:defRPr>
            </a:pPr>
            <a:r>
              <a:rPr sz="1950" b="1">
                <a:solidFill>
                  <a:srgbClr val="087F78"/>
                </a:solidFill>
                <a:latin typeface="Lato"/>
                <a:ea typeface="Lato"/>
                <a:cs typeface="Lato"/>
              </a:rPr>
              <a:t>TEST</a:t>
            </a:r>
          </a:p>
        </p:txBody>
      </p:sp>
      <p:sp>
        <p:nvSpPr>
          <p:cNvPr id="11" name="Normalized TEST STE Same 25 ms windows">
            <a:extLst xmlns:a="http://schemas.openxmlformats.org/drawingml/2006/main">
              <a:ext uri="{FF2B5EF4-FFF2-40B4-BE49-F238E27FC236}">
                <a16:creationId xmlns:a16="http://schemas.microsoft.com/office/drawing/2014/main" id="{25ABF86F-9266-4CB1-9CE8-878148532344}"/>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Normalized TEST STE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Same 25 ms windows</a:t>
            </a:r>
          </a:p>
        </p:txBody>
      </p:sp>
      <p:sp>
        <p:nvSpPr>
          <p:cNvPr id="12" name="Fixed TEST threshold Shared across WAVs">
            <a:extLst xmlns:a="http://schemas.openxmlformats.org/drawingml/2006/main">
              <a:ext uri="{FF2B5EF4-FFF2-40B4-BE49-F238E27FC236}">
                <a16:creationId xmlns:a16="http://schemas.microsoft.com/office/drawing/2014/main" id="{9CAFA5B0-225D-4196-8116-9031398CC6C6}"/>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Fixed TEST threshold</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Shared across WAVs</a:t>
            </a:r>
          </a:p>
        </p:txBody>
      </p:sp>
      <p:sp>
        <p:nvSpPr>
          <p:cNvPr id="13" name="Classify and merge Silence under 200 ms">
            <a:extLst xmlns:a="http://schemas.openxmlformats.org/drawingml/2006/main">
              <a:ext uri="{FF2B5EF4-FFF2-40B4-BE49-F238E27FC236}">
                <a16:creationId xmlns:a16="http://schemas.microsoft.com/office/drawing/2014/main" id="{F3B9F6AA-0570-46FE-B71F-4280F0809668}"/>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087F78"/>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Classify and merge</a:t>
            </a:r>
          </a:p>
          <a:p xmlns:a="http://schemas.openxmlformats.org/drawingml/2006/main">
            <a:pPr algn="ctr">
              <a:defRPr sz="2100">
                <a:solidFill>
                  <a:srgbClr val="15363D"/>
                </a:solidFill>
                <a:latin typeface="Lato"/>
                <a:ea typeface="Lato"/>
                <a:cs typeface="Lato"/>
              </a:defRPr>
            </a:pPr>
            <a:r>
              <a:rPr sz="2100">
                <a:solidFill>
                  <a:srgbClr val="15363D"/>
                </a:solidFill>
                <a:latin typeface="Lato"/>
                <a:ea typeface="Lato"/>
                <a:cs typeface="Lato"/>
              </a:rPr>
              <a:t>Silence under 200 ms</a:t>
            </a:r>
          </a:p>
        </p:txBody>
      </p: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cxnSp>
        <p:nvCxnSpPr>
          <p:cNvPr id="30" name=""/>
          <p:cNvCxnSpPr>
            <a:stCxn xmlns:a="http://schemas.openxmlformats.org/drawingml/2006/main" id="12" idx="3"/>
            <a:endCxn xmlns:a="http://schemas.openxmlformats.org/drawingml/2006/main" id="13"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087F78"/>
            </a:solidFill>
            <a:tailEnd type="triangle" w="sm" len="sm"/>
          </a:ln>
        </p:spPr>
      </p:cxnSp>
    </p:spTree>
    <p:extLst>
      <p:ext uri="{BB962C8B-B14F-4D97-AF65-F5344CB8AC3E}">
        <p14:creationId xmlns:p14="http://schemas.microsoft.com/office/powerpoint/2010/main" val="1128008962"/>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 name="Gaussian: observed data and crossing">
            <a:extLst xmlns:a="http://schemas.openxmlformats.org/drawingml/2006/main">
              <a:ext uri="{FF2B5EF4-FFF2-40B4-BE49-F238E27FC236}">
                <a16:creationId xmlns:a16="http://schemas.microsoft.com/office/drawing/2014/main" id="{F83B7480-F2BF-42C1-B56A-7EA78F1C75DE}"/>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5363D"/>
                </a:solidFill>
                <a:latin typeface="Lato"/>
                <a:ea typeface="Lato"/>
                <a:cs typeface="Lato"/>
              </a:defRPr>
            </a:pPr>
            <a:r>
              <a:rPr sz="3300" b="1">
                <a:solidFill>
                  <a:srgbClr val="15363D"/>
                </a:solidFill>
                <a:latin typeface="Lato"/>
                <a:ea typeface="Lato"/>
                <a:cs typeface="Lato"/>
              </a:rPr>
              <a:t>Gaussian: observed data and crossing</a:t>
            </a:r>
          </a:p>
        </p:txBody>
      </p:sp>
      <p:sp>
        <p:nvSpPr>
          <p:cNvPr id="2" name="TRAIN estimates. Zoom on the chosen crossing.">
            <a:extLst xmlns:a="http://schemas.openxmlformats.org/drawingml/2006/main">
              <a:ext uri="{FF2B5EF4-FFF2-40B4-BE49-F238E27FC236}">
                <a16:creationId xmlns:a16="http://schemas.microsoft.com/office/drawing/2014/main" id="{5F9D8A5F-39CA-4A8D-A141-CD28F25848C4}"/>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TRAIN estimates. Zoom on the chosen crossing.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320f1dd65214660"/>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152250687"/>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7" name="Statistics: phone_F2">
            <a:extLst xmlns:a="http://schemas.openxmlformats.org/drawingml/2006/main">
              <a:ext uri="{FF2B5EF4-FFF2-40B4-BE49-F238E27FC236}">
                <a16:creationId xmlns:a16="http://schemas.microsoft.com/office/drawing/2014/main" id="{1A573217-C93E-49E0-A321-FDE8FC6603C5}"/>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phone_F2</a:t>
            </a:r>
          </a:p>
        </p:txBody>
      </p:sp>
      <p:sp>
        <p:nvSpPr>
          <p:cNvPr id="2" name="MAE 5 ms">
            <a:extLst xmlns:a="http://schemas.openxmlformats.org/drawingml/2006/main">
              <a:ext uri="{FF2B5EF4-FFF2-40B4-BE49-F238E27FC236}">
                <a16:creationId xmlns:a16="http://schemas.microsoft.com/office/drawing/2014/main" id="{58987992-71BE-4D8A-A7F4-F9EBF1C5F8C5}"/>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late.">
            <a:extLst xmlns:a="http://schemas.openxmlformats.org/drawingml/2006/main">
              <a:ext uri="{FF2B5EF4-FFF2-40B4-BE49-F238E27FC236}">
                <a16:creationId xmlns:a16="http://schemas.microsoft.com/office/drawing/2014/main" id="{341E8598-D737-4D90-B8E8-72AD564659F2}"/>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late.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d2d578e9af9141fc"/>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f2f8206cd1446ef"/>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b9bf3e0a457422c"/>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369CE524-DE5B-454D-85FC-D18BA15FCE5B}"/>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BF15AC50-A1A8-491A-84D7-45D6A50BA02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06004B00-E838-4B75-8962-2A212B4289B9}"/>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A18E81B8-FD78-4DB1-9BCD-178660E7B32C}"/>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38E66660-F259-4D99-AFDB-9C5DB73B5C39}"/>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F65DC5BC-65A3-4A14-99E6-281B3D7844C2}"/>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98B0B89F-37D1-47F6-A40A-C5CBCA9CFF8F}"/>
              </a:ext>
            </a:extLst>
          </p:cNvPr>
          <p:cNvSpPr>
            <a:spLocks xmlns:a="http://schemas.openxmlformats.org/drawingml/2006/main" noGrp="1"/>
          </p:cNvSpPr>
          <p:nvPr/>
        </p:nvSpPr>
        <p:spPr>
          <a:xfrm xmlns:a="http://schemas.openxmlformats.org/drawingml/2006/main">
            <a:off x="322421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70683926-189C-461A-9329-586B70DE2CC1}"/>
              </a:ext>
            </a:extLst>
          </p:cNvPr>
          <p:cNvSpPr>
            <a:spLocks xmlns:a="http://schemas.openxmlformats.org/drawingml/2006/main" noGrp="1"/>
          </p:cNvSpPr>
          <p:nvPr/>
        </p:nvSpPr>
        <p:spPr>
          <a:xfrm xmlns:a="http://schemas.openxmlformats.org/drawingml/2006/main">
            <a:off x="5438775"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D28F47E4-F95C-4C84-B2A6-6800DF27062A}"/>
              </a:ext>
            </a:extLst>
          </p:cNvPr>
          <p:cNvSpPr>
            <a:spLocks xmlns:a="http://schemas.openxmlformats.org/drawingml/2006/main" noGrp="1"/>
          </p:cNvSpPr>
          <p:nvPr/>
        </p:nvSpPr>
        <p:spPr>
          <a:xfrm xmlns:a="http://schemas.openxmlformats.org/drawingml/2006/main">
            <a:off x="765333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4">
            <a:extLst xmlns:a="http://schemas.openxmlformats.org/drawingml/2006/main">
              <a:ext uri="{FF2B5EF4-FFF2-40B4-BE49-F238E27FC236}">
                <a16:creationId xmlns:a16="http://schemas.microsoft.com/office/drawing/2014/main" id="{F5CC1A0C-C266-4691-AF97-9B4D003C76F4}"/>
              </a:ext>
            </a:extLst>
          </p:cNvPr>
          <p:cNvSpPr>
            <a:spLocks xmlns:a="http://schemas.openxmlformats.org/drawingml/2006/main" noGrp="1"/>
          </p:cNvSpPr>
          <p:nvPr/>
        </p:nvSpPr>
        <p:spPr>
          <a:xfrm xmlns:a="http://schemas.openxmlformats.org/drawingml/2006/main">
            <a:off x="986790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17" name="t (s)">
            <a:extLst xmlns:a="http://schemas.openxmlformats.org/drawingml/2006/main">
              <a:ext uri="{FF2B5EF4-FFF2-40B4-BE49-F238E27FC236}">
                <a16:creationId xmlns:a16="http://schemas.microsoft.com/office/drawing/2014/main" id="{851BD3AF-527B-4EA1-86E9-B4CF689C42F7}"/>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8" name="0">
            <a:extLst xmlns:a="http://schemas.openxmlformats.org/drawingml/2006/main">
              <a:ext uri="{FF2B5EF4-FFF2-40B4-BE49-F238E27FC236}">
                <a16:creationId xmlns:a16="http://schemas.microsoft.com/office/drawing/2014/main" id="{6EDFE31E-06FB-4474-9E3F-C9E568709929}"/>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9" name="1">
            <a:extLst xmlns:a="http://schemas.openxmlformats.org/drawingml/2006/main">
              <a:ext uri="{FF2B5EF4-FFF2-40B4-BE49-F238E27FC236}">
                <a16:creationId xmlns:a16="http://schemas.microsoft.com/office/drawing/2014/main" id="{1EDAEB51-F63A-4FE7-A996-56C84940DB64}"/>
              </a:ext>
            </a:extLst>
          </p:cNvPr>
          <p:cNvSpPr>
            <a:spLocks xmlns:a="http://schemas.openxmlformats.org/drawingml/2006/main" noGrp="1"/>
          </p:cNvSpPr>
          <p:nvPr/>
        </p:nvSpPr>
        <p:spPr>
          <a:xfrm xmlns:a="http://schemas.openxmlformats.org/drawingml/2006/main">
            <a:off x="322421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0" name="2">
            <a:extLst xmlns:a="http://schemas.openxmlformats.org/drawingml/2006/main">
              <a:ext uri="{FF2B5EF4-FFF2-40B4-BE49-F238E27FC236}">
                <a16:creationId xmlns:a16="http://schemas.microsoft.com/office/drawing/2014/main" id="{42F396E3-9F43-4E6A-952B-15EAD68DC66F}"/>
              </a:ext>
            </a:extLst>
          </p:cNvPr>
          <p:cNvSpPr>
            <a:spLocks xmlns:a="http://schemas.openxmlformats.org/drawingml/2006/main" noGrp="1"/>
          </p:cNvSpPr>
          <p:nvPr/>
        </p:nvSpPr>
        <p:spPr>
          <a:xfrm xmlns:a="http://schemas.openxmlformats.org/drawingml/2006/main">
            <a:off x="5438775"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1" name="3">
            <a:extLst xmlns:a="http://schemas.openxmlformats.org/drawingml/2006/main">
              <a:ext uri="{FF2B5EF4-FFF2-40B4-BE49-F238E27FC236}">
                <a16:creationId xmlns:a16="http://schemas.microsoft.com/office/drawing/2014/main" id="{D6449FBF-F2A4-4014-874C-8630450C9792}"/>
              </a:ext>
            </a:extLst>
          </p:cNvPr>
          <p:cNvSpPr>
            <a:spLocks xmlns:a="http://schemas.openxmlformats.org/drawingml/2006/main" noGrp="1"/>
          </p:cNvSpPr>
          <p:nvPr/>
        </p:nvSpPr>
        <p:spPr>
          <a:xfrm xmlns:a="http://schemas.openxmlformats.org/drawingml/2006/main">
            <a:off x="765333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2" name="4">
            <a:extLst xmlns:a="http://schemas.openxmlformats.org/drawingml/2006/main">
              <a:ext uri="{FF2B5EF4-FFF2-40B4-BE49-F238E27FC236}">
                <a16:creationId xmlns:a16="http://schemas.microsoft.com/office/drawing/2014/main" id="{DED2A424-D553-4686-B1A5-A5B06ABE82DA}"/>
              </a:ext>
            </a:extLst>
          </p:cNvPr>
          <p:cNvSpPr>
            <a:spLocks xmlns:a="http://schemas.openxmlformats.org/drawingml/2006/main" noGrp="1"/>
          </p:cNvSpPr>
          <p:nvPr/>
        </p:nvSpPr>
        <p:spPr>
          <a:xfrm xmlns:a="http://schemas.openxmlformats.org/drawingml/2006/main">
            <a:off x="986790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3" name="t (s)">
            <a:extLst xmlns:a="http://schemas.openxmlformats.org/drawingml/2006/main">
              <a:ext uri="{FF2B5EF4-FFF2-40B4-BE49-F238E27FC236}">
                <a16:creationId xmlns:a16="http://schemas.microsoft.com/office/drawing/2014/main" id="{37A496D6-A806-4DAC-8554-8953956105E2}"/>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4" name="0">
            <a:extLst xmlns:a="http://schemas.openxmlformats.org/drawingml/2006/main">
              <a:ext uri="{FF2B5EF4-FFF2-40B4-BE49-F238E27FC236}">
                <a16:creationId xmlns:a16="http://schemas.microsoft.com/office/drawing/2014/main" id="{4FA74C79-6C33-4B2B-B977-1133778A1ACD}"/>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5" name="1">
            <a:extLst xmlns:a="http://schemas.openxmlformats.org/drawingml/2006/main">
              <a:ext uri="{FF2B5EF4-FFF2-40B4-BE49-F238E27FC236}">
                <a16:creationId xmlns:a16="http://schemas.microsoft.com/office/drawing/2014/main" id="{3F1F4A81-4912-4B9E-A318-E3481F748CAD}"/>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6" name="2">
            <a:extLst xmlns:a="http://schemas.openxmlformats.org/drawingml/2006/main">
              <a:ext uri="{FF2B5EF4-FFF2-40B4-BE49-F238E27FC236}">
                <a16:creationId xmlns:a16="http://schemas.microsoft.com/office/drawing/2014/main" id="{603E86A5-3F56-47CF-BE42-D7B41086A0B5}"/>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7" name="3">
            <a:extLst xmlns:a="http://schemas.openxmlformats.org/drawingml/2006/main">
              <a:ext uri="{FF2B5EF4-FFF2-40B4-BE49-F238E27FC236}">
                <a16:creationId xmlns:a16="http://schemas.microsoft.com/office/drawing/2014/main" id="{90FA2A2F-6215-4FA7-994E-72EEB10C7A17}"/>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8" name="4">
            <a:extLst xmlns:a="http://schemas.openxmlformats.org/drawingml/2006/main">
              <a:ext uri="{FF2B5EF4-FFF2-40B4-BE49-F238E27FC236}">
                <a16:creationId xmlns:a16="http://schemas.microsoft.com/office/drawing/2014/main" id="{EFFB74A0-459A-4070-9047-6281A5999477}"/>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4</a:t>
            </a:r>
          </a:p>
        </p:txBody>
      </p:sp>
      <p:sp>
        <p:nvSpPr>
          <p:cNvPr id="29" name="F0 (Hz)">
            <a:extLst xmlns:a="http://schemas.openxmlformats.org/drawingml/2006/main">
              <a:ext uri="{FF2B5EF4-FFF2-40B4-BE49-F238E27FC236}">
                <a16:creationId xmlns:a16="http://schemas.microsoft.com/office/drawing/2014/main" id="{09A98791-3A9C-4EE7-81E6-5AB0239CF6AC}"/>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30" name="100">
            <a:extLst xmlns:a="http://schemas.openxmlformats.org/drawingml/2006/main">
              <a:ext uri="{FF2B5EF4-FFF2-40B4-BE49-F238E27FC236}">
                <a16:creationId xmlns:a16="http://schemas.microsoft.com/office/drawing/2014/main" id="{0F5E163A-C903-4829-B9DB-77CEC6AC9B91}"/>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31" name="200">
            <a:extLst xmlns:a="http://schemas.openxmlformats.org/drawingml/2006/main">
              <a:ext uri="{FF2B5EF4-FFF2-40B4-BE49-F238E27FC236}">
                <a16:creationId xmlns:a16="http://schemas.microsoft.com/office/drawing/2014/main" id="{44CD9EA0-2DB1-4A0E-BEB6-DC0A286AD6DE}"/>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32" name="300">
            <a:extLst xmlns:a="http://schemas.openxmlformats.org/drawingml/2006/main">
              <a:ext uri="{FF2B5EF4-FFF2-40B4-BE49-F238E27FC236}">
                <a16:creationId xmlns:a16="http://schemas.microsoft.com/office/drawing/2014/main" id="{EC5485BA-16B0-460B-847A-6B6EDEF7A53E}"/>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3" name="400">
            <a:extLst xmlns:a="http://schemas.openxmlformats.org/drawingml/2006/main">
              <a:ext uri="{FF2B5EF4-FFF2-40B4-BE49-F238E27FC236}">
                <a16:creationId xmlns:a16="http://schemas.microsoft.com/office/drawing/2014/main" id="{364EE447-3AC7-4AA2-A3ED-3208FCF7D599}"/>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4" name="Tail STE remains above">
            <a:extLst xmlns:a="http://schemas.openxmlformats.org/drawingml/2006/main">
              <a:ext uri="{FF2B5EF4-FFF2-40B4-BE49-F238E27FC236}">
                <a16:creationId xmlns:a16="http://schemas.microsoft.com/office/drawing/2014/main" id="{ABA13D58-0A1C-42AF-A87F-7AB705379A27}"/>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STE remains above</a:t>
            </a:r>
          </a:p>
        </p:txBody>
      </p:sp>
      <p:sp>
        <p:nvSpPr>
          <p:cNvPr id="35" name="the shared threshold">
            <a:extLst xmlns:a="http://schemas.openxmlformats.org/drawingml/2006/main">
              <a:ext uri="{FF2B5EF4-FFF2-40B4-BE49-F238E27FC236}">
                <a16:creationId xmlns:a16="http://schemas.microsoft.com/office/drawing/2014/main" id="{0703B76F-6543-4F0E-A490-F7C6B1551FA7}"/>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the shared threshold</a:t>
            </a:r>
          </a:p>
        </p:txBody>
      </p:sp>
      <p:sp>
        <p:nvSpPr>
          <p:cNvPr id="36" name="Extra: 0. Missed: 0.">
            <a:extLst xmlns:a="http://schemas.openxmlformats.org/drawingml/2006/main">
              <a:ext uri="{FF2B5EF4-FFF2-40B4-BE49-F238E27FC236}">
                <a16:creationId xmlns:a16="http://schemas.microsoft.com/office/drawing/2014/main" id="{AE9FD4D9-6B43-405D-866E-A370AD70456E}"/>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405017297"/>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Statistics: phone_M2">
            <a:extLst xmlns:a="http://schemas.openxmlformats.org/drawingml/2006/main">
              <a:ext uri="{FF2B5EF4-FFF2-40B4-BE49-F238E27FC236}">
                <a16:creationId xmlns:a16="http://schemas.microsoft.com/office/drawing/2014/main" id="{AB2F4328-4D0B-4CA3-B3B4-0D73E381C4E9}"/>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phone_M2</a:t>
            </a:r>
          </a:p>
        </p:txBody>
      </p:sp>
      <p:sp>
        <p:nvSpPr>
          <p:cNvPr id="2" name="MAE 5 ms">
            <a:extLst xmlns:a="http://schemas.openxmlformats.org/drawingml/2006/main">
              <a:ext uri="{FF2B5EF4-FFF2-40B4-BE49-F238E27FC236}">
                <a16:creationId xmlns:a16="http://schemas.microsoft.com/office/drawing/2014/main" id="{73E9785B-1186-47BD-86CB-A822943F58CF}"/>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5 ms</a:t>
            </a:r>
          </a:p>
        </p:txBody>
      </p:sp>
      <p:sp>
        <p:nvSpPr>
          <p:cNvPr id="3" name="Start matches. End 10 ms early.">
            <a:extLst xmlns:a="http://schemas.openxmlformats.org/drawingml/2006/main">
              <a:ext uri="{FF2B5EF4-FFF2-40B4-BE49-F238E27FC236}">
                <a16:creationId xmlns:a16="http://schemas.microsoft.com/office/drawing/2014/main" id="{36D39276-D907-4698-AE19-62E01F04F278}"/>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matches.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3a18a8adc574b85"/>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260fe8c4324448b"/>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b90519d03004c59"/>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75EFAAEE-59C7-4F0E-B203-D6931BF5621F}"/>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7DD713D8-624D-42B2-8490-7046677916D8}"/>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AB3EF268-650A-4ABB-9480-7B2BD72B7324}"/>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6829D4F6-0E16-4E68-A770-4CFCA3D99123}"/>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B0A16AA8-9450-4978-BD46-5B4CF3339ED7}"/>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CC183FD7-59AF-474D-88AD-108A8BAF09A2}"/>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9DD247A4-82FA-4E35-82A8-2DE66E573852}"/>
              </a:ext>
            </a:extLst>
          </p:cNvPr>
          <p:cNvSpPr>
            <a:spLocks xmlns:a="http://schemas.openxmlformats.org/drawingml/2006/main" noGrp="1"/>
          </p:cNvSpPr>
          <p:nvPr/>
        </p:nvSpPr>
        <p:spPr>
          <a:xfrm xmlns:a="http://schemas.openxmlformats.org/drawingml/2006/main">
            <a:off x="4806043"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6F95A5A8-D163-48BA-B6CA-F2CA6E458B85}"/>
              </a:ext>
            </a:extLst>
          </p:cNvPr>
          <p:cNvSpPr>
            <a:spLocks xmlns:a="http://schemas.openxmlformats.org/drawingml/2006/main" noGrp="1"/>
          </p:cNvSpPr>
          <p:nvPr/>
        </p:nvSpPr>
        <p:spPr>
          <a:xfrm xmlns:a="http://schemas.openxmlformats.org/drawingml/2006/main">
            <a:off x="860243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C44A8B4D-99D6-4F3E-AEC8-AB05D2A9FC26}"/>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B1940221-D856-4CFC-A4D8-952B0B0AB2A7}"/>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79687FC9-2AF4-4867-B742-A10D58747ABA}"/>
              </a:ext>
            </a:extLst>
          </p:cNvPr>
          <p:cNvSpPr>
            <a:spLocks xmlns:a="http://schemas.openxmlformats.org/drawingml/2006/main" noGrp="1"/>
          </p:cNvSpPr>
          <p:nvPr/>
        </p:nvSpPr>
        <p:spPr>
          <a:xfrm xmlns:a="http://schemas.openxmlformats.org/drawingml/2006/main">
            <a:off x="4806043"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3187BFA7-AE60-4CD8-852B-E39FC913410F}"/>
              </a:ext>
            </a:extLst>
          </p:cNvPr>
          <p:cNvSpPr>
            <a:spLocks xmlns:a="http://schemas.openxmlformats.org/drawingml/2006/main" noGrp="1"/>
          </p:cNvSpPr>
          <p:nvPr/>
        </p:nvSpPr>
        <p:spPr>
          <a:xfrm xmlns:a="http://schemas.openxmlformats.org/drawingml/2006/main">
            <a:off x="860243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0DC175CB-397E-4FF7-B47C-97F99D14EDFC}"/>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1B6877A9-3C86-44F7-B97F-72C748A67988}"/>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31C8E9D0-252E-47FB-B722-D4C4966FEDD5}"/>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E6DF6A0C-ABFB-4510-B768-79DE77F1756B}"/>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AC1EF2B1-7DCD-405B-93CF-9D68CD28038B}"/>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6451CA4B-8CC4-4909-AD48-A10782658A03}"/>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8FA481A6-39D7-4BF5-A893-1EB130780ECD}"/>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9110E8B2-BAF1-467D-A5EF-A536526D5230}"/>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2EEA13A1-9967-4BED-B263-06E4C25A639F}"/>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82A0DBA2-3E38-442C-A256-3A6B9D87AF0D}"/>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8FB1EBCB-7867-4468-A0DF-E5FF49387E31}"/>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02A1FD19-9B58-4F60-AF8D-D093EBB25AF8}"/>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289661184"/>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4" name="Statistics: studio_F2">
            <a:extLst xmlns:a="http://schemas.openxmlformats.org/drawingml/2006/main">
              <a:ext uri="{FF2B5EF4-FFF2-40B4-BE49-F238E27FC236}">
                <a16:creationId xmlns:a16="http://schemas.microsoft.com/office/drawing/2014/main" id="{36F25362-5CCC-432B-B97C-A0D47FDB88F2}"/>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studio_F2</a:t>
            </a:r>
          </a:p>
        </p:txBody>
      </p:sp>
      <p:sp>
        <p:nvSpPr>
          <p:cNvPr id="2" name="MAE 15 ms">
            <a:extLst xmlns:a="http://schemas.openxmlformats.org/drawingml/2006/main">
              <a:ext uri="{FF2B5EF4-FFF2-40B4-BE49-F238E27FC236}">
                <a16:creationId xmlns:a16="http://schemas.microsoft.com/office/drawing/2014/main" id="{09FFB71B-AFD2-47CE-AD7C-EF1C3859C628}"/>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15 ms</a:t>
            </a:r>
          </a:p>
        </p:txBody>
      </p:sp>
      <p:sp>
        <p:nvSpPr>
          <p:cNvPr id="3" name="Start 10 ms early. End 20 ms early.">
            <a:extLst xmlns:a="http://schemas.openxmlformats.org/drawingml/2006/main">
              <a:ext uri="{FF2B5EF4-FFF2-40B4-BE49-F238E27FC236}">
                <a16:creationId xmlns:a16="http://schemas.microsoft.com/office/drawing/2014/main" id="{09B41C7B-4B37-4CC0-9442-667CC9088985}"/>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early. End 20 ms early.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b57eae430884f6f"/>
          <a:stretch xmlns:a="http://schemas.openxmlformats.org/drawingml/2006/main"/>
        </p:blipFill>
        <p:spPr>
          <a:xfrm xmlns:a="http://schemas.openxmlformats.org/drawingml/2006/main">
            <a:off x="1162050" y="1466850"/>
            <a:ext cx="10629900" cy="1092793"/>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f289d69e58b49a5"/>
          <a:stretch xmlns:a="http://schemas.openxmlformats.org/drawingml/2006/main"/>
        </p:blipFill>
        <p:spPr>
          <a:xfrm xmlns:a="http://schemas.openxmlformats.org/drawingml/2006/main">
            <a:off x="1162050" y="3171825"/>
            <a:ext cx="10629900" cy="1355348"/>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d6490ad91c7454d"/>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F4BF72D0-23F8-45F1-B452-F71DAB26C797}"/>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638A511F-ADD4-4231-BB1F-C1B6C0DF5166}"/>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44DEA0FF-17DB-413F-926C-BD35D3480757}"/>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D08DB676-CC66-4AE2-825D-FC1B17B43985}"/>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4FAA179C-39E3-4CF4-B4E9-97B91C540B23}"/>
              </a:ext>
            </a:extLst>
          </p:cNvPr>
          <p:cNvSpPr>
            <a:spLocks xmlns:a="http://schemas.openxmlformats.org/drawingml/2006/main" noGrp="1"/>
          </p:cNvSpPr>
          <p:nvPr/>
        </p:nvSpPr>
        <p:spPr>
          <a:xfrm xmlns:a="http://schemas.openxmlformats.org/drawingml/2006/main">
            <a:off x="323850" y="257869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257667AC-B365-40DD-8644-C05367AD9547}"/>
              </a:ext>
            </a:extLst>
          </p:cNvPr>
          <p:cNvSpPr>
            <a:spLocks xmlns:a="http://schemas.openxmlformats.org/drawingml/2006/main" noGrp="1"/>
          </p:cNvSpPr>
          <p:nvPr/>
        </p:nvSpPr>
        <p:spPr>
          <a:xfrm xmlns:a="http://schemas.openxmlformats.org/drawingml/2006/main">
            <a:off x="100965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AF341AB0-D298-4A48-A329-67CB1AD6DA39}"/>
              </a:ext>
            </a:extLst>
          </p:cNvPr>
          <p:cNvSpPr>
            <a:spLocks xmlns:a="http://schemas.openxmlformats.org/drawingml/2006/main" noGrp="1"/>
          </p:cNvSpPr>
          <p:nvPr/>
        </p:nvSpPr>
        <p:spPr>
          <a:xfrm xmlns:a="http://schemas.openxmlformats.org/drawingml/2006/main">
            <a:off x="438478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6DA11FF2-31BC-4536-A20B-FB5A7F9908F9}"/>
              </a:ext>
            </a:extLst>
          </p:cNvPr>
          <p:cNvSpPr>
            <a:spLocks xmlns:a="http://schemas.openxmlformats.org/drawingml/2006/main" noGrp="1"/>
          </p:cNvSpPr>
          <p:nvPr/>
        </p:nvSpPr>
        <p:spPr>
          <a:xfrm xmlns:a="http://schemas.openxmlformats.org/drawingml/2006/main">
            <a:off x="7759910"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3">
            <a:extLst xmlns:a="http://schemas.openxmlformats.org/drawingml/2006/main">
              <a:ext uri="{FF2B5EF4-FFF2-40B4-BE49-F238E27FC236}">
                <a16:creationId xmlns:a16="http://schemas.microsoft.com/office/drawing/2014/main" id="{6C336487-CF8D-4E1C-9855-4C0D25A2D1E5}"/>
              </a:ext>
            </a:extLst>
          </p:cNvPr>
          <p:cNvSpPr>
            <a:spLocks xmlns:a="http://schemas.openxmlformats.org/drawingml/2006/main" noGrp="1"/>
          </p:cNvSpPr>
          <p:nvPr/>
        </p:nvSpPr>
        <p:spPr>
          <a:xfrm xmlns:a="http://schemas.openxmlformats.org/drawingml/2006/main">
            <a:off x="11135041" y="257869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16" name="t (s)">
            <a:extLst xmlns:a="http://schemas.openxmlformats.org/drawingml/2006/main">
              <a:ext uri="{FF2B5EF4-FFF2-40B4-BE49-F238E27FC236}">
                <a16:creationId xmlns:a16="http://schemas.microsoft.com/office/drawing/2014/main" id="{C2B7A284-5DD1-40B2-97AD-444E64636982}"/>
              </a:ext>
            </a:extLst>
          </p:cNvPr>
          <p:cNvSpPr>
            <a:spLocks xmlns:a="http://schemas.openxmlformats.org/drawingml/2006/main" noGrp="1"/>
          </p:cNvSpPr>
          <p:nvPr/>
        </p:nvSpPr>
        <p:spPr>
          <a:xfrm xmlns:a="http://schemas.openxmlformats.org/drawingml/2006/main">
            <a:off x="323850" y="45462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7" name="0">
            <a:extLst xmlns:a="http://schemas.openxmlformats.org/drawingml/2006/main">
              <a:ext uri="{FF2B5EF4-FFF2-40B4-BE49-F238E27FC236}">
                <a16:creationId xmlns:a16="http://schemas.microsoft.com/office/drawing/2014/main" id="{392638B8-C914-4A88-9074-8065F0DEB00D}"/>
              </a:ext>
            </a:extLst>
          </p:cNvPr>
          <p:cNvSpPr>
            <a:spLocks xmlns:a="http://schemas.openxmlformats.org/drawingml/2006/main" noGrp="1"/>
          </p:cNvSpPr>
          <p:nvPr/>
        </p:nvSpPr>
        <p:spPr>
          <a:xfrm xmlns:a="http://schemas.openxmlformats.org/drawingml/2006/main">
            <a:off x="100965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8" name="1">
            <a:extLst xmlns:a="http://schemas.openxmlformats.org/drawingml/2006/main">
              <a:ext uri="{FF2B5EF4-FFF2-40B4-BE49-F238E27FC236}">
                <a16:creationId xmlns:a16="http://schemas.microsoft.com/office/drawing/2014/main" id="{762329F5-47A9-4F9D-8021-6F620E00DBA2}"/>
              </a:ext>
            </a:extLst>
          </p:cNvPr>
          <p:cNvSpPr>
            <a:spLocks xmlns:a="http://schemas.openxmlformats.org/drawingml/2006/main" noGrp="1"/>
          </p:cNvSpPr>
          <p:nvPr/>
        </p:nvSpPr>
        <p:spPr>
          <a:xfrm xmlns:a="http://schemas.openxmlformats.org/drawingml/2006/main">
            <a:off x="438478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9" name="2">
            <a:extLst xmlns:a="http://schemas.openxmlformats.org/drawingml/2006/main">
              <a:ext uri="{FF2B5EF4-FFF2-40B4-BE49-F238E27FC236}">
                <a16:creationId xmlns:a16="http://schemas.microsoft.com/office/drawing/2014/main" id="{B8D7F139-3594-43A5-B3E5-80C783B9586E}"/>
              </a:ext>
            </a:extLst>
          </p:cNvPr>
          <p:cNvSpPr>
            <a:spLocks xmlns:a="http://schemas.openxmlformats.org/drawingml/2006/main" noGrp="1"/>
          </p:cNvSpPr>
          <p:nvPr/>
        </p:nvSpPr>
        <p:spPr>
          <a:xfrm xmlns:a="http://schemas.openxmlformats.org/drawingml/2006/main">
            <a:off x="7759910"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0" name="3">
            <a:extLst xmlns:a="http://schemas.openxmlformats.org/drawingml/2006/main">
              <a:ext uri="{FF2B5EF4-FFF2-40B4-BE49-F238E27FC236}">
                <a16:creationId xmlns:a16="http://schemas.microsoft.com/office/drawing/2014/main" id="{454DF7FE-6660-4D2B-80B9-E9C98E70E04F}"/>
              </a:ext>
            </a:extLst>
          </p:cNvPr>
          <p:cNvSpPr>
            <a:spLocks xmlns:a="http://schemas.openxmlformats.org/drawingml/2006/main" noGrp="1"/>
          </p:cNvSpPr>
          <p:nvPr/>
        </p:nvSpPr>
        <p:spPr>
          <a:xfrm xmlns:a="http://schemas.openxmlformats.org/drawingml/2006/main">
            <a:off x="11135041" y="45462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1" name="t (s)">
            <a:extLst xmlns:a="http://schemas.openxmlformats.org/drawingml/2006/main">
              <a:ext uri="{FF2B5EF4-FFF2-40B4-BE49-F238E27FC236}">
                <a16:creationId xmlns:a16="http://schemas.microsoft.com/office/drawing/2014/main" id="{C9974804-2677-48D4-8548-44A47C794AF6}"/>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2" name="0">
            <a:extLst xmlns:a="http://schemas.openxmlformats.org/drawingml/2006/main">
              <a:ext uri="{FF2B5EF4-FFF2-40B4-BE49-F238E27FC236}">
                <a16:creationId xmlns:a16="http://schemas.microsoft.com/office/drawing/2014/main" id="{31CB9039-14C8-4AA4-9E08-C032EA2E7A24}"/>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3" name="1">
            <a:extLst xmlns:a="http://schemas.openxmlformats.org/drawingml/2006/main">
              <a:ext uri="{FF2B5EF4-FFF2-40B4-BE49-F238E27FC236}">
                <a16:creationId xmlns:a16="http://schemas.microsoft.com/office/drawing/2014/main" id="{06CA49C3-AB2E-42C6-BEFC-ED17F42A16D0}"/>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4" name="2">
            <a:extLst xmlns:a="http://schemas.openxmlformats.org/drawingml/2006/main">
              <a:ext uri="{FF2B5EF4-FFF2-40B4-BE49-F238E27FC236}">
                <a16:creationId xmlns:a16="http://schemas.microsoft.com/office/drawing/2014/main" id="{26F53A67-5C65-430F-8E81-835F72E0C644}"/>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5" name="3">
            <a:extLst xmlns:a="http://schemas.openxmlformats.org/drawingml/2006/main">
              <a:ext uri="{FF2B5EF4-FFF2-40B4-BE49-F238E27FC236}">
                <a16:creationId xmlns:a16="http://schemas.microsoft.com/office/drawing/2014/main" id="{71243849-6B1B-4236-BB28-A477F07BDB83}"/>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3</a:t>
            </a:r>
          </a:p>
        </p:txBody>
      </p:sp>
      <p:sp>
        <p:nvSpPr>
          <p:cNvPr id="26" name="F0 (Hz)">
            <a:extLst xmlns:a="http://schemas.openxmlformats.org/drawingml/2006/main">
              <a:ext uri="{FF2B5EF4-FFF2-40B4-BE49-F238E27FC236}">
                <a16:creationId xmlns:a16="http://schemas.microsoft.com/office/drawing/2014/main" id="{4AD7D0D9-7D2F-4DDA-9AD0-1ED32F5398DB}"/>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7" name="100">
            <a:extLst xmlns:a="http://schemas.openxmlformats.org/drawingml/2006/main">
              <a:ext uri="{FF2B5EF4-FFF2-40B4-BE49-F238E27FC236}">
                <a16:creationId xmlns:a16="http://schemas.microsoft.com/office/drawing/2014/main" id="{4DD9E2D7-185A-44E9-857E-694B5C188940}"/>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8" name="200">
            <a:extLst xmlns:a="http://schemas.openxmlformats.org/drawingml/2006/main">
              <a:ext uri="{FF2B5EF4-FFF2-40B4-BE49-F238E27FC236}">
                <a16:creationId xmlns:a16="http://schemas.microsoft.com/office/drawing/2014/main" id="{6CF8DF69-5E67-4C2B-BB29-608840133A83}"/>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9" name="300">
            <a:extLst xmlns:a="http://schemas.openxmlformats.org/drawingml/2006/main">
              <a:ext uri="{FF2B5EF4-FFF2-40B4-BE49-F238E27FC236}">
                <a16:creationId xmlns:a16="http://schemas.microsoft.com/office/drawing/2014/main" id="{BEA88105-0439-4926-AF6A-CA2C97732010}"/>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30" name="400">
            <a:extLst xmlns:a="http://schemas.openxmlformats.org/drawingml/2006/main">
              <a:ext uri="{FF2B5EF4-FFF2-40B4-BE49-F238E27FC236}">
                <a16:creationId xmlns:a16="http://schemas.microsoft.com/office/drawing/2014/main" id="{BBEB8E5E-2CBA-4330-A694-5D740B4DB96E}"/>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31" name="Onset window includes speech.">
            <a:extLst xmlns:a="http://schemas.openxmlformats.org/drawingml/2006/main">
              <a:ext uri="{FF2B5EF4-FFF2-40B4-BE49-F238E27FC236}">
                <a16:creationId xmlns:a16="http://schemas.microsoft.com/office/drawing/2014/main" id="{5CC2B5C7-D244-4286-BE7D-5E4ABEF89803}"/>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Onset window includes speech.</a:t>
            </a:r>
          </a:p>
        </p:txBody>
      </p:sp>
      <p:sp>
        <p:nvSpPr>
          <p:cNvPr id="32" name="Tail energy falls below T.">
            <a:extLst xmlns:a="http://schemas.openxmlformats.org/drawingml/2006/main">
              <a:ext uri="{FF2B5EF4-FFF2-40B4-BE49-F238E27FC236}">
                <a16:creationId xmlns:a16="http://schemas.microsoft.com/office/drawing/2014/main" id="{5091B36A-C729-481A-98AE-EAEB3B99A4A8}"/>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Tail energy falls below T.</a:t>
            </a:r>
          </a:p>
        </p:txBody>
      </p:sp>
      <p:sp>
        <p:nvSpPr>
          <p:cNvPr id="33" name="Extra: 0. Missed: 0.">
            <a:extLst xmlns:a="http://schemas.openxmlformats.org/drawingml/2006/main">
              <a:ext uri="{FF2B5EF4-FFF2-40B4-BE49-F238E27FC236}">
                <a16:creationId xmlns:a16="http://schemas.microsoft.com/office/drawing/2014/main" id="{8498F526-8875-4250-820B-CECEEDA35295}"/>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527999531"/>
      </p:ext>
    </p:extLst>
  </p:cSld>
</p:sld>
</file>

<file path=ppt/slides/slide2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Statistics: studio_M2">
            <a:extLst xmlns:a="http://schemas.openxmlformats.org/drawingml/2006/main">
              <a:ext uri="{FF2B5EF4-FFF2-40B4-BE49-F238E27FC236}">
                <a16:creationId xmlns:a16="http://schemas.microsoft.com/office/drawing/2014/main" id="{63926CF6-9AF4-41B5-A5F4-C82C8B1F34B2}"/>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5363D"/>
                </a:solidFill>
                <a:latin typeface="Lato"/>
                <a:ea typeface="Lato"/>
                <a:cs typeface="Lato"/>
              </a:defRPr>
            </a:pPr>
            <a:r>
              <a:rPr sz="3150" b="1">
                <a:solidFill>
                  <a:srgbClr val="15363D"/>
                </a:solidFill>
                <a:latin typeface="Lato"/>
                <a:ea typeface="Lato"/>
                <a:cs typeface="Lato"/>
              </a:rPr>
              <a:t>Statistics: studio_M2</a:t>
            </a:r>
          </a:p>
        </p:txBody>
      </p:sp>
      <p:sp>
        <p:nvSpPr>
          <p:cNvPr id="2" name="MAE 10 ms">
            <a:extLst xmlns:a="http://schemas.openxmlformats.org/drawingml/2006/main">
              <a:ext uri="{FF2B5EF4-FFF2-40B4-BE49-F238E27FC236}">
                <a16:creationId xmlns:a16="http://schemas.microsoft.com/office/drawing/2014/main" id="{21491CC2-02D8-4799-A385-A87E3322BDB6}"/>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087F78"/>
                </a:solidFill>
                <a:latin typeface="Lato"/>
                <a:ea typeface="Lato"/>
                <a:cs typeface="Lato"/>
              </a:defRPr>
            </a:pPr>
            <a:r>
              <a:rPr sz="2850" b="1">
                <a:solidFill>
                  <a:srgbClr val="087F78"/>
                </a:solidFill>
                <a:latin typeface="Lato"/>
                <a:ea typeface="Lato"/>
                <a:cs typeface="Lato"/>
              </a:rPr>
              <a:t>MAE 10 ms</a:t>
            </a:r>
          </a:p>
        </p:txBody>
      </p:sp>
      <p:sp>
        <p:nvSpPr>
          <p:cNvPr id="3" name="Start 10 ms late. End 10 ms early.">
            <a:extLst xmlns:a="http://schemas.openxmlformats.org/drawingml/2006/main">
              <a:ext uri="{FF2B5EF4-FFF2-40B4-BE49-F238E27FC236}">
                <a16:creationId xmlns:a16="http://schemas.microsoft.com/office/drawing/2014/main" id="{B86330D9-5358-444F-AD37-2F22DEB3EC5F}"/>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52656A"/>
                </a:solidFill>
                <a:latin typeface="Lato"/>
                <a:ea typeface="Lato"/>
                <a:cs typeface="Lato"/>
              </a:defRPr>
            </a:pPr>
            <a:r>
              <a:rPr sz="2100" b="0">
                <a:solidFill>
                  <a:srgbClr val="52656A"/>
                </a:solidFill>
                <a:latin typeface="Lato"/>
                <a:ea typeface="Lato"/>
                <a:cs typeface="Lato"/>
              </a:rPr>
              <a:t>Start 10 ms late. End 10 ms early.</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1819cb08d33413f"/>
          <a:stretch xmlns:a="http://schemas.openxmlformats.org/drawingml/2006/main"/>
        </p:blipFill>
        <p:spPr>
          <a:xfrm xmlns:a="http://schemas.openxmlformats.org/drawingml/2006/main">
            <a:off x="1162050" y="1466850"/>
            <a:ext cx="10629900" cy="108915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59476a151ff4171"/>
          <a:stretch xmlns:a="http://schemas.openxmlformats.org/drawingml/2006/main"/>
        </p:blipFill>
        <p:spPr>
          <a:xfrm xmlns:a="http://schemas.openxmlformats.org/drawingml/2006/main">
            <a:off x="1162050" y="3171825"/>
            <a:ext cx="10629900" cy="1350839"/>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9b68d8a4ff34b9f"/>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7" name="Amplitude">
            <a:extLst xmlns:a="http://schemas.openxmlformats.org/drawingml/2006/main">
              <a:ext uri="{FF2B5EF4-FFF2-40B4-BE49-F238E27FC236}">
                <a16:creationId xmlns:a16="http://schemas.microsoft.com/office/drawing/2014/main" id="{51BA3EA9-7A5D-44E0-91DC-9A196CB298AC}"/>
              </a:ext>
            </a:extLst>
          </p:cNvPr>
          <p:cNvSpPr>
            <a:spLocks xmlns:a="http://schemas.openxmlformats.org/drawingml/2006/main" noGrp="1"/>
          </p:cNvSpPr>
          <p:nvPr/>
        </p:nvSpPr>
        <p:spPr>
          <a:xfrm xmlns:a="http://schemas.openxmlformats.org/drawingml/2006/main">
            <a:off x="76200" y="17716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Amplitude</a:t>
            </a:r>
          </a:p>
        </p:txBody>
      </p:sp>
      <p:sp>
        <p:nvSpPr>
          <p:cNvPr id="8" name="STE">
            <a:extLst xmlns:a="http://schemas.openxmlformats.org/drawingml/2006/main">
              <a:ext uri="{FF2B5EF4-FFF2-40B4-BE49-F238E27FC236}">
                <a16:creationId xmlns:a16="http://schemas.microsoft.com/office/drawing/2014/main" id="{A64B1AB6-A128-4134-911F-406988E9C93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2656A"/>
                </a:solidFill>
                <a:latin typeface="Lato"/>
                <a:ea typeface="Lato"/>
                <a:cs typeface="Lato"/>
              </a:defRPr>
            </a:pPr>
            <a:r>
              <a:rPr sz="1800" b="0">
                <a:solidFill>
                  <a:srgbClr val="52656A"/>
                </a:solidFill>
                <a:latin typeface="Lato"/>
                <a:ea typeface="Lato"/>
                <a:cs typeface="Lato"/>
              </a:rPr>
              <a:t>STE</a:t>
            </a:r>
          </a:p>
        </p:txBody>
      </p:sp>
      <p:sp>
        <p:nvSpPr>
          <p:cNvPr id="9" name="Normalized STE">
            <a:extLst xmlns:a="http://schemas.openxmlformats.org/drawingml/2006/main">
              <a:ext uri="{FF2B5EF4-FFF2-40B4-BE49-F238E27FC236}">
                <a16:creationId xmlns:a16="http://schemas.microsoft.com/office/drawing/2014/main" id="{35368725-00C2-4EB2-A484-1BEE16D9CDD9}"/>
              </a:ext>
            </a:extLst>
          </p:cNvPr>
          <p:cNvSpPr>
            <a:spLocks xmlns:a="http://schemas.openxmlformats.org/drawingml/2006/main" noGrp="1"/>
          </p:cNvSpPr>
          <p:nvPr/>
        </p:nvSpPr>
        <p:spPr>
          <a:xfrm xmlns:a="http://schemas.openxmlformats.org/drawingml/2006/main">
            <a:off x="11715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15363D"/>
                </a:solidFill>
                <a:latin typeface="Lato"/>
                <a:ea typeface="Lato"/>
                <a:cs typeface="Lato"/>
              </a:defRPr>
            </a:pPr>
            <a:r>
              <a:rPr sz="1800" b="0">
                <a:solidFill>
                  <a:srgbClr val="15363D"/>
                </a:solidFill>
                <a:latin typeface="Lato"/>
                <a:ea typeface="Lato"/>
                <a:cs typeface="Lato"/>
              </a:rPr>
              <a:t>Normalized STE</a:t>
            </a:r>
          </a:p>
        </p:txBody>
      </p:sp>
      <p:sp>
        <p:nvSpPr>
          <p:cNvPr id="10" name="T = 0.0027634166">
            <a:extLst xmlns:a="http://schemas.openxmlformats.org/drawingml/2006/main">
              <a:ext uri="{FF2B5EF4-FFF2-40B4-BE49-F238E27FC236}">
                <a16:creationId xmlns:a16="http://schemas.microsoft.com/office/drawing/2014/main" id="{67B3AA89-1F55-4F15-A4D6-03ED92DD1DCB}"/>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087F78"/>
                </a:solidFill>
                <a:latin typeface="Lato"/>
                <a:ea typeface="Lato"/>
                <a:cs typeface="Lato"/>
              </a:defRPr>
            </a:pPr>
            <a:r>
              <a:rPr sz="1800" b="1">
                <a:solidFill>
                  <a:srgbClr val="087F78"/>
                </a:solidFill>
                <a:latin typeface="Lato"/>
                <a:ea typeface="Lato"/>
                <a:cs typeface="Lato"/>
              </a:rPr>
              <a:t>T = 0.0027634166</a:t>
            </a:r>
          </a:p>
        </p:txBody>
      </p:sp>
      <p:sp>
        <p:nvSpPr>
          <p:cNvPr id="11" name="t (s)">
            <a:extLst xmlns:a="http://schemas.openxmlformats.org/drawingml/2006/main">
              <a:ext uri="{FF2B5EF4-FFF2-40B4-BE49-F238E27FC236}">
                <a16:creationId xmlns:a16="http://schemas.microsoft.com/office/drawing/2014/main" id="{ECC82789-F3F5-459B-8E20-DA46A9891B09}"/>
              </a:ext>
            </a:extLst>
          </p:cNvPr>
          <p:cNvSpPr>
            <a:spLocks xmlns:a="http://schemas.openxmlformats.org/drawingml/2006/main" noGrp="1"/>
          </p:cNvSpPr>
          <p:nvPr/>
        </p:nvSpPr>
        <p:spPr>
          <a:xfrm xmlns:a="http://schemas.openxmlformats.org/drawingml/2006/main">
            <a:off x="323850" y="257505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2" name="0">
            <a:extLst xmlns:a="http://schemas.openxmlformats.org/drawingml/2006/main">
              <a:ext uri="{FF2B5EF4-FFF2-40B4-BE49-F238E27FC236}">
                <a16:creationId xmlns:a16="http://schemas.microsoft.com/office/drawing/2014/main" id="{5C1A343B-2327-4704-A15D-44A75E460668}"/>
              </a:ext>
            </a:extLst>
          </p:cNvPr>
          <p:cNvSpPr>
            <a:spLocks xmlns:a="http://schemas.openxmlformats.org/drawingml/2006/main" noGrp="1"/>
          </p:cNvSpPr>
          <p:nvPr/>
        </p:nvSpPr>
        <p:spPr>
          <a:xfrm xmlns:a="http://schemas.openxmlformats.org/drawingml/2006/main">
            <a:off x="1009650"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3" name="1">
            <a:extLst xmlns:a="http://schemas.openxmlformats.org/drawingml/2006/main">
              <a:ext uri="{FF2B5EF4-FFF2-40B4-BE49-F238E27FC236}">
                <a16:creationId xmlns:a16="http://schemas.microsoft.com/office/drawing/2014/main" id="{395A8756-2E20-44CD-90D0-53A72791950C}"/>
              </a:ext>
            </a:extLst>
          </p:cNvPr>
          <p:cNvSpPr>
            <a:spLocks xmlns:a="http://schemas.openxmlformats.org/drawingml/2006/main" noGrp="1"/>
          </p:cNvSpPr>
          <p:nvPr/>
        </p:nvSpPr>
        <p:spPr>
          <a:xfrm xmlns:a="http://schemas.openxmlformats.org/drawingml/2006/main">
            <a:off x="5472508"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4" name="2">
            <a:extLst xmlns:a="http://schemas.openxmlformats.org/drawingml/2006/main">
              <a:ext uri="{FF2B5EF4-FFF2-40B4-BE49-F238E27FC236}">
                <a16:creationId xmlns:a16="http://schemas.microsoft.com/office/drawing/2014/main" id="{652D0F80-3B78-4B06-A705-02518B23FE2E}"/>
              </a:ext>
            </a:extLst>
          </p:cNvPr>
          <p:cNvSpPr>
            <a:spLocks xmlns:a="http://schemas.openxmlformats.org/drawingml/2006/main" noGrp="1"/>
          </p:cNvSpPr>
          <p:nvPr/>
        </p:nvSpPr>
        <p:spPr>
          <a:xfrm xmlns:a="http://schemas.openxmlformats.org/drawingml/2006/main">
            <a:off x="9935366" y="257505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5" name="t (s)">
            <a:extLst xmlns:a="http://schemas.openxmlformats.org/drawingml/2006/main">
              <a:ext uri="{FF2B5EF4-FFF2-40B4-BE49-F238E27FC236}">
                <a16:creationId xmlns:a16="http://schemas.microsoft.com/office/drawing/2014/main" id="{4628F8BC-7B97-4B8B-8642-9C7415F250B4}"/>
              </a:ext>
            </a:extLst>
          </p:cNvPr>
          <p:cNvSpPr>
            <a:spLocks xmlns:a="http://schemas.openxmlformats.org/drawingml/2006/main" noGrp="1"/>
          </p:cNvSpPr>
          <p:nvPr/>
        </p:nvSpPr>
        <p:spPr>
          <a:xfrm xmlns:a="http://schemas.openxmlformats.org/drawingml/2006/main">
            <a:off x="323850" y="4541714"/>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16" name="0">
            <a:extLst xmlns:a="http://schemas.openxmlformats.org/drawingml/2006/main">
              <a:ext uri="{FF2B5EF4-FFF2-40B4-BE49-F238E27FC236}">
                <a16:creationId xmlns:a16="http://schemas.microsoft.com/office/drawing/2014/main" id="{A0832CA0-62D8-413D-8175-5ACA34F17EE3}"/>
              </a:ext>
            </a:extLst>
          </p:cNvPr>
          <p:cNvSpPr>
            <a:spLocks xmlns:a="http://schemas.openxmlformats.org/drawingml/2006/main" noGrp="1"/>
          </p:cNvSpPr>
          <p:nvPr/>
        </p:nvSpPr>
        <p:spPr>
          <a:xfrm xmlns:a="http://schemas.openxmlformats.org/drawingml/2006/main">
            <a:off x="1009650"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17" name="1">
            <a:extLst xmlns:a="http://schemas.openxmlformats.org/drawingml/2006/main">
              <a:ext uri="{FF2B5EF4-FFF2-40B4-BE49-F238E27FC236}">
                <a16:creationId xmlns:a16="http://schemas.microsoft.com/office/drawing/2014/main" id="{8A0DD6E8-629C-4D14-B307-6C4B61391837}"/>
              </a:ext>
            </a:extLst>
          </p:cNvPr>
          <p:cNvSpPr>
            <a:spLocks xmlns:a="http://schemas.openxmlformats.org/drawingml/2006/main" noGrp="1"/>
          </p:cNvSpPr>
          <p:nvPr/>
        </p:nvSpPr>
        <p:spPr>
          <a:xfrm xmlns:a="http://schemas.openxmlformats.org/drawingml/2006/main">
            <a:off x="5472508"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18" name="2">
            <a:extLst xmlns:a="http://schemas.openxmlformats.org/drawingml/2006/main">
              <a:ext uri="{FF2B5EF4-FFF2-40B4-BE49-F238E27FC236}">
                <a16:creationId xmlns:a16="http://schemas.microsoft.com/office/drawing/2014/main" id="{82686918-74C8-47E0-944E-6B9EA3CB0A2C}"/>
              </a:ext>
            </a:extLst>
          </p:cNvPr>
          <p:cNvSpPr>
            <a:spLocks xmlns:a="http://schemas.openxmlformats.org/drawingml/2006/main" noGrp="1"/>
          </p:cNvSpPr>
          <p:nvPr/>
        </p:nvSpPr>
        <p:spPr>
          <a:xfrm xmlns:a="http://schemas.openxmlformats.org/drawingml/2006/main">
            <a:off x="9935366" y="4541714"/>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19" name="t (s)">
            <a:extLst xmlns:a="http://schemas.openxmlformats.org/drawingml/2006/main">
              <a:ext uri="{FF2B5EF4-FFF2-40B4-BE49-F238E27FC236}">
                <a16:creationId xmlns:a16="http://schemas.microsoft.com/office/drawing/2014/main" id="{B3E72942-10C6-4F82-AB9F-1F2307E969BF}"/>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t (s)</a:t>
            </a:r>
          </a:p>
        </p:txBody>
      </p:sp>
      <p:sp>
        <p:nvSpPr>
          <p:cNvPr id="20" name="0">
            <a:extLst xmlns:a="http://schemas.openxmlformats.org/drawingml/2006/main">
              <a:ext uri="{FF2B5EF4-FFF2-40B4-BE49-F238E27FC236}">
                <a16:creationId xmlns:a16="http://schemas.microsoft.com/office/drawing/2014/main" id="{54FB8B72-3045-4244-B45D-490F4BC95BE8}"/>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0</a:t>
            </a:r>
          </a:p>
        </p:txBody>
      </p:sp>
      <p:sp>
        <p:nvSpPr>
          <p:cNvPr id="21" name="1">
            <a:extLst xmlns:a="http://schemas.openxmlformats.org/drawingml/2006/main">
              <a:ext uri="{FF2B5EF4-FFF2-40B4-BE49-F238E27FC236}">
                <a16:creationId xmlns:a16="http://schemas.microsoft.com/office/drawing/2014/main" id="{2667A8A4-BC1A-4FE5-A4CA-C864907D5FE3}"/>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1</a:t>
            </a:r>
          </a:p>
        </p:txBody>
      </p:sp>
      <p:sp>
        <p:nvSpPr>
          <p:cNvPr id="22" name="2">
            <a:extLst xmlns:a="http://schemas.openxmlformats.org/drawingml/2006/main">
              <a:ext uri="{FF2B5EF4-FFF2-40B4-BE49-F238E27FC236}">
                <a16:creationId xmlns:a16="http://schemas.microsoft.com/office/drawing/2014/main" id="{8B5F7E24-C899-4C33-846F-14019FCE9684}"/>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2656A"/>
                </a:solidFill>
                <a:latin typeface="Lato"/>
                <a:ea typeface="Lato"/>
                <a:cs typeface="Lato"/>
              </a:defRPr>
            </a:pPr>
            <a:r>
              <a:rPr sz="1800" b="0">
                <a:solidFill>
                  <a:srgbClr val="52656A"/>
                </a:solidFill>
                <a:latin typeface="Lato"/>
                <a:ea typeface="Lato"/>
                <a:cs typeface="Lato"/>
              </a:rPr>
              <a:t>2</a:t>
            </a:r>
          </a:p>
        </p:txBody>
      </p:sp>
      <p:sp>
        <p:nvSpPr>
          <p:cNvPr id="23" name="F0 (Hz)">
            <a:extLst xmlns:a="http://schemas.openxmlformats.org/drawingml/2006/main">
              <a:ext uri="{FF2B5EF4-FFF2-40B4-BE49-F238E27FC236}">
                <a16:creationId xmlns:a16="http://schemas.microsoft.com/office/drawing/2014/main" id="{45DC1C72-5947-4543-8A03-3CD49043876B}"/>
              </a:ext>
            </a:extLst>
          </p:cNvPr>
          <p:cNvSpPr>
            <a:spLocks xmlns:a="http://schemas.openxmlformats.org/drawingml/2006/main" noGrp="1"/>
          </p:cNvSpPr>
          <p:nvPr/>
        </p:nvSpPr>
        <p:spPr>
          <a:xfrm xmlns:a="http://schemas.openxmlformats.org/drawingml/2006/main">
            <a:off x="9620250" y="4600575"/>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F0 (Hz)</a:t>
            </a:r>
          </a:p>
        </p:txBody>
      </p:sp>
      <p:sp>
        <p:nvSpPr>
          <p:cNvPr id="24" name="100">
            <a:extLst xmlns:a="http://schemas.openxmlformats.org/drawingml/2006/main">
              <a:ext uri="{FF2B5EF4-FFF2-40B4-BE49-F238E27FC236}">
                <a16:creationId xmlns:a16="http://schemas.microsoft.com/office/drawing/2014/main" id="{047BEB1D-F89C-4A46-B623-8D3D77E11B63}"/>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100</a:t>
            </a:r>
          </a:p>
        </p:txBody>
      </p:sp>
      <p:sp>
        <p:nvSpPr>
          <p:cNvPr id="25" name="200">
            <a:extLst xmlns:a="http://schemas.openxmlformats.org/drawingml/2006/main">
              <a:ext uri="{FF2B5EF4-FFF2-40B4-BE49-F238E27FC236}">
                <a16:creationId xmlns:a16="http://schemas.microsoft.com/office/drawing/2014/main" id="{4C7B332E-F419-4BD5-B519-BEF1FD2052F8}"/>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200</a:t>
            </a:r>
          </a:p>
        </p:txBody>
      </p:sp>
      <p:sp>
        <p:nvSpPr>
          <p:cNvPr id="26" name="300">
            <a:extLst xmlns:a="http://schemas.openxmlformats.org/drawingml/2006/main">
              <a:ext uri="{FF2B5EF4-FFF2-40B4-BE49-F238E27FC236}">
                <a16:creationId xmlns:a16="http://schemas.microsoft.com/office/drawing/2014/main" id="{731997BE-728F-46A5-BDF4-CDC2EBD2A335}"/>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300</a:t>
            </a:r>
          </a:p>
        </p:txBody>
      </p:sp>
      <p:sp>
        <p:nvSpPr>
          <p:cNvPr id="27" name="400">
            <a:extLst xmlns:a="http://schemas.openxmlformats.org/drawingml/2006/main">
              <a:ext uri="{FF2B5EF4-FFF2-40B4-BE49-F238E27FC236}">
                <a16:creationId xmlns:a16="http://schemas.microsoft.com/office/drawing/2014/main" id="{B590AC02-75CF-4037-86DE-957533F699D3}"/>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52656A"/>
                </a:solidFill>
                <a:latin typeface="Lato"/>
                <a:ea typeface="Lato"/>
                <a:cs typeface="Lato"/>
              </a:defRPr>
            </a:pPr>
            <a:r>
              <a:rPr sz="1800" b="0">
                <a:solidFill>
                  <a:srgbClr val="52656A"/>
                </a:solidFill>
                <a:latin typeface="Lato"/>
                <a:ea typeface="Lato"/>
                <a:cs typeface="Lato"/>
              </a:rPr>
              <a:t>400</a:t>
            </a:r>
          </a:p>
        </p:txBody>
      </p:sp>
      <p:sp>
        <p:nvSpPr>
          <p:cNvPr id="28" name="Possible cause: weak">
            <a:extLst xmlns:a="http://schemas.openxmlformats.org/drawingml/2006/main">
              <a:ext uri="{FF2B5EF4-FFF2-40B4-BE49-F238E27FC236}">
                <a16:creationId xmlns:a16="http://schemas.microsoft.com/office/drawing/2014/main" id="{00B49F75-9167-4F6E-8C1A-0681B2DD6382}"/>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Possible cause: weak</a:t>
            </a:r>
          </a:p>
        </p:txBody>
      </p:sp>
      <p:sp>
        <p:nvSpPr>
          <p:cNvPr id="29" name="energy near the boundaries">
            <a:extLst xmlns:a="http://schemas.openxmlformats.org/drawingml/2006/main">
              <a:ext uri="{FF2B5EF4-FFF2-40B4-BE49-F238E27FC236}">
                <a16:creationId xmlns:a16="http://schemas.microsoft.com/office/drawing/2014/main" id="{25CF2252-85DE-4B40-B9FA-8F17CFBB82B0}"/>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5363D"/>
                </a:solidFill>
                <a:latin typeface="Lato"/>
                <a:ea typeface="Lato"/>
                <a:cs typeface="Lato"/>
              </a:defRPr>
            </a:pPr>
            <a:r>
              <a:rPr sz="2100" b="1">
                <a:solidFill>
                  <a:srgbClr val="15363D"/>
                </a:solidFill>
                <a:latin typeface="Lato"/>
                <a:ea typeface="Lato"/>
                <a:cs typeface="Lato"/>
              </a:rPr>
              <a:t>energy near the boundaries</a:t>
            </a:r>
          </a:p>
        </p:txBody>
      </p:sp>
      <p:sp>
        <p:nvSpPr>
          <p:cNvPr id="30" name="Extra: 0. Missed: 0.">
            <a:extLst xmlns:a="http://schemas.openxmlformats.org/drawingml/2006/main">
              <a:ext uri="{FF2B5EF4-FFF2-40B4-BE49-F238E27FC236}">
                <a16:creationId xmlns:a16="http://schemas.microsoft.com/office/drawing/2014/main" id="{FDF419D1-4F77-4D80-B00C-322CB4B706BC}"/>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087F78"/>
                </a:solidFill>
                <a:latin typeface="Lato"/>
                <a:ea typeface="Lato"/>
                <a:cs typeface="Lato"/>
              </a:defRPr>
            </a:pPr>
            <a:r>
              <a:rPr sz="1950" b="0">
                <a:solidFill>
                  <a:srgbClr val="087F78"/>
                </a:solidFill>
                <a:latin typeface="Lato"/>
                <a:ea typeface="Lato"/>
                <a:cs typeface="Lato"/>
              </a:rPr>
              <a:t>Extra: 0. Missed: 0.</a:t>
            </a:r>
          </a:p>
        </p:txBody>
      </p:sp>
    </p:spTree>
    <p:extLst>
      <p:ext uri="{BB962C8B-B14F-4D97-AF65-F5344CB8AC3E}">
        <p14:creationId xmlns:p14="http://schemas.microsoft.com/office/powerpoint/2010/main" val="212107951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 name="Statistics has the lowest mean TEST MAE (ms)">
            <a:extLst xmlns:a="http://schemas.openxmlformats.org/drawingml/2006/main">
              <a:ext uri="{FF2B5EF4-FFF2-40B4-BE49-F238E27FC236}">
                <a16:creationId xmlns:a16="http://schemas.microsoft.com/office/drawing/2014/main" id="{B935F8D1-C74F-4A57-B02D-E38BB54C73DC}"/>
              </a:ext>
            </a:extLst>
          </p:cNvPr>
          <p:cNvSpPr>
            <a:spLocks xmlns:a="http://schemas.openxmlformats.org/drawingml/2006/main" noGrp="1"/>
          </p:cNvSpPr>
          <p:nvPr/>
        </p:nvSpPr>
        <p:spPr>
          <a:xfrm xmlns:a="http://schemas.openxmlformats.org/drawingml/2006/main">
            <a:off x="457200" y="3714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15363D"/>
                </a:solidFill>
                <a:latin typeface="Lato"/>
                <a:ea typeface="Lato"/>
                <a:cs typeface="Lato"/>
              </a:defRPr>
            </a:pPr>
            <a:r>
              <a:rPr sz="3450" b="1">
                <a:solidFill>
                  <a:srgbClr val="15363D"/>
                </a:solidFill>
                <a:latin typeface="Lato"/>
                <a:ea typeface="Lato"/>
                <a:cs typeface="Lato"/>
              </a:rPr>
              <a:t>Statistics has the lowest mean TEST MAE (ms)</a:t>
            </a:r>
          </a:p>
        </p:txBody>
      </p:sp>
      <p:graphicFrame>
        <p:nvGraphicFramePr>
          <p:cNvPr id="4" name=""/>
          <p:cNvGraphicFramePr/>
          <p:nvPr/>
        </p:nvGraphicFramePr>
        <p:xfrm>
          <a:off xmlns:a="http://schemas.openxmlformats.org/drawingml/2006/main" x="457200" y="1581150"/>
          <a:ext xmlns:a="http://schemas.openxmlformats.org/drawingml/2006/main" cx="11277600" cy="4343400"/>
        </p:xfrm>
        <a:graphic xmlns:a="http://schemas.openxmlformats.org/drawingml/2006/main">
          <a:graphicData uri="http://schemas.openxmlformats.org/drawingml/2006/table">
            <a:tbl>
              <a:tblPr firstRow="1" bandRow="0"/>
              <a:tblGrid>
                <a:gridCol w="3143250"/>
                <a:gridCol w="2705100"/>
                <a:gridCol w="2714625"/>
                <a:gridCol w="2714625"/>
              </a:tblGrid>
              <a:tr h="723900">
                <a:tc>
                  <a:txBody>
                    <a:bodyPr>
                      <a:noAutofit/>
                    </a:bodyPr>
                    <a:lstStyle/>
                    <a:p>
                      <a:pPr algn="l"/>
                      <a:r>
                        <a:rPr sz="2700" b="1">
                          <a:solidFill>
                            <a:srgbClr val="FFFFFF"/>
                          </a:solidFill>
                          <a:latin typeface="Lato"/>
                          <a:ea typeface="Lato"/>
                          <a:cs typeface="Lato"/>
                        </a:rPr>
                        <a:t>TEST file</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Binary</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Histogram</a:t>
                      </a:r>
                    </a:p>
                  </a:txBody>
                  <a:tcPr marL="91440" marR="91440" marT="45720" marB="45720" anchor="ctr">
                    <a:solidFill>
                      <a:srgbClr val="15363D"/>
                    </a:solidFill>
                  </a:tcPr>
                </a:tc>
                <a:tc>
                  <a:txBody>
                    <a:bodyPr>
                      <a:noAutofit/>
                    </a:bodyPr>
                    <a:lstStyle/>
                    <a:p>
                      <a:pPr algn="ctr"/>
                      <a:r>
                        <a:rPr sz="2700" b="1">
                          <a:solidFill>
                            <a:srgbClr val="FFFFFF"/>
                          </a:solidFill>
                          <a:latin typeface="Lato"/>
                          <a:ea typeface="Lato"/>
                          <a:cs typeface="Lato"/>
                        </a:rPr>
                        <a:t>Statistics</a:t>
                      </a:r>
                    </a:p>
                  </a:txBody>
                  <a:tcPr marL="91440" marR="91440" marT="45720" marB="45720" anchor="ctr">
                    <a:solidFill>
                      <a:srgbClr val="15363D"/>
                    </a:solidFill>
                  </a:tcPr>
                </a:tc>
              </a:tr>
              <a:tr h="723900">
                <a:tc>
                  <a:txBody>
                    <a:bodyPr>
                      <a:noAutofit/>
                    </a:bodyPr>
                    <a:lstStyle/>
                    <a:p>
                      <a:pPr algn="l"/>
                      <a:r>
                        <a:rPr sz="2700" b="0">
                          <a:solidFill>
                            <a:srgbClr val="15363D"/>
                          </a:solidFill>
                          <a:latin typeface="Lato"/>
                          <a:ea typeface="Lato"/>
                          <a:cs typeface="Lato"/>
                        </a:rPr>
                        <a:t>phone_F2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30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phone_M2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studio_F2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r>
              <a:tr h="723900">
                <a:tc>
                  <a:txBody>
                    <a:bodyPr>
                      <a:noAutofit/>
                    </a:bodyPr>
                    <a:lstStyle/>
                    <a:p>
                      <a:pPr algn="l"/>
                      <a:r>
                        <a:rPr sz="2700" b="0">
                          <a:solidFill>
                            <a:srgbClr val="15363D"/>
                          </a:solidFill>
                          <a:latin typeface="Lato"/>
                          <a:ea typeface="Lato"/>
                          <a:cs typeface="Lato"/>
                        </a:rPr>
                        <a:t>studio_M2</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15</a:t>
                      </a:r>
                    </a:p>
                  </a:txBody>
                  <a:tcPr marL="91440" marR="91440" marT="45720" marB="45720" anchor="ctr">
                    <a:solidFill>
                      <a:srgbClr val="FFFFFF"/>
                    </a:solidFill>
                  </a:tcPr>
                </a:tc>
                <a:tc>
                  <a:txBody>
                    <a:bodyPr>
                      <a:noAutofit/>
                    </a:bodyPr>
                    <a:lstStyle/>
                    <a:p>
                      <a:pPr algn="ctr"/>
                      <a:r>
                        <a:rPr sz="2700" b="0">
                          <a:solidFill>
                            <a:srgbClr val="15363D"/>
                          </a:solidFill>
                          <a:latin typeface="Lato"/>
                          <a:ea typeface="Lato"/>
                          <a:cs typeface="Lato"/>
                        </a:rPr>
                        <a:t>10</a:t>
                      </a:r>
                    </a:p>
                  </a:txBody>
                  <a:tcPr marL="91440" marR="91440" marT="45720" marB="45720" anchor="ctr">
                    <a:solidFill>
                      <a:srgbClr val="FFFFFF"/>
                    </a:solidFill>
                  </a:tcPr>
                </a:tc>
              </a:tr>
              <a:tr h="723900">
                <a:tc>
                  <a:txBody>
                    <a:bodyPr>
                      <a:noAutofit/>
                    </a:bodyPr>
                    <a:lstStyle/>
                    <a:p>
                      <a:pPr algn="l"/>
                      <a:r>
                        <a:rPr sz="2700" b="1">
                          <a:solidFill>
                            <a:srgbClr val="15363D"/>
                          </a:solidFill>
                          <a:latin typeface="Lato"/>
                          <a:ea typeface="Lato"/>
                          <a:cs typeface="Lato"/>
                        </a:rPr>
                        <a:t>Mean</a:t>
                      </a:r>
                    </a:p>
                  </a:txBody>
                  <a:tcPr marL="91440" marR="91440" marT="45720" marB="45720" anchor="ctr">
                    <a:solidFill>
                      <a:srgbClr val="DDF0E9"/>
                    </a:solidFill>
                  </a:tcPr>
                </a:tc>
                <a:tc>
                  <a:txBody>
                    <a:bodyPr>
                      <a:noAutofit/>
                    </a:bodyPr>
                    <a:lstStyle/>
                    <a:p>
                      <a:pPr algn="ctr"/>
                      <a:r>
                        <a:rPr sz="2700" b="1">
                          <a:solidFill>
                            <a:srgbClr val="15363D"/>
                          </a:solidFill>
                          <a:latin typeface="Lato"/>
                          <a:ea typeface="Lato"/>
                          <a:cs typeface="Lato"/>
                        </a:rPr>
                        <a:t>11.25</a:t>
                      </a:r>
                    </a:p>
                  </a:txBody>
                  <a:tcPr marL="91440" marR="91440" marT="45720" marB="45720" anchor="ctr">
                    <a:solidFill>
                      <a:srgbClr val="DDF0E9"/>
                    </a:solidFill>
                  </a:tcPr>
                </a:tc>
                <a:tc>
                  <a:txBody>
                    <a:bodyPr>
                      <a:noAutofit/>
                    </a:bodyPr>
                    <a:lstStyle/>
                    <a:p>
                      <a:pPr algn="ctr"/>
                      <a:r>
                        <a:rPr sz="2700" b="1">
                          <a:solidFill>
                            <a:srgbClr val="15363D"/>
                          </a:solidFill>
                          <a:latin typeface="Lato"/>
                          <a:ea typeface="Lato"/>
                          <a:cs typeface="Lato"/>
                        </a:rPr>
                        <a:t>11.25</a:t>
                      </a:r>
                    </a:p>
                  </a:txBody>
                  <a:tcPr marL="91440" marR="91440" marT="45720" marB="45720" anchor="ctr">
                    <a:solidFill>
                      <a:srgbClr val="DDF0E9"/>
                    </a:solidFill>
                  </a:tcPr>
                </a:tc>
                <a:tc>
                  <a:txBody>
                    <a:bodyPr>
                      <a:noAutofit/>
                    </a:bodyPr>
                    <a:lstStyle/>
                    <a:p>
                      <a:pPr algn="ctr"/>
                      <a:r>
                        <a:rPr sz="2700" b="1">
                          <a:solidFill>
                            <a:srgbClr val="087F78"/>
                          </a:solidFill>
                          <a:latin typeface="Lato"/>
                          <a:ea typeface="Lato"/>
                          <a:cs typeface="Lato"/>
                        </a:rPr>
                        <a:t>8.75</a:t>
                      </a:r>
                    </a:p>
                  </a:txBody>
                  <a:tcPr marL="91440" marR="91440" marT="45720" marB="45720" anchor="ctr">
                    <a:solidFill>
                      <a:srgbClr val="DDF0E9"/>
                    </a:solidFill>
                  </a:tcPr>
                </a:tc>
              </a:tr>
            </a:tbl>
          </a:graphicData>
        </a:graphic>
      </p:graphicFrame>
    </p:spTree>
    <p:extLst>
      <p:ext uri="{BB962C8B-B14F-4D97-AF65-F5344CB8AC3E}">
        <p14:creationId xmlns:p14="http://schemas.microsoft.com/office/powerpoint/2010/main" val="367826665"/>
      </p:ext>
    </p:extLst>
  </p:cSld>
</p:sld>
</file>

<file path=ppt/slides/slide22.xml><?xml version="1.0" encoding="utf-8"?>
<p:sld xmlns:p="http://schemas.openxmlformats.org/presentationml/2006/main">
  <p:cSld>
    <p:bg>
      <p:bgPr>
        <a:solidFill xmlns:a="http://schemas.openxmlformats.org/drawingml/2006/main">
          <a:srgbClr val="15363D"/>
        </a:solidFill>
      </p:bgPr>
    </p:bg>
    <p:spTree>
      <p:nvGrpSpPr>
        <p:cNvPr id="1" name=""/>
        <p:cNvGrpSpPr/>
        <p:nvPr/>
      </p:nvGrpSpPr>
      <p:grpSpPr>
        <a:xfrm xmlns:a="http://schemas.openxmlformats.org/drawingml/2006/main"/>
      </p:grpSpPr>
      <p:sp>
        <p:nvSpPr>
          <p:cNvPr id="6" name="Thank you">
            <a:extLst xmlns:a="http://schemas.openxmlformats.org/drawingml/2006/main">
              <a:ext uri="{FF2B5EF4-FFF2-40B4-BE49-F238E27FC236}">
                <a16:creationId xmlns:a16="http://schemas.microsoft.com/office/drawing/2014/main" id="{36523126-6484-4E91-B850-493C7251BB1D}"/>
              </a:ext>
            </a:extLst>
          </p:cNvPr>
          <p:cNvSpPr>
            <a:spLocks xmlns:a="http://schemas.openxmlformats.org/drawingml/2006/main" noGrp="1"/>
          </p:cNvSpPr>
          <p:nvPr/>
        </p:nvSpPr>
        <p:spPr>
          <a:xfrm xmlns:a="http://schemas.openxmlformats.org/drawingml/2006/main">
            <a:off x="609600" y="1524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50" b="1">
                <a:solidFill>
                  <a:srgbClr val="FFFFFF"/>
                </a:solidFill>
                <a:latin typeface="Lato"/>
                <a:ea typeface="Lato"/>
                <a:cs typeface="Lato"/>
              </a:defRPr>
            </a:pPr>
            <a:r>
              <a:rPr sz="7050" b="1">
                <a:solidFill>
                  <a:srgbClr val="FFFFFF"/>
                </a:solidFill>
                <a:latin typeface="Lato"/>
                <a:ea typeface="Lato"/>
                <a:cs typeface="Lato"/>
              </a:rPr>
              <a:t>Thank you</a:t>
            </a:r>
          </a:p>
        </p:txBody>
      </p:sp>
      <p:sp>
        <p:nvSpPr>
          <p:cNvPr id="2" name="Group 03">
            <a:extLst xmlns:a="http://schemas.openxmlformats.org/drawingml/2006/main">
              <a:ext uri="{FF2B5EF4-FFF2-40B4-BE49-F238E27FC236}">
                <a16:creationId xmlns:a16="http://schemas.microsoft.com/office/drawing/2014/main" id="{D380F034-13EC-4EB7-BB06-1514F5C5D745}"/>
              </a:ext>
            </a:extLst>
          </p:cNvPr>
          <p:cNvSpPr>
            <a:spLocks xmlns:a="http://schemas.openxmlformats.org/drawingml/2006/main" noGrp="1"/>
          </p:cNvSpPr>
          <p:nvPr/>
        </p:nvSpPr>
        <p:spPr>
          <a:xfrm xmlns:a="http://schemas.openxmlformats.org/drawingml/2006/main">
            <a:off x="609600" y="29718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A9DECF"/>
                </a:solidFill>
                <a:latin typeface="Lato"/>
                <a:ea typeface="Lato"/>
                <a:cs typeface="Lato"/>
              </a:defRPr>
            </a:pPr>
            <a:r>
              <a:rPr sz="2850" b="1">
                <a:solidFill>
                  <a:srgbClr val="A9DECF"/>
                </a:solidFill>
                <a:latin typeface="Lato"/>
                <a:ea typeface="Lato"/>
                <a:cs typeface="Lato"/>
              </a:rPr>
              <a:t>Group 03</a:t>
            </a:r>
          </a:p>
        </p:txBody>
      </p:sp>
      <p:sp>
        <p:nvSpPr>
          <p:cNvPr id="3" name="Võ Thanh Quân">
            <a:extLst xmlns:a="http://schemas.openxmlformats.org/drawingml/2006/main">
              <a:ext uri="{FF2B5EF4-FFF2-40B4-BE49-F238E27FC236}">
                <a16:creationId xmlns:a16="http://schemas.microsoft.com/office/drawing/2014/main" id="{0232F52A-7789-467A-98E2-0594E4097C69}"/>
              </a:ext>
            </a:extLst>
          </p:cNvPr>
          <p:cNvSpPr>
            <a:spLocks xmlns:a="http://schemas.openxmlformats.org/drawingml/2006/main" noGrp="1"/>
          </p:cNvSpPr>
          <p:nvPr/>
        </p:nvSpPr>
        <p:spPr>
          <a:xfrm xmlns:a="http://schemas.openxmlformats.org/drawingml/2006/main">
            <a:off x="628650" y="4257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Võ Thanh Quân</a:t>
            </a:r>
          </a:p>
        </p:txBody>
      </p:sp>
      <p:sp>
        <p:nvSpPr>
          <p:cNvPr id="4" name="Vương Quốc Trung">
            <a:extLst xmlns:a="http://schemas.openxmlformats.org/drawingml/2006/main">
              <a:ext uri="{FF2B5EF4-FFF2-40B4-BE49-F238E27FC236}">
                <a16:creationId xmlns:a16="http://schemas.microsoft.com/office/drawing/2014/main" id="{4651E7F4-45CA-400D-A67B-0336D77A78F6}"/>
              </a:ext>
            </a:extLst>
          </p:cNvPr>
          <p:cNvSpPr>
            <a:spLocks xmlns:a="http://schemas.openxmlformats.org/drawingml/2006/main" noGrp="1"/>
          </p:cNvSpPr>
          <p:nvPr/>
        </p:nvSpPr>
        <p:spPr>
          <a:xfrm xmlns:a="http://schemas.openxmlformats.org/drawingml/2006/main">
            <a:off x="628650" y="47910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Vương Quốc Trung</a:t>
            </a:r>
          </a:p>
        </p:txBody>
      </p:sp>
      <p:sp>
        <p:nvSpPr>
          <p:cNvPr id="5" name="Đinh Huỳnh Nguyên Khang">
            <a:extLst xmlns:a="http://schemas.openxmlformats.org/drawingml/2006/main">
              <a:ext uri="{FF2B5EF4-FFF2-40B4-BE49-F238E27FC236}">
                <a16:creationId xmlns:a16="http://schemas.microsoft.com/office/drawing/2014/main" id="{3F735299-9200-4F5A-A3E7-4D6E84E0E377}"/>
              </a:ext>
            </a:extLst>
          </p:cNvPr>
          <p:cNvSpPr>
            <a:spLocks xmlns:a="http://schemas.openxmlformats.org/drawingml/2006/main" noGrp="1"/>
          </p:cNvSpPr>
          <p:nvPr/>
        </p:nvSpPr>
        <p:spPr>
          <a:xfrm xmlns:a="http://schemas.openxmlformats.org/drawingml/2006/main">
            <a:off x="628650" y="53244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FFFFFF"/>
                </a:solidFill>
                <a:latin typeface="Lato"/>
                <a:ea typeface="Lato"/>
                <a:cs typeface="Lato"/>
              </a:defRPr>
            </a:pPr>
            <a:r>
              <a:rPr sz="2250" b="0">
                <a:solidFill>
                  <a:srgbClr val="FFFFFF"/>
                </a:solidFill>
                <a:latin typeface="Lato"/>
                <a:ea typeface="Lato"/>
                <a:cs typeface="Lato"/>
              </a:rPr>
              <a:t>Đinh Huỳnh Nguyên Khang</a:t>
            </a:r>
          </a:p>
        </p:txBody>
      </p:sp>
    </p:spTree>
    <p:extLst>
      <p:ext uri="{BB962C8B-B14F-4D97-AF65-F5344CB8AC3E}">
        <p14:creationId xmlns:p14="http://schemas.microsoft.com/office/powerpoint/2010/main" val="1331050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2026-10-06T07:44:02.7660000Z</dcterms:created>
  <dcterms:modified xsi:type="dcterms:W3CDTF">2026-10-06T07:44:02.7660000Z</dcterms:modified>
</coreProperties>
</file>