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7772361d414d46" /><Relationship Type="http://schemas.openxmlformats.org/officeDocument/2006/relationships/extended-properties" Target="/docProps/app.xml" Id="Rcd72c795c08841ec" /><Relationship Type="http://schemas.openxmlformats.org/officeDocument/2006/relationships/officeDocument" Target="/ppt/presentation.xml" Id="R3e80d9065d7c471f" /></Relationships>
</file>

<file path=ppt/presentation.xml><?xml version="1.0" encoding="utf-8"?>
<p:presentation xmlns:p="http://schemas.openxmlformats.org/presentationml/2006/main">
  <p:sldMasterIdLst>
    <p:sldMasterId xmlns:r="http://schemas.openxmlformats.org/officeDocument/2006/relationships" id="2147483648" r:id="Rbbaa1280ba6c40ac"/>
  </p:sldMasterIdLst>
  <p:notesMasterIdLst>
    <p:notesMasterId xmlns:r="http://schemas.openxmlformats.org/officeDocument/2006/relationships" r:id="R9a9bc0c6d32d4da6"/>
  </p:notesMasterIdLst>
  <p:sldIdLst>
    <p:sldId xmlns:r="http://schemas.openxmlformats.org/officeDocument/2006/relationships" id="256" r:id="R0002d27f1ebb480b"/>
    <p:sldId xmlns:r="http://schemas.openxmlformats.org/officeDocument/2006/relationships" id="257" r:id="Rce7f264cb6de427b"/>
    <p:sldId xmlns:r="http://schemas.openxmlformats.org/officeDocument/2006/relationships" id="258" r:id="R35e353fb9f8247fb"/>
    <p:sldId xmlns:r="http://schemas.openxmlformats.org/officeDocument/2006/relationships" id="259" r:id="R38f8d8fe2df04c92"/>
    <p:sldId xmlns:r="http://schemas.openxmlformats.org/officeDocument/2006/relationships" id="260" r:id="Rc7a59fa336d94e71"/>
    <p:sldId xmlns:r="http://schemas.openxmlformats.org/officeDocument/2006/relationships" id="261" r:id="R0c86d2e38ec44822"/>
    <p:sldId xmlns:r="http://schemas.openxmlformats.org/officeDocument/2006/relationships" id="262" r:id="Rcd89ad48d9cf41ae"/>
    <p:sldId xmlns:r="http://schemas.openxmlformats.org/officeDocument/2006/relationships" id="263" r:id="R33e5d4dea9ce4d2f"/>
    <p:sldId xmlns:r="http://schemas.openxmlformats.org/officeDocument/2006/relationships" id="264" r:id="R2320118a1df54926"/>
    <p:sldId xmlns:r="http://schemas.openxmlformats.org/officeDocument/2006/relationships" id="265" r:id="R19b949815da64b27"/>
    <p:sldId xmlns:r="http://schemas.openxmlformats.org/officeDocument/2006/relationships" id="266" r:id="Rf14de996f6514c75"/>
    <p:sldId xmlns:r="http://schemas.openxmlformats.org/officeDocument/2006/relationships" id="267" r:id="R2c1d19b383964881"/>
    <p:sldId xmlns:r="http://schemas.openxmlformats.org/officeDocument/2006/relationships" id="268" r:id="R487f99bf706346f3"/>
    <p:sldId xmlns:r="http://schemas.openxmlformats.org/officeDocument/2006/relationships" id="269" r:id="Rd52262c6aca04be4"/>
    <p:sldId xmlns:r="http://schemas.openxmlformats.org/officeDocument/2006/relationships" id="270" r:id="R59f9f94ac7e742a5"/>
    <p:sldId xmlns:r="http://schemas.openxmlformats.org/officeDocument/2006/relationships" id="271" r:id="Rc61b200099f4429f"/>
    <p:sldId xmlns:r="http://schemas.openxmlformats.org/officeDocument/2006/relationships" id="272" r:id="Rce62aaa251d645f9"/>
    <p:sldId xmlns:r="http://schemas.openxmlformats.org/officeDocument/2006/relationships" id="273" r:id="R507b0b16af1f4ea0"/>
    <p:sldId xmlns:r="http://schemas.openxmlformats.org/officeDocument/2006/relationships" id="274" r:id="Re92c7fe0c07044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f909b07c0b4c64" /><Relationship Type="http://schemas.openxmlformats.org/officeDocument/2006/relationships/slideMaster" Target="/ppt/slideMasters/slideMaster1.xml" Id="Rbbaa1280ba6c40ac" /><Relationship Type="http://schemas.openxmlformats.org/officeDocument/2006/relationships/notesMaster" Target="/ppt/notesMasters/notesMaster1.xml" Id="R9a9bc0c6d32d4da6" /><Relationship Type="http://schemas.openxmlformats.org/officeDocument/2006/relationships/presProps" Target="/ppt/presProps.xml" Id="R1f16967f658e425d" /><Relationship Type="http://schemas.openxmlformats.org/officeDocument/2006/relationships/tableStyles" Target="/ppt/tableStyles.xml" Id="R9ec4ea8905cd48bd" /><Relationship Type="http://schemas.openxmlformats.org/officeDocument/2006/relationships/slide" Target="/ppt/slides/slide1.xml" Id="R0002d27f1ebb480b" /><Relationship Type="http://schemas.openxmlformats.org/officeDocument/2006/relationships/slide" Target="/ppt/slides/slide2.xml" Id="Rce7f264cb6de427b" /><Relationship Type="http://schemas.openxmlformats.org/officeDocument/2006/relationships/slide" Target="/ppt/slides/slide3.xml" Id="R35e353fb9f8247fb" /><Relationship Type="http://schemas.openxmlformats.org/officeDocument/2006/relationships/slide" Target="/ppt/slides/slide4.xml" Id="R38f8d8fe2df04c92" /><Relationship Type="http://schemas.openxmlformats.org/officeDocument/2006/relationships/slide" Target="/ppt/slides/slide5.xml" Id="Rc7a59fa336d94e71" /><Relationship Type="http://schemas.openxmlformats.org/officeDocument/2006/relationships/slide" Target="/ppt/slides/slide6.xml" Id="R0c86d2e38ec44822" /><Relationship Type="http://schemas.openxmlformats.org/officeDocument/2006/relationships/slide" Target="/ppt/slides/slide7.xml" Id="Rcd89ad48d9cf41ae" /><Relationship Type="http://schemas.openxmlformats.org/officeDocument/2006/relationships/slide" Target="/ppt/slides/slide8.xml" Id="R33e5d4dea9ce4d2f" /><Relationship Type="http://schemas.openxmlformats.org/officeDocument/2006/relationships/slide" Target="/ppt/slides/slide9.xml" Id="R2320118a1df54926" /><Relationship Type="http://schemas.openxmlformats.org/officeDocument/2006/relationships/slide" Target="/ppt/slides/slide10.xml" Id="R19b949815da64b27" /><Relationship Type="http://schemas.openxmlformats.org/officeDocument/2006/relationships/slide" Target="/ppt/slides/slide11.xml" Id="Rf14de996f6514c75" /><Relationship Type="http://schemas.openxmlformats.org/officeDocument/2006/relationships/slide" Target="/ppt/slides/slide12.xml" Id="R2c1d19b383964881" /><Relationship Type="http://schemas.openxmlformats.org/officeDocument/2006/relationships/slide" Target="/ppt/slides/slide13.xml" Id="R487f99bf706346f3" /><Relationship Type="http://schemas.openxmlformats.org/officeDocument/2006/relationships/slide" Target="/ppt/slides/slide14.xml" Id="Rd52262c6aca04be4" /><Relationship Type="http://schemas.openxmlformats.org/officeDocument/2006/relationships/slide" Target="/ppt/slides/slide15.xml" Id="R59f9f94ac7e742a5" /><Relationship Type="http://schemas.openxmlformats.org/officeDocument/2006/relationships/slide" Target="/ppt/slides/slide16.xml" Id="Rc61b200099f4429f" /><Relationship Type="http://schemas.openxmlformats.org/officeDocument/2006/relationships/slide" Target="/ppt/slides/slide17.xml" Id="Rce62aaa251d645f9" /><Relationship Type="http://schemas.openxmlformats.org/officeDocument/2006/relationships/slide" Target="/ppt/slides/slide18.xml" Id="R507b0b16af1f4ea0" /><Relationship Type="http://schemas.openxmlformats.org/officeDocument/2006/relationships/slide" Target="/ppt/slides/slide19.xml" Id="Re92c7fe0c07044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7bc2e44ef540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9013de47954a9f" /><Relationship Type="http://schemas.openxmlformats.org/officeDocument/2006/relationships/notesMaster" Target="/ppt/notesMasters/notesMaster1.xml" Id="R451e848e31554a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2ddd347204cb6" /><Relationship Type="http://schemas.openxmlformats.org/officeDocument/2006/relationships/notesMaster" Target="/ppt/notesMasters/notesMaster1.xml" Id="R2167906c571a4e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8861614390437c" /><Relationship Type="http://schemas.openxmlformats.org/officeDocument/2006/relationships/notesMaster" Target="/ppt/notesMasters/notesMaster1.xml" Id="R1d1344b74a3d4f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cd5e51f92841a2" /><Relationship Type="http://schemas.openxmlformats.org/officeDocument/2006/relationships/notesMaster" Target="/ppt/notesMasters/notesMaster1.xml" Id="Rbcc2ff6a11254a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a06335c8c84e1b" /><Relationship Type="http://schemas.openxmlformats.org/officeDocument/2006/relationships/notesMaster" Target="/ppt/notesMasters/notesMaster1.xml" Id="R26aa0fc82ed34b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515b7c50eb4a6c" /><Relationship Type="http://schemas.openxmlformats.org/officeDocument/2006/relationships/notesMaster" Target="/ppt/notesMasters/notesMaster1.xml" Id="R8fbf593ff1a24b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4c5368c4df47e9" /><Relationship Type="http://schemas.openxmlformats.org/officeDocument/2006/relationships/notesMaster" Target="/ppt/notesMasters/notesMaster1.xml" Id="Rdce024daed174e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a9e5a1f556466e" /><Relationship Type="http://schemas.openxmlformats.org/officeDocument/2006/relationships/notesMaster" Target="/ppt/notesMasters/notesMaster1.xml" Id="Rebaed661fc0746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a3e144e543426f" /><Relationship Type="http://schemas.openxmlformats.org/officeDocument/2006/relationships/notesMaster" Target="/ppt/notesMasters/notesMaster1.xml" Id="R57957096750d46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ff09315fb247e5" /><Relationship Type="http://schemas.openxmlformats.org/officeDocument/2006/relationships/notesMaster" Target="/ppt/notesMasters/notesMaster1.xml" Id="Rb3cf462f78144c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d456d8248c4598" /><Relationship Type="http://schemas.openxmlformats.org/officeDocument/2006/relationships/notesMaster" Target="/ppt/notesMasters/notesMaster1.xml" Id="Rc9d6f5f4ed4e46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25c0df62634e27" /><Relationship Type="http://schemas.openxmlformats.org/officeDocument/2006/relationships/notesMaster" Target="/ppt/notesMasters/notesMaster1.xml" Id="R0fa4dfe4028d49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4190585bbd4375" /><Relationship Type="http://schemas.openxmlformats.org/officeDocument/2006/relationships/notesMaster" Target="/ppt/notesMasters/notesMaster1.xml" Id="Rb1cc08ec84e446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21220c34cd491b" /><Relationship Type="http://schemas.openxmlformats.org/officeDocument/2006/relationships/notesMaster" Target="/ppt/notesMasters/notesMaster1.xml" Id="Re1076ce7eb2d4d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c5aa8368e04372" /><Relationship Type="http://schemas.openxmlformats.org/officeDocument/2006/relationships/notesMaster" Target="/ppt/notesMasters/notesMaster1.xml" Id="R19b707155cd64c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57f861b6fe4d4f" /><Relationship Type="http://schemas.openxmlformats.org/officeDocument/2006/relationships/notesMaster" Target="/ppt/notesMasters/notesMaster1.xml" Id="Rbcbf8518146b44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a21dfd40b64af6" /><Relationship Type="http://schemas.openxmlformats.org/officeDocument/2006/relationships/notesMaster" Target="/ppt/notesMasters/notesMaster1.xml" Id="R301334af491c45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0c9862c19f4eb1" /><Relationship Type="http://schemas.openxmlformats.org/officeDocument/2006/relationships/notesMaster" Target="/ppt/notesMasters/notesMaster1.xml" Id="R6cedde5e794d42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d7012768764ccb" /><Relationship Type="http://schemas.openxmlformats.org/officeDocument/2006/relationships/notesMaster" Target="/ppt/notesMasters/notesMaster1.xml" Id="R5ff59d5c961d47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Group 03. We compare Binary Search, Histogram and Statistics for speech and silence segmentation.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four TRAIN WAVs and four separate TEST WAVs. Each 25 ms window is centered on a 10 ms decision cell. We normalize STE per WAV, then fill silence below 200 ms. Red boundaries come from LAB. Blue boundaries come from the algorithm. F0 is an independent estimate.</a:t>
            </a:r>
          </a:p>
          <a:p xmlns:a="http://schemas.openxmlformats.org/drawingml/2006/main">
            <a:r>
              <a:t/>
            </a:r>
          </a:p>
          <a:p xmlns:a="http://schemas.openxmlformats.org/drawingml/2006/main">
            <a:r>
              <a:t>Sources (reference only): speech_silence/features.py, pipeline.py and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TRAIN, we try six median orders after normalization. LAB timestamps split the frames into silence and speech. We keep only overlapping energy values. Binary Search halves the interval to balance misclassified energy on the two sides. We select the median by extra or missing boundaries, then MAE. This is calibration on TRAIN. The selected median is 15 frames and the shared threshold is about 0.0016. On TEST, we use the same median and threshold, then fill silence shorter than 200 ms.</a:t>
            </a:r>
          </a:p>
          <a:p xmlns:a="http://schemas.openxmlformats.org/drawingml/2006/main">
            <a:r>
              <a:t/>
            </a:r>
          </a:p>
          <a:p xmlns:a="http://schemas.openxmlformats.org/drawingml/2006/main">
            <a:r>
              <a:t>Sources (reference only): TT1_BinarySearch/algorithm.py, speech_silence/pipeline.py.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60 ms late. MAE is 30 ms, with zero extra or missing boundaries. Tail median STE remains above the fixed threshold. The bottom plot shows F0 and the LAB mean reference.</a:t>
            </a:r>
          </a:p>
          <a:p xmlns:a="http://schemas.openxmlformats.org/drawingml/2006/main">
            <a:r>
              <a:t/>
            </a:r>
          </a:p>
          <a:p xmlns:a="http://schemas.openxmlformats.org/drawingml/2006/main">
            <a:r>
              <a:t>Sources (reference only): TT1_BinarySearch/ket_qua/phone_F2.png; TT1_BinarySearch/ket_qua/ket_qua.csv. LAB start/end: 1.02 / 4.04 s. Predictions: 1.02 / 4.10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matches. MAE is 0 ms, with zero extra or missing boundaries. Both LAB timestamps match the detected transitions. The bottom plot shows F0 and the LAB mean reference.</a:t>
            </a:r>
          </a:p>
          <a:p xmlns:a="http://schemas.openxmlformats.org/drawingml/2006/main">
            <a:r>
              <a:t/>
            </a:r>
          </a:p>
          <a:p xmlns:a="http://schemas.openxmlformats.org/drawingml/2006/main">
            <a:r>
              <a:t>Sources (reference only): TT1_BinarySearch/ket_qua/phone_M2.png; TT1_BinarySearch/ket_qua/ket_qua.csv. LAB start/end: 0.53 / 2.52 s. Predictions: 0.53 / 2.52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10 ms early. MAE is 10 ms, with zero extra or missing boundaries. Energy crosses T before the LAB transitions. The bottom plot shows F0 and the LAB mean reference.</a:t>
            </a:r>
          </a:p>
          <a:p xmlns:a="http://schemas.openxmlformats.org/drawingml/2006/main">
            <a:r>
              <a:t/>
            </a:r>
          </a:p>
          <a:p xmlns:a="http://schemas.openxmlformats.org/drawingml/2006/main">
            <a:r>
              <a:t>Sources (reference only): TT1_BinarySearch/ket_qua/studio_F2.png; TT1_BinarySearch/ket_qua/ket_qua.csv. LAB start/end: 0.77 / 2.37 s. Predictions: 0.76 / 2.36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matches. MAE is 5 ms, with zero extra or missing boundaries. Possible cause: weak energy near the onset. The bottom plot shows F0 and the LAB mean reference.</a:t>
            </a:r>
          </a:p>
          <a:p xmlns:a="http://schemas.openxmlformats.org/drawingml/2006/main">
            <a:r>
              <a:t/>
            </a:r>
          </a:p>
          <a:p xmlns:a="http://schemas.openxmlformats.org/drawingml/2006/main">
            <a:r>
              <a:t>Sources (reference only): TT1_BinarySearch/ket_qua/studio_M2.png; TT1_BinarySearch/ket_qua/ket_qua.csv. LAB start/end: 0.45 / 1.93 s. Predictions: 0.46 / 1.93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build 128-bin histograms and smooth the counts over three bins. TRAIN selects W from eight candidates using boundary errors, then MAE. The selected W is 30. For each TEST recording, we choose the first two local peaks along the energy axis. We combine their locations with more weight on the first peak. The threshold therefore adapts to each WAV. If fewer than two peaks exist, we use the mean STE of that WAV. After classification, we fill silence below 200 ms.</a:t>
            </a:r>
          </a:p>
          <a:p xmlns:a="http://schemas.openxmlformats.org/drawingml/2006/main">
            <a:r>
              <a:t/>
            </a:r>
          </a:p>
          <a:p xmlns:a="http://schemas.openxmlformats.org/drawingml/2006/main">
            <a:r>
              <a:t>Sources (reference only): TT2_Histogram/algorithm.py, speech_silence/pipeline.py.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10 ms late. End 10 ms early. MAE is 10 ms, with zero extra or missing boundaries. Possible cause: weak energy near the boundaries. The bottom plot shows F0 and the LAB mean reference.</a:t>
            </a:r>
          </a:p>
          <a:p xmlns:a="http://schemas.openxmlformats.org/drawingml/2006/main">
            <a:r>
              <a:t/>
            </a:r>
          </a:p>
          <a:p xmlns:a="http://schemas.openxmlformats.org/drawingml/2006/main">
            <a:r>
              <a:t>Sources (reference only): TT2_Histogram/ket_qua/phone_F2.png; TT2_Histogram/ket_qua/ket_qua.csv. LAB start/end: 1.02 / 4.04 s. Predictions: 1.03 / 4.03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with zero extra or missing boundaries. Possible cause: weak energy near the boundaries. The bottom plot shows F0 and the LAB mean reference.</a:t>
            </a:r>
          </a:p>
          <a:p xmlns:a="http://schemas.openxmlformats.org/drawingml/2006/main">
            <a:r>
              <a:t/>
            </a:r>
          </a:p>
          <a:p xmlns:a="http://schemas.openxmlformats.org/drawingml/2006/main">
            <a:r>
              <a:t>Sources (reference only): TT2_Histogram/ket_qua/phone_M2.png; TT2_Histogram/ket_qua/ket_qua.csv. LAB start/end: 0.53 / 2.52 s. Predictions: 0.53 / 2.51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with zero extra or missing boundaries. Onset window includes speech. Tail energy falls below T.. The bottom plot shows F0 and the LAB mean reference.</a:t>
            </a:r>
          </a:p>
          <a:p xmlns:a="http://schemas.openxmlformats.org/drawingml/2006/main">
            <a:r>
              <a:t/>
            </a:r>
          </a:p>
          <a:p xmlns:a="http://schemas.openxmlformats.org/drawingml/2006/main">
            <a:r>
              <a:t>Sources (reference only): TT2_Histogram/ket_qua/studio_F2.png; TT2_Histogram/ket_qua/ket_qua.csv. LAB start/end: 0.77 / 2.37 s. Predictions: 0.76 / 2.35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20 ms late. End 10 ms early. MAE is 15 ms, with zero extra or missing boundaries. Possible cause: weak energy near the boundaries. The bottom plot shows F0 and the LAB mean reference.</a:t>
            </a:r>
          </a:p>
          <a:p xmlns:a="http://schemas.openxmlformats.org/drawingml/2006/main">
            <a:r>
              <a:t/>
            </a:r>
          </a:p>
          <a:p xmlns:a="http://schemas.openxmlformats.org/drawingml/2006/main">
            <a:r>
              <a:t>Sources (reference only): TT2_Histogram/ket_qua/studio_M2.png; TT2_Histogram/ket_qua/ket_qua.csv. LAB start/end: 0.45 / 1.93 s. Predictions: 0.47 / 1.92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uses labeled normalized STE from all four TRAIN recordings. LAB labels give 503 silence frames and 794 speech frames. We calculate each class mean and standard deviation, then choose a Gaussian crossing between the class means. The learned threshold is about 0.00276. We keep it fixed for every TEST WAV. This method uses unfiltered normalized STE. After classification, we fill silence shorter than 200 ms.</a:t>
            </a:r>
          </a:p>
          <a:p xmlns:a="http://schemas.openxmlformats.org/drawingml/2006/main">
            <a:r>
              <a:t/>
            </a:r>
          </a:p>
          <a:p xmlns:a="http://schemas.openxmlformats.org/drawingml/2006/main">
            <a:r>
              <a:t>Sources (reference only): TT3_Statistics/algorithm.py, TT3_Statistics/ket_qua/tham_so_huan_luyen.json.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10 ms late. MAE is 5 ms, with zero extra or missing boundaries. Tail STE remains above the shared threshold. The bottom plot shows F0 and the LAB mean reference.</a:t>
            </a:r>
          </a:p>
          <a:p xmlns:a="http://schemas.openxmlformats.org/drawingml/2006/main">
            <a:r>
              <a:t/>
            </a:r>
          </a:p>
          <a:p xmlns:a="http://schemas.openxmlformats.org/drawingml/2006/main">
            <a:r>
              <a:t>Sources (reference only): TT3_Statistics/ket_qua/phone_F2.png; TT3_Statistics/ket_qua/ket_qua.csv. LAB start/end: 1.02 / 4.04 s. Predictions: 1.02 / 4.05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with zero extra or missing boundaries. Possible cause: weak energy near the boundaries. The bottom plot shows F0 and the LAB mean reference.</a:t>
            </a:r>
          </a:p>
          <a:p xmlns:a="http://schemas.openxmlformats.org/drawingml/2006/main">
            <a:r>
              <a:t/>
            </a:r>
          </a:p>
          <a:p xmlns:a="http://schemas.openxmlformats.org/drawingml/2006/main">
            <a:r>
              <a:t>Sources (reference only): TT3_Statistics/ket_qua/phone_M2.png; TT3_Statistics/ket_qua/ket_qua.csv. LAB start/end: 0.53 / 2.52 s. Predictions: 0.53 / 2.51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with zero extra or missing boundaries. Onset window includes speech. Tail energy falls below T.. The bottom plot shows F0 and the LAB mean reference.</a:t>
            </a:r>
          </a:p>
          <a:p xmlns:a="http://schemas.openxmlformats.org/drawingml/2006/main">
            <a:r>
              <a:t/>
            </a:r>
          </a:p>
          <a:p xmlns:a="http://schemas.openxmlformats.org/drawingml/2006/main">
            <a:r>
              <a:t>Sources (reference only): TT3_Statistics/ket_qua/studio_F2.png; TT3_Statistics/ket_qua/ket_qua.csv. LAB start/end: 0.77 / 2.37 s. Predictions: 0.76 / 2.35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10 ms early. MAE is 10 ms, with zero extra or missing boundaries. Possible cause: weak energy near the boundaries. The bottom plot shows F0 and the LAB mean reference.</a:t>
            </a:r>
          </a:p>
          <a:p xmlns:a="http://schemas.openxmlformats.org/drawingml/2006/main">
            <a:r>
              <a:t/>
            </a:r>
          </a:p>
          <a:p xmlns:a="http://schemas.openxmlformats.org/drawingml/2006/main">
            <a:r>
              <a:t>Sources (reference only): TT3_Statistics/ket_qua/studio_M2.png; TT3_Statistics/ket_qua/ket_qua.csv. LAB start/end: 0.45 / 1.93 s. Predictions: 0.46 / 1.92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these four TEST WAVs, Binary Search and Histogram both average 11.25 ms. Statistics averages 8.75 ms, the lowest in our comparison. All three methods match eight reference boundaries with zero extra or missing boundaries. The mean row averages the four files. These results apply to this TEST set.</a:t>
            </a:r>
          </a:p>
          <a:p xmlns:a="http://schemas.openxmlformats.org/drawingml/2006/main">
            <a:r>
              <a:t/>
            </a:r>
          </a:p>
          <a:p xmlns:a="http://schemas.openxmlformats.org/drawingml/2006/main">
            <a:r>
              <a:t>Sources (reference only): the three TT*/ket_qua/ket_qua.csv and tong_hop.csv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listening.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44974d553b4a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66aa58f46f45b9" /><Relationship Type="http://schemas.openxmlformats.org/officeDocument/2006/relationships/slideLayout" Target="/ppt/slideLayouts/slideLayout1.xml" Id="Rc6de348092a847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de348092a847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f1cb7abd9d4dcf" /><Relationship Type="http://schemas.openxmlformats.org/officeDocument/2006/relationships/notesSlide" Target="/ppt/notesSlides/notesSlide1.xml" Id="R35beaa6581a04f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b1385ca8d54442" /><Relationship Type="http://schemas.openxmlformats.org/officeDocument/2006/relationships/notesSlide" Target="/ppt/notesSlides/notesSlide2.xml" Id="Rab9bd97503e04f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b1cedb136b4d58" /><Relationship Type="http://schemas.openxmlformats.org/officeDocument/2006/relationships/notesSlide" Target="/ppt/notesSlides/notesSlide3.xml" Id="Rdad7d929a06d48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30667853c942a7" /><Relationship Type="http://schemas.openxmlformats.org/officeDocument/2006/relationships/image" Target="/ppt/media/image.png" Id="R11fc64c4cc164434" /><Relationship Type="http://schemas.openxmlformats.org/officeDocument/2006/relationships/image" Target="/ppt/media/image2.png" Id="Rf5be6fdaf9e544a4" /><Relationship Type="http://schemas.openxmlformats.org/officeDocument/2006/relationships/image" Target="/ppt/media/image3.png" Id="R62bc158452f74baa" /><Relationship Type="http://schemas.openxmlformats.org/officeDocument/2006/relationships/notesSlide" Target="/ppt/notesSlides/notesSlide4.xml" Id="R1cf347a6224849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bca36ccb9b4b60" /><Relationship Type="http://schemas.openxmlformats.org/officeDocument/2006/relationships/image" Target="/ppt/media/image4.png" Id="Rd2374ff27d5348c5" /><Relationship Type="http://schemas.openxmlformats.org/officeDocument/2006/relationships/image" Target="/ppt/media/image5.png" Id="R2c5e89658c6d46a6" /><Relationship Type="http://schemas.openxmlformats.org/officeDocument/2006/relationships/image" Target="/ppt/media/image6.png" Id="Ree922e369cab4e3e" /><Relationship Type="http://schemas.openxmlformats.org/officeDocument/2006/relationships/notesSlide" Target="/ppt/notesSlides/notesSlide5.xml" Id="R10a3fa8fed8045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863e480b0f4688" /><Relationship Type="http://schemas.openxmlformats.org/officeDocument/2006/relationships/image" Target="/ppt/media/image7.png" Id="Rd273259eabc04dad" /><Relationship Type="http://schemas.openxmlformats.org/officeDocument/2006/relationships/image" Target="/ppt/media/image8.png" Id="R86aec35765014ae9" /><Relationship Type="http://schemas.openxmlformats.org/officeDocument/2006/relationships/image" Target="/ppt/media/image9.png" Id="R790f386185e5461f" /><Relationship Type="http://schemas.openxmlformats.org/officeDocument/2006/relationships/notesSlide" Target="/ppt/notesSlides/notesSlide6.xml" Id="R39b759a6f7c44d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84a8795e594830" /><Relationship Type="http://schemas.openxmlformats.org/officeDocument/2006/relationships/image" Target="/ppt/media/image10.png" Id="R2d512ec3d1d74e35" /><Relationship Type="http://schemas.openxmlformats.org/officeDocument/2006/relationships/image" Target="/ppt/media/image11.png" Id="R4cf569c3c7b646f8" /><Relationship Type="http://schemas.openxmlformats.org/officeDocument/2006/relationships/image" Target="/ppt/media/image12.png" Id="Reae5641a26b54f6a" /><Relationship Type="http://schemas.openxmlformats.org/officeDocument/2006/relationships/notesSlide" Target="/ppt/notesSlides/notesSlide7.xml" Id="R59e1098fb5cf42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1f179b18eb42f1" /><Relationship Type="http://schemas.openxmlformats.org/officeDocument/2006/relationships/notesSlide" Target="/ppt/notesSlides/notesSlide8.xml" Id="Re542ed37babb43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d3b9dce2a44e2e" /><Relationship Type="http://schemas.openxmlformats.org/officeDocument/2006/relationships/image" Target="/ppt/media/image13.png" Id="R7d8e8ba3c7e14350" /><Relationship Type="http://schemas.openxmlformats.org/officeDocument/2006/relationships/image" Target="/ppt/media/image14.png" Id="R837546e7b97f4358" /><Relationship Type="http://schemas.openxmlformats.org/officeDocument/2006/relationships/image" Target="/ppt/media/image15.png" Id="R3a91d3fdde1e4aea" /><Relationship Type="http://schemas.openxmlformats.org/officeDocument/2006/relationships/notesSlide" Target="/ppt/notesSlides/notesSlide9.xml" Id="Re1970d0cff3e4d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3a48e3104b46b1" /><Relationship Type="http://schemas.openxmlformats.org/officeDocument/2006/relationships/image" Target="/ppt/media/image16.png" Id="R126c954936494e72" /><Relationship Type="http://schemas.openxmlformats.org/officeDocument/2006/relationships/image" Target="/ppt/media/image17.png" Id="R58fca0c964b941aa" /><Relationship Type="http://schemas.openxmlformats.org/officeDocument/2006/relationships/image" Target="/ppt/media/image18.png" Id="Rd410ca7a2b32420d" /><Relationship Type="http://schemas.openxmlformats.org/officeDocument/2006/relationships/notesSlide" Target="/ppt/notesSlides/notesSlide10.xml" Id="R8678cd26370049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b08f2fb57a465c" /><Relationship Type="http://schemas.openxmlformats.org/officeDocument/2006/relationships/image" Target="/ppt/media/image19.png" Id="Rf42c101722954eb3" /><Relationship Type="http://schemas.openxmlformats.org/officeDocument/2006/relationships/image" Target="/ppt/media/image20.png" Id="Rb5d2931c2ef24aea" /><Relationship Type="http://schemas.openxmlformats.org/officeDocument/2006/relationships/image" Target="/ppt/media/image21.png" Id="Rfccb31d23d814859" /><Relationship Type="http://schemas.openxmlformats.org/officeDocument/2006/relationships/notesSlide" Target="/ppt/notesSlides/notesSlide11.xml" Id="Ra201e89610394c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bd5e022ac54e89" /><Relationship Type="http://schemas.openxmlformats.org/officeDocument/2006/relationships/image" Target="/ppt/media/image22.png" Id="Rc0ec3b38db2d4760" /><Relationship Type="http://schemas.openxmlformats.org/officeDocument/2006/relationships/image" Target="/ppt/media/image23.png" Id="R44d139700a7643f5" /><Relationship Type="http://schemas.openxmlformats.org/officeDocument/2006/relationships/image" Target="/ppt/media/image24.png" Id="Reee9409ebaa8403f" /><Relationship Type="http://schemas.openxmlformats.org/officeDocument/2006/relationships/notesSlide" Target="/ppt/notesSlides/notesSlide12.xml" Id="R7e12b8fa484f44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cb9a3a64a74dde" /><Relationship Type="http://schemas.openxmlformats.org/officeDocument/2006/relationships/notesSlide" Target="/ppt/notesSlides/notesSlide13.xml" Id="R39b8733b54a144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6f13a3e28344ae" /><Relationship Type="http://schemas.openxmlformats.org/officeDocument/2006/relationships/image" Target="/ppt/media/image25.png" Id="R685f48dbd27f4f31" /><Relationship Type="http://schemas.openxmlformats.org/officeDocument/2006/relationships/image" Target="/ppt/media/image26.png" Id="Ra2d2cd8c9ca64b48" /><Relationship Type="http://schemas.openxmlformats.org/officeDocument/2006/relationships/image" Target="/ppt/media/image27.png" Id="R4d84fbe819df4e81" /><Relationship Type="http://schemas.openxmlformats.org/officeDocument/2006/relationships/notesSlide" Target="/ppt/notesSlides/notesSlide14.xml" Id="R96c04e9a96a245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90d58ebf6b48de" /><Relationship Type="http://schemas.openxmlformats.org/officeDocument/2006/relationships/image" Target="/ppt/media/image28.png" Id="Rde89d6b7aba14ff5" /><Relationship Type="http://schemas.openxmlformats.org/officeDocument/2006/relationships/image" Target="/ppt/media/image29.png" Id="R0ac5287572f8422e" /><Relationship Type="http://schemas.openxmlformats.org/officeDocument/2006/relationships/image" Target="/ppt/media/image30.png" Id="Ra5eb620afc574edb" /><Relationship Type="http://schemas.openxmlformats.org/officeDocument/2006/relationships/notesSlide" Target="/ppt/notesSlides/notesSlide15.xml" Id="Rab530686d1834a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a03fdeee50422e" /><Relationship Type="http://schemas.openxmlformats.org/officeDocument/2006/relationships/image" Target="/ppt/media/image31.png" Id="R2fa1c8e77b574a62" /><Relationship Type="http://schemas.openxmlformats.org/officeDocument/2006/relationships/image" Target="/ppt/media/image32.png" Id="Rdb5a32cf031242d0" /><Relationship Type="http://schemas.openxmlformats.org/officeDocument/2006/relationships/image" Target="/ppt/media/image33.png" Id="R899bd847cd3b4218" /><Relationship Type="http://schemas.openxmlformats.org/officeDocument/2006/relationships/notesSlide" Target="/ppt/notesSlides/notesSlide16.xml" Id="R55c7f8e298ae47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f2388b732f438f" /><Relationship Type="http://schemas.openxmlformats.org/officeDocument/2006/relationships/image" Target="/ppt/media/image34.png" Id="R4f8685a070e74d53" /><Relationship Type="http://schemas.openxmlformats.org/officeDocument/2006/relationships/image" Target="/ppt/media/image35.png" Id="R4381398bac454537" /><Relationship Type="http://schemas.openxmlformats.org/officeDocument/2006/relationships/image" Target="/ppt/media/image36.png" Id="R702c1fe837ec4c7f" /><Relationship Type="http://schemas.openxmlformats.org/officeDocument/2006/relationships/notesSlide" Target="/ppt/notesSlides/notesSlide17.xml" Id="Ref5a4f2f114b4b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a5d1cc22434598" /><Relationship Type="http://schemas.openxmlformats.org/officeDocument/2006/relationships/notesSlide" Target="/ppt/notesSlides/notesSlide18.xml" Id="R73a9ecf6ff4b44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c26d39d3e6427e" /><Relationship Type="http://schemas.openxmlformats.org/officeDocument/2006/relationships/notesSlide" Target="/ppt/notesSlides/notesSlide19.xml" Id="R10b6bf0c23954691" /></Relationships>
</file>

<file path=ppt/slides/slide1.xml><?xml version="1.0" encoding="utf-8"?>
<p:sld xmlns:p="http://schemas.openxmlformats.org/presentationml/2006/main">
  <p:cSld>
    <p:bg>
      <p:bgPr>
        <a:solidFill xmlns:a="http://schemas.openxmlformats.org/drawingml/2006/main">
          <a:srgbClr val="15363D"/>
        </a:solidFill>
      </p:bgPr>
    </p:bg>
    <p:spTree>
      <p:nvGrpSpPr>
        <p:cNvPr id="1" name=""/>
        <p:cNvGrpSpPr/>
        <p:nvPr/>
      </p:nvGrpSpPr>
      <p:grpSpPr>
        <a:xfrm xmlns:a="http://schemas.openxmlformats.org/drawingml/2006/main"/>
      </p:grpSpPr>
      <p:sp>
        <p:nvSpPr>
          <p:cNvPr id="7" name="DSP Midterm, Group 03">
            <a:extLst xmlns:a="http://schemas.openxmlformats.org/drawingml/2006/main">
              <a:ext uri="{FF2B5EF4-FFF2-40B4-BE49-F238E27FC236}">
                <a16:creationId xmlns:a16="http://schemas.microsoft.com/office/drawing/2014/main" id="{405C9138-A0B4-4C7E-BB76-01B9C125E686}"/>
              </a:ext>
            </a:extLst>
          </p:cNvPr>
          <p:cNvSpPr>
            <a:spLocks xmlns:a="http://schemas.openxmlformats.org/drawingml/2006/main" noGrp="1"/>
          </p:cNvSpPr>
          <p:nvPr/>
        </p:nvSpPr>
        <p:spPr>
          <a:xfrm xmlns:a="http://schemas.openxmlformats.org/drawingml/2006/main">
            <a:off x="609600" y="4572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A9DECF"/>
                </a:solidFill>
                <a:latin typeface="Lato"/>
                <a:ea typeface="Lato"/>
                <a:cs typeface="Lato"/>
              </a:defRPr>
            </a:pPr>
            <a:r>
              <a:rPr sz="2250" b="1">
                <a:solidFill>
                  <a:srgbClr val="A9DECF"/>
                </a:solidFill>
                <a:latin typeface="Lato"/>
                <a:ea typeface="Lato"/>
                <a:cs typeface="Lato"/>
              </a:rPr>
              <a:t>DSP Midterm, Group 03</a:t>
            </a:r>
          </a:p>
        </p:txBody>
      </p:sp>
      <p:sp>
        <p:nvSpPr>
          <p:cNvPr id="2" name="Speech and silence">
            <a:extLst xmlns:a="http://schemas.openxmlformats.org/drawingml/2006/main">
              <a:ext uri="{FF2B5EF4-FFF2-40B4-BE49-F238E27FC236}">
                <a16:creationId xmlns:a16="http://schemas.microsoft.com/office/drawing/2014/main" id="{2F3F75CC-8366-4D2F-9999-2EA8836EB27B}"/>
              </a:ext>
            </a:extLst>
          </p:cNvPr>
          <p:cNvSpPr>
            <a:spLocks xmlns:a="http://schemas.openxmlformats.org/drawingml/2006/main" noGrp="1"/>
          </p:cNvSpPr>
          <p:nvPr/>
        </p:nvSpPr>
        <p:spPr>
          <a:xfrm xmlns:a="http://schemas.openxmlformats.org/drawingml/2006/main">
            <a:off x="609600" y="1524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150" b="1">
                <a:solidFill>
                  <a:srgbClr val="FFFFFF"/>
                </a:solidFill>
                <a:latin typeface="Lato"/>
                <a:ea typeface="Lato"/>
                <a:cs typeface="Lato"/>
              </a:defRPr>
            </a:pPr>
            <a:r>
              <a:rPr sz="6150" b="1">
                <a:solidFill>
                  <a:srgbClr val="FFFFFF"/>
                </a:solidFill>
                <a:latin typeface="Lato"/>
                <a:ea typeface="Lato"/>
                <a:cs typeface="Lato"/>
              </a:rPr>
              <a:t>Speech and silence</a:t>
            </a:r>
          </a:p>
        </p:txBody>
      </p:sp>
      <p:sp>
        <p:nvSpPr>
          <p:cNvPr id="3" name="segmentation">
            <a:extLst xmlns:a="http://schemas.openxmlformats.org/drawingml/2006/main">
              <a:ext uri="{FF2B5EF4-FFF2-40B4-BE49-F238E27FC236}">
                <a16:creationId xmlns:a16="http://schemas.microsoft.com/office/drawing/2014/main" id="{54534D29-1653-47A9-B024-D98480E1E3C2}"/>
              </a:ext>
            </a:extLst>
          </p:cNvPr>
          <p:cNvSpPr>
            <a:spLocks xmlns:a="http://schemas.openxmlformats.org/drawingml/2006/main" noGrp="1"/>
          </p:cNvSpPr>
          <p:nvPr/>
        </p:nvSpPr>
        <p:spPr>
          <a:xfrm xmlns:a="http://schemas.openxmlformats.org/drawingml/2006/main">
            <a:off x="609600" y="2476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150" b="1">
                <a:solidFill>
                  <a:srgbClr val="FFFFFF"/>
                </a:solidFill>
                <a:latin typeface="Lato"/>
                <a:ea typeface="Lato"/>
                <a:cs typeface="Lato"/>
              </a:defRPr>
            </a:pPr>
            <a:r>
              <a:rPr sz="6150" b="1">
                <a:solidFill>
                  <a:srgbClr val="FFFFFF"/>
                </a:solidFill>
                <a:latin typeface="Lato"/>
                <a:ea typeface="Lato"/>
                <a:cs typeface="Lato"/>
              </a:rPr>
              <a:t>segmentation</a:t>
            </a:r>
          </a:p>
        </p:txBody>
      </p:sp>
      <p:sp>
        <p:nvSpPr>
          <p:cNvPr id="4" name="Võ Thanh Quân: Binary Search">
            <a:extLst xmlns:a="http://schemas.openxmlformats.org/drawingml/2006/main">
              <a:ext uri="{FF2B5EF4-FFF2-40B4-BE49-F238E27FC236}">
                <a16:creationId xmlns:a16="http://schemas.microsoft.com/office/drawing/2014/main" id="{7B7A7AB1-7252-4FC6-9B9A-1499F32E50D7}"/>
              </a:ext>
            </a:extLst>
          </p:cNvPr>
          <p:cNvSpPr>
            <a:spLocks xmlns:a="http://schemas.openxmlformats.org/drawingml/2006/main" noGrp="1"/>
          </p:cNvSpPr>
          <p:nvPr/>
        </p:nvSpPr>
        <p:spPr>
          <a:xfrm xmlns:a="http://schemas.openxmlformats.org/drawingml/2006/main">
            <a:off x="609600" y="4333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Võ Thanh Quân: Binary Search</a:t>
            </a:r>
          </a:p>
        </p:txBody>
      </p:sp>
      <p:sp>
        <p:nvSpPr>
          <p:cNvPr id="5" name="Vương Quốc Trung: Histogram">
            <a:extLst xmlns:a="http://schemas.openxmlformats.org/drawingml/2006/main">
              <a:ext uri="{FF2B5EF4-FFF2-40B4-BE49-F238E27FC236}">
                <a16:creationId xmlns:a16="http://schemas.microsoft.com/office/drawing/2014/main" id="{7E9FF758-C05E-4C96-BF70-9B92936432CC}"/>
              </a:ext>
            </a:extLst>
          </p:cNvPr>
          <p:cNvSpPr>
            <a:spLocks xmlns:a="http://schemas.openxmlformats.org/drawingml/2006/main" noGrp="1"/>
          </p:cNvSpPr>
          <p:nvPr/>
        </p:nvSpPr>
        <p:spPr>
          <a:xfrm xmlns:a="http://schemas.openxmlformats.org/drawingml/2006/main">
            <a:off x="609600" y="4848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Vương Quốc Trung: Histogram</a:t>
            </a:r>
          </a:p>
        </p:txBody>
      </p:sp>
      <p:sp>
        <p:nvSpPr>
          <p:cNvPr id="6" name="Đinh Huỳnh Nguyên Khang: Statistics">
            <a:extLst xmlns:a="http://schemas.openxmlformats.org/drawingml/2006/main">
              <a:ext uri="{FF2B5EF4-FFF2-40B4-BE49-F238E27FC236}">
                <a16:creationId xmlns:a16="http://schemas.microsoft.com/office/drawing/2014/main" id="{AA25DD84-764E-4EDC-A3CA-78709988696F}"/>
              </a:ext>
            </a:extLst>
          </p:cNvPr>
          <p:cNvSpPr>
            <a:spLocks xmlns:a="http://schemas.openxmlformats.org/drawingml/2006/main" noGrp="1"/>
          </p:cNvSpPr>
          <p:nvPr/>
        </p:nvSpPr>
        <p:spPr>
          <a:xfrm xmlns:a="http://schemas.openxmlformats.org/drawingml/2006/main">
            <a:off x="609600" y="53625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Đinh Huỳnh Nguyên Khang: Statistics</a:t>
            </a:r>
          </a:p>
        </p:txBody>
      </p:sp>
    </p:spTree>
    <p:extLst>
      <p:ext uri="{BB962C8B-B14F-4D97-AF65-F5344CB8AC3E}">
        <p14:creationId xmlns:p14="http://schemas.microsoft.com/office/powerpoint/2010/main" val="155744357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Shared experiment settings">
            <a:extLst xmlns:a="http://schemas.openxmlformats.org/drawingml/2006/main">
              <a:ext uri="{FF2B5EF4-FFF2-40B4-BE49-F238E27FC236}">
                <a16:creationId xmlns:a16="http://schemas.microsoft.com/office/drawing/2014/main" id="{C89932D9-854C-443E-8CB3-A5425D8DDA91}"/>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15363D"/>
                </a:solidFill>
                <a:latin typeface="Lato"/>
                <a:ea typeface="Lato"/>
                <a:cs typeface="Lato"/>
              </a:defRPr>
            </a:pPr>
            <a:r>
              <a:rPr sz="3450" b="1">
                <a:solidFill>
                  <a:srgbClr val="15363D"/>
                </a:solidFill>
                <a:latin typeface="Lato"/>
                <a:ea typeface="Lato"/>
                <a:cs typeface="Lato"/>
              </a:rPr>
              <a:t>Shared experiment settings</a:t>
            </a:r>
          </a:p>
        </p:txBody>
      </p:sp>
      <p:sp>
        <p:nvSpPr>
          <p:cNvPr id="2" name="4 TRAIN WAVs. 4 separate TEST WAVs.">
            <a:extLst xmlns:a="http://schemas.openxmlformats.org/drawingml/2006/main">
              <a:ext uri="{FF2B5EF4-FFF2-40B4-BE49-F238E27FC236}">
                <a16:creationId xmlns:a16="http://schemas.microsoft.com/office/drawing/2014/main" id="{C67EA7BD-3E2A-4A60-881F-73AD6685CC06}"/>
              </a:ext>
            </a:extLst>
          </p:cNvPr>
          <p:cNvSpPr>
            <a:spLocks xmlns:a="http://schemas.openxmlformats.org/drawingml/2006/main" noGrp="1"/>
          </p:cNvSpPr>
          <p:nvPr/>
        </p:nvSpPr>
        <p:spPr>
          <a:xfrm xmlns:a="http://schemas.openxmlformats.org/drawingml/2006/main">
            <a:off x="609600" y="1495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4 TRAIN WAVs. 4 separate TEST WAVs.</a:t>
            </a:r>
          </a:p>
        </p:txBody>
      </p:sp>
      <p:sp>
        <p:nvSpPr>
          <p:cNvPr id="3" name="25 ms windows centered on 10 ms decisions.">
            <a:extLst xmlns:a="http://schemas.openxmlformats.org/drawingml/2006/main">
              <a:ext uri="{FF2B5EF4-FFF2-40B4-BE49-F238E27FC236}">
                <a16:creationId xmlns:a16="http://schemas.microsoft.com/office/drawing/2014/main" id="{666BF0D7-222D-438A-99D5-F77BAA2BAA72}"/>
              </a:ext>
            </a:extLst>
          </p:cNvPr>
          <p:cNvSpPr>
            <a:spLocks xmlns:a="http://schemas.openxmlformats.org/drawingml/2006/main" noGrp="1"/>
          </p:cNvSpPr>
          <p:nvPr/>
        </p:nvSpPr>
        <p:spPr>
          <a:xfrm xmlns:a="http://schemas.openxmlformats.org/drawingml/2006/main">
            <a:off x="609600" y="2228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25 ms windows centered on 10 ms decisions.</a:t>
            </a:r>
          </a:p>
        </p:txBody>
      </p:sp>
      <p:sp>
        <p:nvSpPr>
          <p:cNvPr id="4" name="Normalize STE separately for each WAV.">
            <a:extLst xmlns:a="http://schemas.openxmlformats.org/drawingml/2006/main">
              <a:ext uri="{FF2B5EF4-FFF2-40B4-BE49-F238E27FC236}">
                <a16:creationId xmlns:a16="http://schemas.microsoft.com/office/drawing/2014/main" id="{365BA3EA-C867-4CCA-9F19-8EED25F6FD51}"/>
              </a:ext>
            </a:extLst>
          </p:cNvPr>
          <p:cNvSpPr>
            <a:spLocks xmlns:a="http://schemas.openxmlformats.org/drawingml/2006/main" noGrp="1"/>
          </p:cNvSpPr>
          <p:nvPr/>
        </p:nvSpPr>
        <p:spPr>
          <a:xfrm xmlns:a="http://schemas.openxmlformats.org/drawingml/2006/main">
            <a:off x="609600" y="2962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Normalize STE separately for each WAV.</a:t>
            </a:r>
          </a:p>
        </p:txBody>
      </p:sp>
      <p:sp>
        <p:nvSpPr>
          <p:cNvPr id="5" name="Merge all silence shorter than 200 ms.">
            <a:extLst xmlns:a="http://schemas.openxmlformats.org/drawingml/2006/main">
              <a:ext uri="{FF2B5EF4-FFF2-40B4-BE49-F238E27FC236}">
                <a16:creationId xmlns:a16="http://schemas.microsoft.com/office/drawing/2014/main" id="{B48FD2DF-3E3B-40DF-A782-1756B9DEA773}"/>
              </a:ext>
            </a:extLst>
          </p:cNvPr>
          <p:cNvSpPr>
            <a:spLocks xmlns:a="http://schemas.openxmlformats.org/drawingml/2006/main" noGrp="1"/>
          </p:cNvSpPr>
          <p:nvPr/>
        </p:nvSpPr>
        <p:spPr>
          <a:xfrm xmlns:a="http://schemas.openxmlformats.org/drawingml/2006/main">
            <a:off x="609600" y="3695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Merge all silence shorter than 200 ms.</a:t>
            </a:r>
          </a:p>
        </p:txBody>
      </p:sp>
      <p:sp>
        <p:nvSpPr>
          <p:cNvPr id="6" name="Red: LAB. Blue: predicted boundaries.">
            <a:extLst xmlns:a="http://schemas.openxmlformats.org/drawingml/2006/main">
              <a:ext uri="{FF2B5EF4-FFF2-40B4-BE49-F238E27FC236}">
                <a16:creationId xmlns:a16="http://schemas.microsoft.com/office/drawing/2014/main" id="{F5B2278F-FF3C-464A-86AE-AE7EC918C5F0}"/>
              </a:ext>
            </a:extLst>
          </p:cNvPr>
          <p:cNvSpPr>
            <a:spLocks xmlns:a="http://schemas.openxmlformats.org/drawingml/2006/main" noGrp="1"/>
          </p:cNvSpPr>
          <p:nvPr/>
        </p:nvSpPr>
        <p:spPr>
          <a:xfrm xmlns:a="http://schemas.openxmlformats.org/drawingml/2006/main">
            <a:off x="609600" y="4429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Red: LAB. Blue: predicted boundaries.</a:t>
            </a:r>
          </a:p>
        </p:txBody>
      </p:sp>
      <p:sp>
        <p:nvSpPr>
          <p:cNvPr id="7" name="F0 is shown as an independent estimate.">
            <a:extLst xmlns:a="http://schemas.openxmlformats.org/drawingml/2006/main">
              <a:ext uri="{FF2B5EF4-FFF2-40B4-BE49-F238E27FC236}">
                <a16:creationId xmlns:a16="http://schemas.microsoft.com/office/drawing/2014/main" id="{4DC26A21-6ABA-46DF-AAFA-47F3D44CEEFF}"/>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F0 is shown as an independent estimate.</a:t>
            </a:r>
          </a:p>
        </p:txBody>
      </p:sp>
    </p:spTree>
    <p:extLst>
      <p:ext uri="{BB962C8B-B14F-4D97-AF65-F5344CB8AC3E}">
        <p14:creationId xmlns:p14="http://schemas.microsoft.com/office/powerpoint/2010/main" val="151024308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Binary Search">
            <a:extLst xmlns:a="http://schemas.openxmlformats.org/drawingml/2006/main">
              <a:ext uri="{FF2B5EF4-FFF2-40B4-BE49-F238E27FC236}">
                <a16:creationId xmlns:a16="http://schemas.microsoft.com/office/drawing/2014/main" id="{0844AB90-2BC7-4553-8561-6303AE8DA648}"/>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Binary Search</a:t>
            </a:r>
          </a:p>
        </p:txBody>
      </p:sp>
      <p:sp>
        <p:nvSpPr>
          <p:cNvPr id="2" name="Võ Thanh Quân">
            <a:extLst xmlns:a="http://schemas.openxmlformats.org/drawingml/2006/main">
              <a:ext uri="{FF2B5EF4-FFF2-40B4-BE49-F238E27FC236}">
                <a16:creationId xmlns:a16="http://schemas.microsoft.com/office/drawing/2014/main" id="{B77A50E6-1959-4C85-9AF2-A7BA1BEFB7D2}"/>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Võ Thanh Quân</a:t>
            </a:r>
          </a:p>
        </p:txBody>
      </p:sp>
      <p:sp>
        <p:nvSpPr>
          <p:cNvPr id="3" name="TRAIN">
            <a:extLst xmlns:a="http://schemas.openxmlformats.org/drawingml/2006/main">
              <a:ext uri="{FF2B5EF4-FFF2-40B4-BE49-F238E27FC236}">
                <a16:creationId xmlns:a16="http://schemas.microsoft.com/office/drawing/2014/main" id="{3A3CC6C8-4D77-4567-B795-442EFF77A03F}"/>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Normalize STE Apply median">
            <a:extLst xmlns:a="http://schemas.openxmlformats.org/drawingml/2006/main">
              <a:ext uri="{FF2B5EF4-FFF2-40B4-BE49-F238E27FC236}">
                <a16:creationId xmlns:a16="http://schemas.microsoft.com/office/drawing/2014/main" id="{EA1CE99E-97FC-4F54-A4BF-8B3B79846D9D}"/>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Apply median</a:t>
            </a:r>
          </a:p>
        </p:txBody>
      </p:sp>
      <p:sp>
        <p:nvSpPr>
          <p:cNvPr id="5" name="LAB frame labels Keep overlap">
            <a:extLst xmlns:a="http://schemas.openxmlformats.org/drawingml/2006/main">
              <a:ext uri="{FF2B5EF4-FFF2-40B4-BE49-F238E27FC236}">
                <a16:creationId xmlns:a16="http://schemas.microsoft.com/office/drawing/2014/main" id="{4F3BB0B7-710A-4843-AE7D-84BEB636AFBB}"/>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LAB frame labels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Keep overlap</a:t>
            </a:r>
          </a:p>
        </p:txBody>
      </p:sp>
      <p:sp>
        <p:nvSpPr>
          <p:cNvPr id="6" name="Bisect threshold Score TRAIN">
            <a:extLst xmlns:a="http://schemas.openxmlformats.org/drawingml/2006/main">
              <a:ext uri="{FF2B5EF4-FFF2-40B4-BE49-F238E27FC236}">
                <a16:creationId xmlns:a16="http://schemas.microsoft.com/office/drawing/2014/main" id="{0A9FE9FD-ABA7-4D01-BFDD-B72486D48C98}"/>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Bisect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Score TRAIN</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Median = 15. Shared T = 0.0016054242.">
            <a:extLst xmlns:a="http://schemas.openxmlformats.org/drawingml/2006/main">
              <a:ext uri="{FF2B5EF4-FFF2-40B4-BE49-F238E27FC236}">
                <a16:creationId xmlns:a16="http://schemas.microsoft.com/office/drawing/2014/main" id="{86849CC7-DCB3-471F-A15D-721421F5C4EC}"/>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Median = 15. Shared T = 0.0016054242.</a:t>
            </a:r>
          </a:p>
        </p:txBody>
      </p:sp>
      <p:sp>
        <p:nvSpPr>
          <p:cNvPr id="10" name="TEST">
            <a:extLst xmlns:a="http://schemas.openxmlformats.org/drawingml/2006/main">
              <a:ext uri="{FF2B5EF4-FFF2-40B4-BE49-F238E27FC236}">
                <a16:creationId xmlns:a16="http://schemas.microsoft.com/office/drawing/2014/main" id="{E00A77D0-4019-490B-87D1-63E56C7C9061}"/>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Same TEST features Median = 15">
            <a:extLst xmlns:a="http://schemas.openxmlformats.org/drawingml/2006/main">
              <a:ext uri="{FF2B5EF4-FFF2-40B4-BE49-F238E27FC236}">
                <a16:creationId xmlns:a16="http://schemas.microsoft.com/office/drawing/2014/main" id="{9E69E60F-BF80-4AD9-88D6-6E3F38B8AC2F}"/>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Same TEST features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Median = 15</a:t>
            </a:r>
          </a:p>
        </p:txBody>
      </p:sp>
      <p:sp>
        <p:nvSpPr>
          <p:cNvPr id="12" name="Fixed threshold Speech or silence">
            <a:extLst xmlns:a="http://schemas.openxmlformats.org/drawingml/2006/main">
              <a:ext uri="{FF2B5EF4-FFF2-40B4-BE49-F238E27FC236}">
                <a16:creationId xmlns:a16="http://schemas.microsoft.com/office/drawing/2014/main" id="{70ED69D3-9DA5-4174-8771-1B0E2A13607B}"/>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Fixed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Speech or silence</a:t>
            </a:r>
          </a:p>
        </p:txBody>
      </p:sp>
      <p:sp>
        <p:nvSpPr>
          <p:cNvPr id="13" name="Fill short silence Under 200 ms">
            <a:extLst xmlns:a="http://schemas.openxmlformats.org/drawingml/2006/main">
              <a:ext uri="{FF2B5EF4-FFF2-40B4-BE49-F238E27FC236}">
                <a16:creationId xmlns:a16="http://schemas.microsoft.com/office/drawing/2014/main" id="{8F222E74-C4DA-4711-9E00-8D5B197BCFA3}"/>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Fill short silence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1057567859"/>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Binary Search: phone_F2">
            <a:extLst xmlns:a="http://schemas.openxmlformats.org/drawingml/2006/main">
              <a:ext uri="{FF2B5EF4-FFF2-40B4-BE49-F238E27FC236}">
                <a16:creationId xmlns:a16="http://schemas.microsoft.com/office/drawing/2014/main" id="{5E500353-487D-4F10-800C-74404188F1B1}"/>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phone_F2</a:t>
            </a:r>
          </a:p>
        </p:txBody>
      </p:sp>
      <p:sp>
        <p:nvSpPr>
          <p:cNvPr id="2" name="MAE 30 ms">
            <a:extLst xmlns:a="http://schemas.openxmlformats.org/drawingml/2006/main">
              <a:ext uri="{FF2B5EF4-FFF2-40B4-BE49-F238E27FC236}">
                <a16:creationId xmlns:a16="http://schemas.microsoft.com/office/drawing/2014/main" id="{578624A5-C013-49C4-BF07-F9AB25C0E79C}"/>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30 ms</a:t>
            </a:r>
          </a:p>
        </p:txBody>
      </p:sp>
      <p:sp>
        <p:nvSpPr>
          <p:cNvPr id="3" name="Start matches. End 60 ms late.">
            <a:extLst xmlns:a="http://schemas.openxmlformats.org/drawingml/2006/main">
              <a:ext uri="{FF2B5EF4-FFF2-40B4-BE49-F238E27FC236}">
                <a16:creationId xmlns:a16="http://schemas.microsoft.com/office/drawing/2014/main" id="{C4D1DB5B-7E93-40C1-8824-85FC922AD4F6}"/>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60 ms late.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1fc64c4cc164434"/>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5be6fdaf9e544a4"/>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2bc158452f74baa"/>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E64A6B79-68A8-4A7F-AE43-8295B57492C6}"/>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4AE811F2-1F9C-4855-A552-D0E6F09D01E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9DF3FDFA-0F10-4020-B65D-5688A79591CD}"/>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ED4C174D-91A9-4CAB-B8B3-7652204CF40B}"/>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D19E8295-7850-4294-866A-4320EAE32263}"/>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50E0AE9E-D556-452F-8F31-D17407B38E2D}"/>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4759B0E0-AAF5-4DFD-8907-72010B403FA5}"/>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15E50201-4BD4-47D8-AC2D-3338050F59AB}"/>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23F3BB54-8F84-4E98-8105-97A483B02EAA}"/>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293DDB91-14B4-43DC-B414-A0F9F96F6CD9}"/>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3D6D1E7E-8FA1-4B7D-BFFB-3F314658B664}"/>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303B2274-7532-49FB-8A41-119EE7399F26}"/>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45089F8F-648C-44BC-80CB-58DFED54EF34}"/>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BA936D03-E50C-47DE-AC03-8A5474C2A0DA}"/>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1573CDC9-83A3-43BE-B99C-67DEFE54C84C}"/>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0859B830-3152-4553-8661-E0523DDCC990}"/>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30CEA86B-2FD3-47A3-96B0-A0C88E3EB45D}"/>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0D3B83B3-88AB-4871-A6BE-669540ED1E67}"/>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A3E78DB9-DE76-4F89-ADAF-58DFC12ED1D0}"/>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52EB3F20-3EF6-4687-AF6F-3A497415A13A}"/>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85BD03C3-A940-4655-AF14-D25F4D6C80AE}"/>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666ECC9A-8D3C-4680-A7D7-E91C7596D77D}"/>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E2656872-3A95-4F07-8997-E0E2E89212F6}"/>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76E1B6BB-0239-49DC-8BAA-BC4D7A8EC12F}"/>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601988E9-7F15-457F-9CE0-C3F5BED9F29E}"/>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1A46D4F9-4055-455B-B917-8D9B8E66F013}"/>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0F33EA3F-D7B4-4144-925C-036A1FB88DAA}"/>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Tail median STE remains">
            <a:extLst xmlns:a="http://schemas.openxmlformats.org/drawingml/2006/main">
              <a:ext uri="{FF2B5EF4-FFF2-40B4-BE49-F238E27FC236}">
                <a16:creationId xmlns:a16="http://schemas.microsoft.com/office/drawing/2014/main" id="{1B039C04-5541-4EDC-8B08-E33241FA6B9C}"/>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median STE remains</a:t>
            </a:r>
          </a:p>
        </p:txBody>
      </p:sp>
      <p:sp>
        <p:nvSpPr>
          <p:cNvPr id="35" name="above the fixed threshold">
            <a:extLst xmlns:a="http://schemas.openxmlformats.org/drawingml/2006/main">
              <a:ext uri="{FF2B5EF4-FFF2-40B4-BE49-F238E27FC236}">
                <a16:creationId xmlns:a16="http://schemas.microsoft.com/office/drawing/2014/main" id="{C1E3D5BA-805E-446D-AB37-060DA5081752}"/>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above the fixed threshold</a:t>
            </a:r>
          </a:p>
        </p:txBody>
      </p:sp>
      <p:sp>
        <p:nvSpPr>
          <p:cNvPr id="36" name="Extra: 0. Missed: 0.">
            <a:extLst xmlns:a="http://schemas.openxmlformats.org/drawingml/2006/main">
              <a:ext uri="{FF2B5EF4-FFF2-40B4-BE49-F238E27FC236}">
                <a16:creationId xmlns:a16="http://schemas.microsoft.com/office/drawing/2014/main" id="{17253A58-13A6-400B-8686-34DB3E051A22}"/>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015304370"/>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Binary Search: phone_M2">
            <a:extLst xmlns:a="http://schemas.openxmlformats.org/drawingml/2006/main">
              <a:ext uri="{FF2B5EF4-FFF2-40B4-BE49-F238E27FC236}">
                <a16:creationId xmlns:a16="http://schemas.microsoft.com/office/drawing/2014/main" id="{4FEC8B14-9165-435A-A23C-C4A2CC080E68}"/>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phone_M2</a:t>
            </a:r>
          </a:p>
        </p:txBody>
      </p:sp>
      <p:sp>
        <p:nvSpPr>
          <p:cNvPr id="2" name="MAE 0 ms">
            <a:extLst xmlns:a="http://schemas.openxmlformats.org/drawingml/2006/main">
              <a:ext uri="{FF2B5EF4-FFF2-40B4-BE49-F238E27FC236}">
                <a16:creationId xmlns:a16="http://schemas.microsoft.com/office/drawing/2014/main" id="{C0D0EDBE-E3C6-430B-9523-FC70CC272536}"/>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0 ms</a:t>
            </a:r>
          </a:p>
        </p:txBody>
      </p:sp>
      <p:sp>
        <p:nvSpPr>
          <p:cNvPr id="3" name="Start matches. End matches.">
            <a:extLst xmlns:a="http://schemas.openxmlformats.org/drawingml/2006/main">
              <a:ext uri="{FF2B5EF4-FFF2-40B4-BE49-F238E27FC236}">
                <a16:creationId xmlns:a16="http://schemas.microsoft.com/office/drawing/2014/main" id="{71DB2363-BB9F-4244-9A53-ED2D94783C7E}"/>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matches.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2374ff27d5348c5"/>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c5e89658c6d46a6"/>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e922e369cab4e3e"/>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4AF46C61-505D-4A4B-A243-4D839C0A492B}"/>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428B4655-B2F1-47CE-BDB2-DD9F6ECDE775}"/>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CB3255C0-3657-4B82-B506-90B3F4601278}"/>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75124F87-01C1-4487-8705-5CC930FCE9B1}"/>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827DD456-A0A8-4E71-8F0D-95319E0D593F}"/>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3726E50B-FE99-49A4-BE48-D67CA4879B72}"/>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A0837865-BFFD-435A-86BB-E5C600AF73B5}"/>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D14D1934-AD2F-45D4-8920-80F1772E1B2C}"/>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8B316120-953B-4D90-B6A1-68E7FF9A5521}"/>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46022D96-B671-45D2-B6D1-2027FCB1694F}"/>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9E4A9DE2-C6CC-4C1D-AEF5-AD5B393C4357}"/>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5731D9D1-F50C-43F0-AACE-0BF63CA29A40}"/>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F20FEC3B-C149-4794-8E36-45A5AD0ABB1F}"/>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FFFA696A-15D1-420B-AA89-D1DC94E82634}"/>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D03EB4BD-0C31-491C-AE79-4CDA2A9B7DBA}"/>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0F4878C3-6F12-4663-B748-2E2F41BFDE60}"/>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FFBF2644-05D5-4B94-9810-B4098FB926DD}"/>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86ACF511-9DFE-40D3-92A2-8B6828748A59}"/>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7B45CE7B-96A3-46AB-A2AC-CA422303F8A4}"/>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A52797BF-6587-4C28-AB60-48897D24C86A}"/>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2BE8389C-86D4-483C-A1BA-F80086645C61}"/>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Both LAB timestamps match">
            <a:extLst xmlns:a="http://schemas.openxmlformats.org/drawingml/2006/main">
              <a:ext uri="{FF2B5EF4-FFF2-40B4-BE49-F238E27FC236}">
                <a16:creationId xmlns:a16="http://schemas.microsoft.com/office/drawing/2014/main" id="{95FBEF0D-25AF-49A5-BC10-5544F22A95A8}"/>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Both LAB timestamps match</a:t>
            </a:r>
          </a:p>
        </p:txBody>
      </p:sp>
      <p:sp>
        <p:nvSpPr>
          <p:cNvPr id="29" name="the detected transitions">
            <a:extLst xmlns:a="http://schemas.openxmlformats.org/drawingml/2006/main">
              <a:ext uri="{FF2B5EF4-FFF2-40B4-BE49-F238E27FC236}">
                <a16:creationId xmlns:a16="http://schemas.microsoft.com/office/drawing/2014/main" id="{00E5CC19-F00E-4AD0-B807-D17E000AB3B9}"/>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detected transitions</a:t>
            </a:r>
          </a:p>
        </p:txBody>
      </p:sp>
      <p:sp>
        <p:nvSpPr>
          <p:cNvPr id="30" name="Extra: 0. Missed: 0.">
            <a:extLst xmlns:a="http://schemas.openxmlformats.org/drawingml/2006/main">
              <a:ext uri="{FF2B5EF4-FFF2-40B4-BE49-F238E27FC236}">
                <a16:creationId xmlns:a16="http://schemas.microsoft.com/office/drawing/2014/main" id="{C0E2CB33-8D2F-4AE0-AEA6-B0A51927DD12}"/>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927872481"/>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Binary Search: studio_F2">
            <a:extLst xmlns:a="http://schemas.openxmlformats.org/drawingml/2006/main">
              <a:ext uri="{FF2B5EF4-FFF2-40B4-BE49-F238E27FC236}">
                <a16:creationId xmlns:a16="http://schemas.microsoft.com/office/drawing/2014/main" id="{128B5305-F2B0-40BC-8C0D-7455D26A58A2}"/>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studio_F2</a:t>
            </a:r>
          </a:p>
        </p:txBody>
      </p:sp>
      <p:sp>
        <p:nvSpPr>
          <p:cNvPr id="2" name="MAE 10 ms">
            <a:extLst xmlns:a="http://schemas.openxmlformats.org/drawingml/2006/main">
              <a:ext uri="{FF2B5EF4-FFF2-40B4-BE49-F238E27FC236}">
                <a16:creationId xmlns:a16="http://schemas.microsoft.com/office/drawing/2014/main" id="{3A1CD297-A97B-49F6-899F-A4A77770E73A}"/>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early. End 10 ms early.">
            <a:extLst xmlns:a="http://schemas.openxmlformats.org/drawingml/2006/main">
              <a:ext uri="{FF2B5EF4-FFF2-40B4-BE49-F238E27FC236}">
                <a16:creationId xmlns:a16="http://schemas.microsoft.com/office/drawing/2014/main" id="{94A3E113-290E-4F1B-BBCE-278BD990F042}"/>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10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273259eabc04dad"/>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6aec35765014ae9"/>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90f386185e5461f"/>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14655D1B-21F9-487A-A84C-106D280BCB8B}"/>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4C99865A-CAC8-4B1D-BE45-201D777FCF2C}"/>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8829BC3A-4574-401F-807F-FCA2BBF386D8}"/>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52B428C0-4A37-48E0-A144-0E7132E35027}"/>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80DB12C2-6FCF-43EB-B5B6-B2BD5FB45D9C}"/>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FF33E04D-13FE-4845-B421-DA39FB71B787}"/>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0D533064-591B-44C0-B3BA-AB44D1DD2C52}"/>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D78EC93F-9066-4307-AA1F-0EFFA588CB6E}"/>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1B50830C-5FA2-4B6B-8AC2-78B2FD8FACB7}"/>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3E7EDAB5-79BB-47AF-8030-CAEBE215330A}"/>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05CABDCA-E711-45A3-8B46-3F5DFFD91B70}"/>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A72BFBA3-4739-406B-B470-DDFD7879C6A1}"/>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3E29BBE4-BCB3-4145-B7E5-BAD21844AF1A}"/>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FB9C2ACF-8BA5-4506-999C-7EFB53CB582A}"/>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AA41310E-94A4-4613-9BE5-E7A53DBA574E}"/>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5EA7891A-1703-4095-96BD-85B0F126B4D6}"/>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D26C6CDF-86CE-4ED4-8F9D-2812CBB6E919}"/>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50B29C4A-660E-4765-8166-9663FF5D0532}"/>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F7AED291-A914-47A0-94AB-3287896C93D5}"/>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290373F3-0C83-425B-B703-8C6500546FD2}"/>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E0F2B6FD-243A-4611-BA19-14D1140A933C}"/>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93064170-8ECB-4A55-9058-BACE805F8D6D}"/>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61395ECB-7CF2-44FC-BE00-7F0514020043}"/>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E9B50E9F-3404-4890-80DC-3357FC9F427F}"/>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Energy crosses T before">
            <a:extLst xmlns:a="http://schemas.openxmlformats.org/drawingml/2006/main">
              <a:ext uri="{FF2B5EF4-FFF2-40B4-BE49-F238E27FC236}">
                <a16:creationId xmlns:a16="http://schemas.microsoft.com/office/drawing/2014/main" id="{8382E944-C77B-42A9-807B-33402F1AD021}"/>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crosses T before</a:t>
            </a:r>
          </a:p>
        </p:txBody>
      </p:sp>
      <p:sp>
        <p:nvSpPr>
          <p:cNvPr id="32" name="the LAB transitions">
            <a:extLst xmlns:a="http://schemas.openxmlformats.org/drawingml/2006/main">
              <a:ext uri="{FF2B5EF4-FFF2-40B4-BE49-F238E27FC236}">
                <a16:creationId xmlns:a16="http://schemas.microsoft.com/office/drawing/2014/main" id="{C88D384A-1808-4545-867C-0CE6ACFE86A9}"/>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LAB transitions</a:t>
            </a:r>
          </a:p>
        </p:txBody>
      </p:sp>
      <p:sp>
        <p:nvSpPr>
          <p:cNvPr id="33" name="Extra: 0. Missed: 0.">
            <a:extLst xmlns:a="http://schemas.openxmlformats.org/drawingml/2006/main">
              <a:ext uri="{FF2B5EF4-FFF2-40B4-BE49-F238E27FC236}">
                <a16:creationId xmlns:a16="http://schemas.microsoft.com/office/drawing/2014/main" id="{8A8BD55B-B0A9-49AA-8430-A1AE3B4F1D63}"/>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821583612"/>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Binary Search: studio_M2">
            <a:extLst xmlns:a="http://schemas.openxmlformats.org/drawingml/2006/main">
              <a:ext uri="{FF2B5EF4-FFF2-40B4-BE49-F238E27FC236}">
                <a16:creationId xmlns:a16="http://schemas.microsoft.com/office/drawing/2014/main" id="{9E6FA71A-8400-44C5-BA52-359B458C285F}"/>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studio_M2</a:t>
            </a:r>
          </a:p>
        </p:txBody>
      </p:sp>
      <p:sp>
        <p:nvSpPr>
          <p:cNvPr id="2" name="MAE 5 ms">
            <a:extLst xmlns:a="http://schemas.openxmlformats.org/drawingml/2006/main">
              <a:ext uri="{FF2B5EF4-FFF2-40B4-BE49-F238E27FC236}">
                <a16:creationId xmlns:a16="http://schemas.microsoft.com/office/drawing/2014/main" id="{972DD591-B33D-497A-AA7F-A8E638EA3243}"/>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10 ms late. End matches.">
            <a:extLst xmlns:a="http://schemas.openxmlformats.org/drawingml/2006/main">
              <a:ext uri="{FF2B5EF4-FFF2-40B4-BE49-F238E27FC236}">
                <a16:creationId xmlns:a16="http://schemas.microsoft.com/office/drawing/2014/main" id="{CC2F19CB-E020-4BC5-8D9E-4CAC43FAD968}"/>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matches.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d512ec3d1d74e35"/>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cf569c3c7b646f8"/>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ae5641a26b54f6a"/>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9C545C7E-AA8E-4472-9124-4DA224DE5666}"/>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632B9FC6-2A06-4388-A0EB-0F4591CC6661}"/>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7273DAF3-6BE3-41FC-97D1-64EEF2128C8B}"/>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D6A6CAC1-E444-4EF0-BAAE-2BE05821AA5A}"/>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D52FC005-2E17-4659-81DA-7019C2233A5C}"/>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A65C4A6B-52A6-4207-A309-BBAA37B70547}"/>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3777DE1F-A494-4E18-B20E-3205E2B019AE}"/>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F6DF975F-3FA4-4D67-AA29-BC2E9EB5454D}"/>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4DB7C9DE-5044-42B8-AA5A-9EAFA3AE85CF}"/>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28344F65-BB36-4340-9A7C-FDF05BC28601}"/>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CB247E56-2107-4227-AB6C-1D8738C9F98E}"/>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2A6AC84C-DEA9-41AD-8E6B-818E16773735}"/>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FEF5A12D-BBF4-494B-9A71-12D58EE1FCD8}"/>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7C333EE5-092A-4A67-A181-2DC8EA312A6A}"/>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FD5DC33D-2157-48B1-9302-31800BF5FDF6}"/>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B6D4FC33-A733-4E1A-9771-FC770F569D37}"/>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6090D0FC-8B80-48CC-BA56-B060B9F2A473}"/>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342C569C-7608-4FB8-A55E-414D8699A017}"/>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2422D300-BA12-4400-BFFA-176F69C7A887}"/>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F8843E81-5C6E-4021-99BE-8D4FD3A4897C}"/>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73426DC3-86D5-43A7-828C-0DC6BC6407AD}"/>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B718EA8D-9507-466B-B182-7C059E4CEF31}"/>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onset">
            <a:extLst xmlns:a="http://schemas.openxmlformats.org/drawingml/2006/main">
              <a:ext uri="{FF2B5EF4-FFF2-40B4-BE49-F238E27FC236}">
                <a16:creationId xmlns:a16="http://schemas.microsoft.com/office/drawing/2014/main" id="{F72B8153-B276-4209-8181-16538A7DA389}"/>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onset</a:t>
            </a:r>
          </a:p>
        </p:txBody>
      </p:sp>
      <p:sp>
        <p:nvSpPr>
          <p:cNvPr id="30" name="Extra: 0. Missed: 0.">
            <a:extLst xmlns:a="http://schemas.openxmlformats.org/drawingml/2006/main">
              <a:ext uri="{FF2B5EF4-FFF2-40B4-BE49-F238E27FC236}">
                <a16:creationId xmlns:a16="http://schemas.microsoft.com/office/drawing/2014/main" id="{642D6E3B-C8CD-418E-B922-C7D812B248F4}"/>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701306702"/>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Histogram">
            <a:extLst xmlns:a="http://schemas.openxmlformats.org/drawingml/2006/main">
              <a:ext uri="{FF2B5EF4-FFF2-40B4-BE49-F238E27FC236}">
                <a16:creationId xmlns:a16="http://schemas.microsoft.com/office/drawing/2014/main" id="{49D2BE95-192E-41B6-9F2B-9062E41F415B}"/>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Histogram</a:t>
            </a:r>
          </a:p>
        </p:txBody>
      </p:sp>
      <p:sp>
        <p:nvSpPr>
          <p:cNvPr id="2" name="Vương Quốc Trung">
            <a:extLst xmlns:a="http://schemas.openxmlformats.org/drawingml/2006/main">
              <a:ext uri="{FF2B5EF4-FFF2-40B4-BE49-F238E27FC236}">
                <a16:creationId xmlns:a16="http://schemas.microsoft.com/office/drawing/2014/main" id="{24704D6C-8178-4C98-9113-C1CB45B14669}"/>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Vương Quốc Trung</a:t>
            </a:r>
          </a:p>
        </p:txBody>
      </p:sp>
      <p:sp>
        <p:nvSpPr>
          <p:cNvPr id="3" name="TRAIN">
            <a:extLst xmlns:a="http://schemas.openxmlformats.org/drawingml/2006/main">
              <a:ext uri="{FF2B5EF4-FFF2-40B4-BE49-F238E27FC236}">
                <a16:creationId xmlns:a16="http://schemas.microsoft.com/office/drawing/2014/main" id="{333F63F4-81F2-4C92-A0B8-3F0D8527C6DE}"/>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TRAIN histograms 128 bins">
            <a:extLst xmlns:a="http://schemas.openxmlformats.org/drawingml/2006/main">
              <a:ext uri="{FF2B5EF4-FFF2-40B4-BE49-F238E27FC236}">
                <a16:creationId xmlns:a16="http://schemas.microsoft.com/office/drawing/2014/main" id="{8DF96116-B8D0-4906-BB68-1354C22B8CAB}"/>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TRAIN histograms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128 bins</a:t>
            </a:r>
          </a:p>
        </p:txBody>
      </p:sp>
      <p:sp>
        <p:nvSpPr>
          <p:cNvPr id="5" name="Try W candidates Eight values">
            <a:extLst xmlns:a="http://schemas.openxmlformats.org/drawingml/2006/main">
              <a:ext uri="{FF2B5EF4-FFF2-40B4-BE49-F238E27FC236}">
                <a16:creationId xmlns:a16="http://schemas.microsoft.com/office/drawing/2014/main" id="{F3C0EC9D-E3A5-4929-B925-7B87A193F59D}"/>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Try W candidates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Eight values</a:t>
            </a:r>
          </a:p>
        </p:txBody>
      </p:sp>
      <p:sp>
        <p:nvSpPr>
          <p:cNvPr id="6" name="Score TRAIN boundaries Errors, then MAE">
            <a:extLst xmlns:a="http://schemas.openxmlformats.org/drawingml/2006/main">
              <a:ext uri="{FF2B5EF4-FFF2-40B4-BE49-F238E27FC236}">
                <a16:creationId xmlns:a16="http://schemas.microsoft.com/office/drawing/2014/main" id="{C1FB1057-42DF-4617-88C6-7F001419CA5C}"/>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Score TRAIN boundaries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Errors, then MAE</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Selected W = 30. Smooth over 3 bins.">
            <a:extLst xmlns:a="http://schemas.openxmlformats.org/drawingml/2006/main">
              <a:ext uri="{FF2B5EF4-FFF2-40B4-BE49-F238E27FC236}">
                <a16:creationId xmlns:a16="http://schemas.microsoft.com/office/drawing/2014/main" id="{0CD0C7C7-3F3A-462A-96EE-7B0C7AD6F2AC}"/>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Selected W = 30. Smooth over 3 bins.</a:t>
            </a:r>
          </a:p>
        </p:txBody>
      </p:sp>
      <p:sp>
        <p:nvSpPr>
          <p:cNvPr id="10" name="TEST">
            <a:extLst xmlns:a="http://schemas.openxmlformats.org/drawingml/2006/main">
              <a:ext uri="{FF2B5EF4-FFF2-40B4-BE49-F238E27FC236}">
                <a16:creationId xmlns:a16="http://schemas.microsoft.com/office/drawing/2014/main" id="{E6392F46-37AE-4A37-BFC3-BBC9B06C2E13}"/>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TEST histogram Normalized STE">
            <a:extLst xmlns:a="http://schemas.openxmlformats.org/drawingml/2006/main">
              <a:ext uri="{FF2B5EF4-FFF2-40B4-BE49-F238E27FC236}">
                <a16:creationId xmlns:a16="http://schemas.microsoft.com/office/drawing/2014/main" id="{AC6471D7-93BA-434F-A1DC-DF1A0C9A98A4}"/>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TEST histogram</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Normalized STE</a:t>
            </a:r>
          </a:p>
        </p:txBody>
      </p:sp>
      <p:sp>
        <p:nvSpPr>
          <p:cNvPr id="12" name="First two peaks Adaptive threshold">
            <a:extLst xmlns:a="http://schemas.openxmlformats.org/drawingml/2006/main">
              <a:ext uri="{FF2B5EF4-FFF2-40B4-BE49-F238E27FC236}">
                <a16:creationId xmlns:a16="http://schemas.microsoft.com/office/drawing/2014/main" id="{1EC0BF58-5D18-42BB-9DB0-E3AF2E9EE76F}"/>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First two peaks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Adaptive threshold</a:t>
            </a:r>
          </a:p>
        </p:txBody>
      </p:sp>
      <p:sp>
        <p:nvSpPr>
          <p:cNvPr id="13" name="Classify and merge Silence under 200 ms">
            <a:extLst xmlns:a="http://schemas.openxmlformats.org/drawingml/2006/main">
              <a:ext uri="{FF2B5EF4-FFF2-40B4-BE49-F238E27FC236}">
                <a16:creationId xmlns:a16="http://schemas.microsoft.com/office/drawing/2014/main" id="{41CFE570-523C-4611-B413-E297F326C31B}"/>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Classify and merge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820086730"/>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Histogram: phone_F2">
            <a:extLst xmlns:a="http://schemas.openxmlformats.org/drawingml/2006/main">
              <a:ext uri="{FF2B5EF4-FFF2-40B4-BE49-F238E27FC236}">
                <a16:creationId xmlns:a16="http://schemas.microsoft.com/office/drawing/2014/main" id="{878DDF76-F022-4D77-B2D1-40F65CFF4886}"/>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phone_F2</a:t>
            </a:r>
          </a:p>
        </p:txBody>
      </p:sp>
      <p:sp>
        <p:nvSpPr>
          <p:cNvPr id="2" name="MAE 10 ms">
            <a:extLst xmlns:a="http://schemas.openxmlformats.org/drawingml/2006/main">
              <a:ext uri="{FF2B5EF4-FFF2-40B4-BE49-F238E27FC236}">
                <a16:creationId xmlns:a16="http://schemas.microsoft.com/office/drawing/2014/main" id="{9204B7E2-7AFE-48B1-9EF4-8C4BC18BB564}"/>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late. End 10 ms early.">
            <a:extLst xmlns:a="http://schemas.openxmlformats.org/drawingml/2006/main">
              <a:ext uri="{FF2B5EF4-FFF2-40B4-BE49-F238E27FC236}">
                <a16:creationId xmlns:a16="http://schemas.microsoft.com/office/drawing/2014/main" id="{75C6D1FD-09BD-44DF-8386-D3A34F2AA695}"/>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10 ms early.</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d8e8ba3c7e14350"/>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37546e7b97f4358"/>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a91d3fdde1e4aea"/>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819B3480-70F6-4BFF-8165-32F7468D34B7}"/>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CDA5F61B-F95D-44A2-B284-68C9657B420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FCA5D747-C287-47FF-8750-226F75F2FE14}"/>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54183468">
            <a:extLst xmlns:a="http://schemas.openxmlformats.org/drawingml/2006/main">
              <a:ext uri="{FF2B5EF4-FFF2-40B4-BE49-F238E27FC236}">
                <a16:creationId xmlns:a16="http://schemas.microsoft.com/office/drawing/2014/main" id="{F862C2F6-4B97-436A-98B3-D0968B7D6962}"/>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0.0054183468</a:t>
            </a:r>
          </a:p>
        </p:txBody>
      </p:sp>
      <p:sp>
        <p:nvSpPr>
          <p:cNvPr id="11" name="t (s)">
            <a:extLst xmlns:a="http://schemas.openxmlformats.org/drawingml/2006/main">
              <a:ext uri="{FF2B5EF4-FFF2-40B4-BE49-F238E27FC236}">
                <a16:creationId xmlns:a16="http://schemas.microsoft.com/office/drawing/2014/main" id="{B72A9398-9C29-4E54-9445-0A28563D0D4E}"/>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346A5D6C-FCFC-4355-B1FC-B91CFD0EF3AE}"/>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90E262E7-4406-4C04-8450-9F5E3C7A2626}"/>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7DB1F3EC-4AB9-4FCE-84B8-F37F35FB5804}"/>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FFB0AE78-6A1E-48B4-9046-9D79690586C4}"/>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420D48EB-5458-41C8-B8E7-98322304E97C}"/>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2E032115-13B9-4856-A073-097651FFF887}"/>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CF15F835-C986-4DB8-8191-DCCE8A1F4A97}"/>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1EE8AFB8-525E-4B83-9B55-8D38C2ED0FEE}"/>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0685FDAF-C8B1-43DE-95D1-41CE8CA3DDAD}"/>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7BD300DB-805E-4601-BFDC-3B774CD8BABD}"/>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2E201EA4-5E60-4848-8DDB-346C1C99B1F1}"/>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B44686EF-5E3E-4602-9452-0DE0C680E5DD}"/>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893DB9A5-172B-4F97-8552-FA14BABED104}"/>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122EFCFF-53AB-4458-9DBD-60D26493F37B}"/>
              </a:ext>
            </a:extLst>
          </p:cNvPr>
          <p:cNvSpPr>
            <a:spLocks xmlns:a="http://schemas.openxmlformats.org/drawingml/2006/main" noGrp="1"/>
          </p:cNvSpPr>
          <p:nvPr/>
        </p:nvSpPr>
        <p:spPr>
          <a:xfrm xmlns:a="http://schemas.openxmlformats.org/drawingml/2006/main">
            <a:off x="699452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A1F03A15-5EAC-4F2D-A65E-DF2BF3EF2D45}"/>
              </a:ext>
            </a:extLst>
          </p:cNvPr>
          <p:cNvSpPr>
            <a:spLocks xmlns:a="http://schemas.openxmlformats.org/drawingml/2006/main" noGrp="1"/>
          </p:cNvSpPr>
          <p:nvPr/>
        </p:nvSpPr>
        <p:spPr>
          <a:xfrm xmlns:a="http://schemas.openxmlformats.org/drawingml/2006/main">
            <a:off x="821690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BD16B0C3-26F7-45AA-9485-F944A4A33FD9}"/>
              </a:ext>
            </a:extLst>
          </p:cNvPr>
          <p:cNvSpPr>
            <a:spLocks xmlns:a="http://schemas.openxmlformats.org/drawingml/2006/main" noGrp="1"/>
          </p:cNvSpPr>
          <p:nvPr/>
        </p:nvSpPr>
        <p:spPr>
          <a:xfrm xmlns:a="http://schemas.openxmlformats.org/drawingml/2006/main">
            <a:off x="943927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D6665A89-1CA4-45DC-9C3C-554B77C01E93}"/>
              </a:ext>
            </a:extLst>
          </p:cNvPr>
          <p:cNvSpPr>
            <a:spLocks xmlns:a="http://schemas.openxmlformats.org/drawingml/2006/main" noGrp="1"/>
          </p:cNvSpPr>
          <p:nvPr/>
        </p:nvSpPr>
        <p:spPr>
          <a:xfrm xmlns:a="http://schemas.openxmlformats.org/drawingml/2006/main">
            <a:off x="10661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18D6F34D-6ADC-4429-9B97-08CAE66806EF}"/>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C37A733C-03AE-4774-945F-FD5AFB49DAA4}"/>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72B3831E-69B0-4AA3-AB19-21A2D13D7C8D}"/>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3F7CD17F-F7FF-44A7-A42D-397C63685675}"/>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E9A4DA89-A67C-4DE2-8DA7-556F0FBD2433}"/>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Possible cause: weak">
            <a:extLst xmlns:a="http://schemas.openxmlformats.org/drawingml/2006/main">
              <a:ext uri="{FF2B5EF4-FFF2-40B4-BE49-F238E27FC236}">
                <a16:creationId xmlns:a16="http://schemas.microsoft.com/office/drawing/2014/main" id="{D92CE979-7D84-4A08-812E-04DD910556D8}"/>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35" name="energy near the boundaries">
            <a:extLst xmlns:a="http://schemas.openxmlformats.org/drawingml/2006/main">
              <a:ext uri="{FF2B5EF4-FFF2-40B4-BE49-F238E27FC236}">
                <a16:creationId xmlns:a16="http://schemas.microsoft.com/office/drawing/2014/main" id="{C905985E-79A1-42BD-B60F-794BA0F004A5}"/>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6" name="Extra: 0. Missed: 0.">
            <a:extLst xmlns:a="http://schemas.openxmlformats.org/drawingml/2006/main">
              <a:ext uri="{FF2B5EF4-FFF2-40B4-BE49-F238E27FC236}">
                <a16:creationId xmlns:a16="http://schemas.microsoft.com/office/drawing/2014/main" id="{98292A93-AA5E-4C39-A7C0-E2A2CD911E44}"/>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274111883"/>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Histogram: phone_M2">
            <a:extLst xmlns:a="http://schemas.openxmlformats.org/drawingml/2006/main">
              <a:ext uri="{FF2B5EF4-FFF2-40B4-BE49-F238E27FC236}">
                <a16:creationId xmlns:a16="http://schemas.microsoft.com/office/drawing/2014/main" id="{EB228BCC-8C70-44B9-80B3-2C71C0DF566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phone_M2</a:t>
            </a:r>
          </a:p>
        </p:txBody>
      </p:sp>
      <p:sp>
        <p:nvSpPr>
          <p:cNvPr id="2" name="MAE 5 ms">
            <a:extLst xmlns:a="http://schemas.openxmlformats.org/drawingml/2006/main">
              <a:ext uri="{FF2B5EF4-FFF2-40B4-BE49-F238E27FC236}">
                <a16:creationId xmlns:a16="http://schemas.microsoft.com/office/drawing/2014/main" id="{36364BE5-C601-46D4-808C-ED6274626FC5}"/>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early.">
            <a:extLst xmlns:a="http://schemas.openxmlformats.org/drawingml/2006/main">
              <a:ext uri="{FF2B5EF4-FFF2-40B4-BE49-F238E27FC236}">
                <a16:creationId xmlns:a16="http://schemas.microsoft.com/office/drawing/2014/main" id="{BBC033A0-5682-4C4B-868A-9BC7EB2837D8}"/>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26c954936494e72"/>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8fca0c964b941aa"/>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410ca7a2b32420d"/>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53BDA710-7444-41A6-A97B-C804EAC910D7}"/>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8953AE99-2770-4C27-96D9-6D8AFAA0A080}"/>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8D4D4FE4-3646-4A4D-9C97-CAF315396A06}"/>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61743952">
            <a:extLst xmlns:a="http://schemas.openxmlformats.org/drawingml/2006/main">
              <a:ext uri="{FF2B5EF4-FFF2-40B4-BE49-F238E27FC236}">
                <a16:creationId xmlns:a16="http://schemas.microsoft.com/office/drawing/2014/main" id="{7E4D657B-11F6-423F-9789-29C456847EE3}"/>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0.0061743952</a:t>
            </a:r>
          </a:p>
        </p:txBody>
      </p:sp>
      <p:sp>
        <p:nvSpPr>
          <p:cNvPr id="11" name="t (s)">
            <a:extLst xmlns:a="http://schemas.openxmlformats.org/drawingml/2006/main">
              <a:ext uri="{FF2B5EF4-FFF2-40B4-BE49-F238E27FC236}">
                <a16:creationId xmlns:a16="http://schemas.microsoft.com/office/drawing/2014/main" id="{E17E4315-B386-4AC5-9298-8B1532FBEE16}"/>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0616E471-C8C7-4B1C-8118-1001A59F5630}"/>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F13322C6-240F-43AE-9E69-C02BDD7D74B0}"/>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47C6A070-DE07-4703-B8B9-D563E234581E}"/>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E14835D1-3D59-489C-9FEE-060EDB7F3883}"/>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31DA23A1-3233-483C-AFB1-17C9312EC81A}"/>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63F2315B-0D3D-4E32-85F6-33253E603E7C}"/>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A0064621-1BD7-4BB3-A90F-B3700F3CBB0A}"/>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E48212E3-9ADC-43FB-B2F5-E8C610AC0F69}"/>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0352BFBE-2C4F-47E5-A635-BA4D74909B8A}"/>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7DAD9803-5DF1-45A5-BD94-1BA60E12FFF6}"/>
              </a:ext>
            </a:extLst>
          </p:cNvPr>
          <p:cNvSpPr>
            <a:spLocks xmlns:a="http://schemas.openxmlformats.org/drawingml/2006/main" noGrp="1"/>
          </p:cNvSpPr>
          <p:nvPr/>
        </p:nvSpPr>
        <p:spPr>
          <a:xfrm xmlns:a="http://schemas.openxmlformats.org/drawingml/2006/main">
            <a:off x="7867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F2AB86A8-45D2-43B7-9F3F-D4DA35F98EB6}"/>
              </a:ext>
            </a:extLst>
          </p:cNvPr>
          <p:cNvSpPr>
            <a:spLocks xmlns:a="http://schemas.openxmlformats.org/drawingml/2006/main" noGrp="1"/>
          </p:cNvSpPr>
          <p:nvPr/>
        </p:nvSpPr>
        <p:spPr>
          <a:xfrm xmlns:a="http://schemas.openxmlformats.org/drawingml/2006/main">
            <a:off x="9963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3196C93B-13EB-498F-A09E-F94AABE9665D}"/>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D769197F-AF24-4443-B6BD-7466CF8EACB3}"/>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C7980175-5C0C-4D0E-971A-A96372D91D13}"/>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9224B756-A9F5-4485-91F5-DD1C1B45AC78}"/>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6289D021-39F7-48A8-A34F-8D44F8BCC12F}"/>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034FCED8-97D6-45B3-B6D5-390C087DA144}"/>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F7549FA2-7D3E-46E3-B6C4-885E7249C083}"/>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09E1BEED-31ED-4D3A-86B0-1C675B9E9199}"/>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42446782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Histogram: studio_F2">
            <a:extLst xmlns:a="http://schemas.openxmlformats.org/drawingml/2006/main">
              <a:ext uri="{FF2B5EF4-FFF2-40B4-BE49-F238E27FC236}">
                <a16:creationId xmlns:a16="http://schemas.microsoft.com/office/drawing/2014/main" id="{D5F82155-5D5F-4E09-B0BC-07ABA62AE29E}"/>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studio_F2</a:t>
            </a:r>
          </a:p>
        </p:txBody>
      </p:sp>
      <p:sp>
        <p:nvSpPr>
          <p:cNvPr id="2" name="MAE 15 ms">
            <a:extLst xmlns:a="http://schemas.openxmlformats.org/drawingml/2006/main">
              <a:ext uri="{FF2B5EF4-FFF2-40B4-BE49-F238E27FC236}">
                <a16:creationId xmlns:a16="http://schemas.microsoft.com/office/drawing/2014/main" id="{4A5F134F-6635-40B0-B145-4F39BF8A474B}"/>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10 ms early. End 20 ms early.">
            <a:extLst xmlns:a="http://schemas.openxmlformats.org/drawingml/2006/main">
              <a:ext uri="{FF2B5EF4-FFF2-40B4-BE49-F238E27FC236}">
                <a16:creationId xmlns:a16="http://schemas.microsoft.com/office/drawing/2014/main" id="{4D229F59-1261-427C-A4F1-9CF52D4C234D}"/>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20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42c101722954eb3"/>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5d2931c2ef24aea"/>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ccb31d23d814859"/>
          <a:stretch xmlns:a="http://schemas.openxmlformats.org/drawingml/2006/main"/>
        </p:blipFill>
        <p:spPr>
          <a:xfrm xmlns:a="http://schemas.openxmlformats.org/drawingml/2006/main">
            <a:off x="5924550" y="4991100"/>
            <a:ext cx="5867400" cy="146897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BE4BE126-D444-4127-BB21-60685A131184}"/>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90E53C23-7489-453F-9DC9-F68DCE1AB5C7}"/>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74BDA554-4C70-48C0-9BBD-9A0DA8C0D40A}"/>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61743952">
            <a:extLst xmlns:a="http://schemas.openxmlformats.org/drawingml/2006/main">
              <a:ext uri="{FF2B5EF4-FFF2-40B4-BE49-F238E27FC236}">
                <a16:creationId xmlns:a16="http://schemas.microsoft.com/office/drawing/2014/main" id="{69AA5B8B-9A69-4CEF-9425-40C46F8A3F2D}"/>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0.0061743952</a:t>
            </a:r>
          </a:p>
        </p:txBody>
      </p:sp>
      <p:sp>
        <p:nvSpPr>
          <p:cNvPr id="11" name="t (s)">
            <a:extLst xmlns:a="http://schemas.openxmlformats.org/drawingml/2006/main">
              <a:ext uri="{FF2B5EF4-FFF2-40B4-BE49-F238E27FC236}">
                <a16:creationId xmlns:a16="http://schemas.microsoft.com/office/drawing/2014/main" id="{B9C04EDF-0990-4729-836C-06B62D30B82F}"/>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3EA49215-B1C0-4AC5-A393-8007D105AB3C}"/>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E4F35CEE-C231-4DF2-9C4F-45DD742A3BD6}"/>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759328B1-1860-4C6E-98C2-F94EA3D997D5}"/>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87597E1D-6DD3-4785-B49F-E36D85177459}"/>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C4E1B825-BE52-4A13-8E45-ADEC554526F2}"/>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FCC6278D-B9C4-431A-89A7-BFE103A33E5C}"/>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7A9F5D69-F59A-41FB-BCE2-E93D021593FD}"/>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C935AA6B-0B47-40F6-A67F-4FF4FD0602E9}"/>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3AE99F1E-E0B5-488A-8DEA-44723AC44CEA}"/>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67286CE1-0C84-4F36-B3AC-C55A6F76E87A}"/>
              </a:ext>
            </a:extLst>
          </p:cNvPr>
          <p:cNvSpPr>
            <a:spLocks xmlns:a="http://schemas.openxmlformats.org/drawingml/2006/main" noGrp="1"/>
          </p:cNvSpPr>
          <p:nvPr/>
        </p:nvSpPr>
        <p:spPr>
          <a:xfrm xmlns:a="http://schemas.openxmlformats.org/drawingml/2006/main">
            <a:off x="5086350" y="64791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213B1D86-8233-428F-96B4-EF51812C839F}"/>
              </a:ext>
            </a:extLst>
          </p:cNvPr>
          <p:cNvSpPr>
            <a:spLocks xmlns:a="http://schemas.openxmlformats.org/drawingml/2006/main" noGrp="1"/>
          </p:cNvSpPr>
          <p:nvPr/>
        </p:nvSpPr>
        <p:spPr>
          <a:xfrm xmlns:a="http://schemas.openxmlformats.org/drawingml/2006/main">
            <a:off x="577215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B5A6F518-9226-4E5F-91C8-4DA2499352B1}"/>
              </a:ext>
            </a:extLst>
          </p:cNvPr>
          <p:cNvSpPr>
            <a:spLocks xmlns:a="http://schemas.openxmlformats.org/drawingml/2006/main" noGrp="1"/>
          </p:cNvSpPr>
          <p:nvPr/>
        </p:nvSpPr>
        <p:spPr>
          <a:xfrm xmlns:a="http://schemas.openxmlformats.org/drawingml/2006/main">
            <a:off x="763512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077D094C-61F9-497A-9BFC-0E55FE856906}"/>
              </a:ext>
            </a:extLst>
          </p:cNvPr>
          <p:cNvSpPr>
            <a:spLocks xmlns:a="http://schemas.openxmlformats.org/drawingml/2006/main" noGrp="1"/>
          </p:cNvSpPr>
          <p:nvPr/>
        </p:nvSpPr>
        <p:spPr>
          <a:xfrm xmlns:a="http://schemas.openxmlformats.org/drawingml/2006/main">
            <a:off x="949810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41ABE692-F3CF-486B-B433-789B011774AD}"/>
              </a:ext>
            </a:extLst>
          </p:cNvPr>
          <p:cNvSpPr>
            <a:spLocks xmlns:a="http://schemas.openxmlformats.org/drawingml/2006/main" noGrp="1"/>
          </p:cNvSpPr>
          <p:nvPr/>
        </p:nvSpPr>
        <p:spPr>
          <a:xfrm xmlns:a="http://schemas.openxmlformats.org/drawingml/2006/main">
            <a:off x="1136107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53D6BCE5-D7EB-429C-B70A-9505664EB3D6}"/>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8DE7B97D-C919-42BE-9C00-0BB0FE1E2F6F}"/>
              </a:ext>
            </a:extLst>
          </p:cNvPr>
          <p:cNvSpPr>
            <a:spLocks xmlns:a="http://schemas.openxmlformats.org/drawingml/2006/main" noGrp="1"/>
          </p:cNvSpPr>
          <p:nvPr/>
        </p:nvSpPr>
        <p:spPr>
          <a:xfrm xmlns:a="http://schemas.openxmlformats.org/drawingml/2006/main">
            <a:off x="5248275" y="613773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A88E45CD-364C-4AF9-9023-E185C33439A8}"/>
              </a:ext>
            </a:extLst>
          </p:cNvPr>
          <p:cNvSpPr>
            <a:spLocks xmlns:a="http://schemas.openxmlformats.org/drawingml/2006/main" noGrp="1"/>
          </p:cNvSpPr>
          <p:nvPr/>
        </p:nvSpPr>
        <p:spPr>
          <a:xfrm xmlns:a="http://schemas.openxmlformats.org/drawingml/2006/main">
            <a:off x="5248275" y="574071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AEA2BB61-5E27-4D69-8E14-DB9620058452}"/>
              </a:ext>
            </a:extLst>
          </p:cNvPr>
          <p:cNvSpPr>
            <a:spLocks xmlns:a="http://schemas.openxmlformats.org/drawingml/2006/main" noGrp="1"/>
          </p:cNvSpPr>
          <p:nvPr/>
        </p:nvSpPr>
        <p:spPr>
          <a:xfrm xmlns:a="http://schemas.openxmlformats.org/drawingml/2006/main">
            <a:off x="5248275" y="534369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A2C4F441-5900-469B-A3BA-F96F937284C3}"/>
              </a:ext>
            </a:extLst>
          </p:cNvPr>
          <p:cNvSpPr>
            <a:spLocks xmlns:a="http://schemas.openxmlformats.org/drawingml/2006/main" noGrp="1"/>
          </p:cNvSpPr>
          <p:nvPr/>
        </p:nvSpPr>
        <p:spPr>
          <a:xfrm xmlns:a="http://schemas.openxmlformats.org/drawingml/2006/main">
            <a:off x="5248275" y="49466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Onset window includes speech.">
            <a:extLst xmlns:a="http://schemas.openxmlformats.org/drawingml/2006/main">
              <a:ext uri="{FF2B5EF4-FFF2-40B4-BE49-F238E27FC236}">
                <a16:creationId xmlns:a16="http://schemas.microsoft.com/office/drawing/2014/main" id="{837E87EB-5B5A-41CA-88F4-BC4DC3DEF500}"/>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Onset window includes speech.</a:t>
            </a:r>
          </a:p>
        </p:txBody>
      </p:sp>
      <p:sp>
        <p:nvSpPr>
          <p:cNvPr id="32" name="Tail energy falls below T.">
            <a:extLst xmlns:a="http://schemas.openxmlformats.org/drawingml/2006/main">
              <a:ext uri="{FF2B5EF4-FFF2-40B4-BE49-F238E27FC236}">
                <a16:creationId xmlns:a16="http://schemas.microsoft.com/office/drawing/2014/main" id="{024A28D4-CD56-4DED-BBD2-5417A8F90817}"/>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energy falls below T.</a:t>
            </a:r>
          </a:p>
        </p:txBody>
      </p:sp>
      <p:sp>
        <p:nvSpPr>
          <p:cNvPr id="33" name="Extra: 0. Missed: 0.">
            <a:extLst xmlns:a="http://schemas.openxmlformats.org/drawingml/2006/main">
              <a:ext uri="{FF2B5EF4-FFF2-40B4-BE49-F238E27FC236}">
                <a16:creationId xmlns:a16="http://schemas.microsoft.com/office/drawing/2014/main" id="{0D0A1087-7A4C-4591-BE73-55914AADEB80}"/>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436353976"/>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Histogram: studio_M2">
            <a:extLst xmlns:a="http://schemas.openxmlformats.org/drawingml/2006/main">
              <a:ext uri="{FF2B5EF4-FFF2-40B4-BE49-F238E27FC236}">
                <a16:creationId xmlns:a16="http://schemas.microsoft.com/office/drawing/2014/main" id="{FE52FAC2-F9B1-432F-A061-C1C10994CF2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studio_M2</a:t>
            </a:r>
          </a:p>
        </p:txBody>
      </p:sp>
      <p:sp>
        <p:nvSpPr>
          <p:cNvPr id="2" name="MAE 15 ms">
            <a:extLst xmlns:a="http://schemas.openxmlformats.org/drawingml/2006/main">
              <a:ext uri="{FF2B5EF4-FFF2-40B4-BE49-F238E27FC236}">
                <a16:creationId xmlns:a16="http://schemas.microsoft.com/office/drawing/2014/main" id="{1C2BECD9-9866-4FAA-9CE4-783CC660C3F2}"/>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20 ms late. End 10 ms early.">
            <a:extLst xmlns:a="http://schemas.openxmlformats.org/drawingml/2006/main">
              <a:ext uri="{FF2B5EF4-FFF2-40B4-BE49-F238E27FC236}">
                <a16:creationId xmlns:a16="http://schemas.microsoft.com/office/drawing/2014/main" id="{EECB9C97-5739-4A44-89EE-FA062CE4C690}"/>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20 ms late.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0ec3b38db2d4760"/>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4d139700a7643f5"/>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ee9409ebaa8403f"/>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F660FD32-D4BA-4F9D-8734-75A28E7E90DC}"/>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FB0F6064-6F12-409B-88E4-D829AAB6BEC3}"/>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ECEE153F-C85D-4C06-865E-0C85CB5FDAD3}"/>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49143145">
            <a:extLst xmlns:a="http://schemas.openxmlformats.org/drawingml/2006/main">
              <a:ext uri="{FF2B5EF4-FFF2-40B4-BE49-F238E27FC236}">
                <a16:creationId xmlns:a16="http://schemas.microsoft.com/office/drawing/2014/main" id="{D3967355-7DD8-4463-9AEF-0695441FAE84}"/>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0.0049143145</a:t>
            </a:r>
          </a:p>
        </p:txBody>
      </p:sp>
      <p:sp>
        <p:nvSpPr>
          <p:cNvPr id="11" name="t (s)">
            <a:extLst xmlns:a="http://schemas.openxmlformats.org/drawingml/2006/main">
              <a:ext uri="{FF2B5EF4-FFF2-40B4-BE49-F238E27FC236}">
                <a16:creationId xmlns:a16="http://schemas.microsoft.com/office/drawing/2014/main" id="{6D7F784A-45D4-4A56-BDE4-C3B1297631FC}"/>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010A3BD5-16CB-4D75-BA6B-E031D366F9E5}"/>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9F199C64-3EC0-421C-847E-739D6F2BA3C5}"/>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34F14A54-606D-478A-913B-D06D122BC91A}"/>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12F33C5D-32D6-4D93-B21D-0A5792D993F7}"/>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63966137-A95C-403C-BD55-DA5E8D850D14}"/>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BA8EADAF-AEE0-459E-A3FD-D57E0F5A1D93}"/>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FBDC6D0A-569A-4D62-AA9E-B1CC4816F6D7}"/>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A3B47C5F-60BD-4125-B0E8-1A4BFFBC8FF5}"/>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CF16ABD6-6148-442D-967B-BA0A561036FE}"/>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96D07A02-D85C-4ACD-A6DD-75ED6C19C12B}"/>
              </a:ext>
            </a:extLst>
          </p:cNvPr>
          <p:cNvSpPr>
            <a:spLocks xmlns:a="http://schemas.openxmlformats.org/drawingml/2006/main" noGrp="1"/>
          </p:cNvSpPr>
          <p:nvPr/>
        </p:nvSpPr>
        <p:spPr>
          <a:xfrm xmlns:a="http://schemas.openxmlformats.org/drawingml/2006/main">
            <a:off x="823552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BA8A9EAD-3D12-4D8F-BC7F-8F1E7A3C6276}"/>
              </a:ext>
            </a:extLst>
          </p:cNvPr>
          <p:cNvSpPr>
            <a:spLocks xmlns:a="http://schemas.openxmlformats.org/drawingml/2006/main" noGrp="1"/>
          </p:cNvSpPr>
          <p:nvPr/>
        </p:nvSpPr>
        <p:spPr>
          <a:xfrm xmlns:a="http://schemas.openxmlformats.org/drawingml/2006/main">
            <a:off x="10698889"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62903201-8E50-4BD5-810D-E64629029661}"/>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DC676140-142C-48DE-8485-AED52401826D}"/>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81CC28A7-A75F-4D7F-9F94-7412509F194B}"/>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1A86C53A-31D9-41FB-BFE6-85DACAC23FCD}"/>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F11DAF48-D4A6-4AE1-9FB1-82E961081FA1}"/>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22CF3FEB-8EEE-4281-BCBC-FDBEAFEAE7FE}"/>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F12583C9-6CD2-4F07-BE5A-F76D4402A21A}"/>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7F1635CD-B539-49B7-81B0-01CBBC5BDD24}"/>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935598974"/>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Gaussian Statistics">
            <a:extLst xmlns:a="http://schemas.openxmlformats.org/drawingml/2006/main">
              <a:ext uri="{FF2B5EF4-FFF2-40B4-BE49-F238E27FC236}">
                <a16:creationId xmlns:a16="http://schemas.microsoft.com/office/drawing/2014/main" id="{8B860129-28CF-40B9-95BF-131B63061FA0}"/>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Gaussian Statistics</a:t>
            </a:r>
          </a:p>
        </p:txBody>
      </p:sp>
      <p:sp>
        <p:nvSpPr>
          <p:cNvPr id="2" name="Đinh Huỳnh Nguyên Khang">
            <a:extLst xmlns:a="http://schemas.openxmlformats.org/drawingml/2006/main">
              <a:ext uri="{FF2B5EF4-FFF2-40B4-BE49-F238E27FC236}">
                <a16:creationId xmlns:a16="http://schemas.microsoft.com/office/drawing/2014/main" id="{4DCFDF9B-1C5F-4BA4-98B9-4EDF7EFDEBAF}"/>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Đinh Huỳnh Nguyên Khang</a:t>
            </a:r>
          </a:p>
        </p:txBody>
      </p:sp>
      <p:sp>
        <p:nvSpPr>
          <p:cNvPr id="3" name="TRAIN">
            <a:extLst xmlns:a="http://schemas.openxmlformats.org/drawingml/2006/main">
              <a:ext uri="{FF2B5EF4-FFF2-40B4-BE49-F238E27FC236}">
                <a16:creationId xmlns:a16="http://schemas.microsoft.com/office/drawing/2014/main" id="{936BDEC7-9E20-47D8-A69C-F2A0B84B6367}"/>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TRAIN STE Normalize each WAV">
            <a:extLst xmlns:a="http://schemas.openxmlformats.org/drawingml/2006/main">
              <a:ext uri="{FF2B5EF4-FFF2-40B4-BE49-F238E27FC236}">
                <a16:creationId xmlns:a16="http://schemas.microsoft.com/office/drawing/2014/main" id="{0BE5D1B0-D2F2-448E-9CFB-D7ABB3F7BDDD}"/>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TRAIN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 each WAV</a:t>
            </a:r>
          </a:p>
        </p:txBody>
      </p:sp>
      <p:sp>
        <p:nvSpPr>
          <p:cNvPr id="5" name="LAB classes Silence and speech">
            <a:extLst xmlns:a="http://schemas.openxmlformats.org/drawingml/2006/main">
              <a:ext uri="{FF2B5EF4-FFF2-40B4-BE49-F238E27FC236}">
                <a16:creationId xmlns:a16="http://schemas.microsoft.com/office/drawing/2014/main" id="{D73310E2-BBD1-4B90-94E3-668F4831A019}"/>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LAB classes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and speech</a:t>
            </a:r>
          </a:p>
        </p:txBody>
      </p:sp>
      <p:sp>
        <p:nvSpPr>
          <p:cNvPr id="6" name="Mean and std Gaussian crossing">
            <a:extLst xmlns:a="http://schemas.openxmlformats.org/drawingml/2006/main">
              <a:ext uri="{FF2B5EF4-FFF2-40B4-BE49-F238E27FC236}">
                <a16:creationId xmlns:a16="http://schemas.microsoft.com/office/drawing/2014/main" id="{75248029-A91C-49A8-8031-B5DA2DB6BF59}"/>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Mean and std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Gaussian crossing</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503 silence, 794 speech. T = 0.0027634166.">
            <a:extLst xmlns:a="http://schemas.openxmlformats.org/drawingml/2006/main">
              <a:ext uri="{FF2B5EF4-FFF2-40B4-BE49-F238E27FC236}">
                <a16:creationId xmlns:a16="http://schemas.microsoft.com/office/drawing/2014/main" id="{310F7B1C-3595-4EC0-8F74-6FE9B60B7733}"/>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503 silence, 794 speech. T = 0.0027634166.</a:t>
            </a:r>
          </a:p>
        </p:txBody>
      </p:sp>
      <p:sp>
        <p:nvSpPr>
          <p:cNvPr id="10" name="TEST">
            <a:extLst xmlns:a="http://schemas.openxmlformats.org/drawingml/2006/main">
              <a:ext uri="{FF2B5EF4-FFF2-40B4-BE49-F238E27FC236}">
                <a16:creationId xmlns:a16="http://schemas.microsoft.com/office/drawing/2014/main" id="{CF70E1C4-1D87-4B51-9A8F-6F0D888F178D}"/>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Normalized TEST STE Same 25 ms windows">
            <a:extLst xmlns:a="http://schemas.openxmlformats.org/drawingml/2006/main">
              <a:ext uri="{FF2B5EF4-FFF2-40B4-BE49-F238E27FC236}">
                <a16:creationId xmlns:a16="http://schemas.microsoft.com/office/drawing/2014/main" id="{91A8E824-3D4F-49EF-A12E-11AF17720C65}"/>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Normalized TEST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Same 25 ms windows</a:t>
            </a:r>
          </a:p>
        </p:txBody>
      </p:sp>
      <p:sp>
        <p:nvSpPr>
          <p:cNvPr id="12" name="Fixed TEST threshold Shared across WAVs">
            <a:extLst xmlns:a="http://schemas.openxmlformats.org/drawingml/2006/main">
              <a:ext uri="{FF2B5EF4-FFF2-40B4-BE49-F238E27FC236}">
                <a16:creationId xmlns:a16="http://schemas.microsoft.com/office/drawing/2014/main" id="{595904D4-57C6-4049-8AB2-1B3883B3DE6F}"/>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Fixed TEST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Shared across WAVs</a:t>
            </a:r>
          </a:p>
        </p:txBody>
      </p:sp>
      <p:sp>
        <p:nvSpPr>
          <p:cNvPr id="13" name="Classify and merge Silence under 200 ms">
            <a:extLst xmlns:a="http://schemas.openxmlformats.org/drawingml/2006/main">
              <a:ext uri="{FF2B5EF4-FFF2-40B4-BE49-F238E27FC236}">
                <a16:creationId xmlns:a16="http://schemas.microsoft.com/office/drawing/2014/main" id="{25276C79-50CD-4FC6-8DA0-58AB7905C2A8}"/>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Classify and merge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1247558616"/>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Statistics: phone_F2">
            <a:extLst xmlns:a="http://schemas.openxmlformats.org/drawingml/2006/main">
              <a:ext uri="{FF2B5EF4-FFF2-40B4-BE49-F238E27FC236}">
                <a16:creationId xmlns:a16="http://schemas.microsoft.com/office/drawing/2014/main" id="{22A06922-6820-44AE-BFD8-689C5F23B390}"/>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phone_F2</a:t>
            </a:r>
          </a:p>
        </p:txBody>
      </p:sp>
      <p:sp>
        <p:nvSpPr>
          <p:cNvPr id="2" name="MAE 5 ms">
            <a:extLst xmlns:a="http://schemas.openxmlformats.org/drawingml/2006/main">
              <a:ext uri="{FF2B5EF4-FFF2-40B4-BE49-F238E27FC236}">
                <a16:creationId xmlns:a16="http://schemas.microsoft.com/office/drawing/2014/main" id="{D2A6135E-8991-4468-A407-BAB206B4D4F1}"/>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late.">
            <a:extLst xmlns:a="http://schemas.openxmlformats.org/drawingml/2006/main">
              <a:ext uri="{FF2B5EF4-FFF2-40B4-BE49-F238E27FC236}">
                <a16:creationId xmlns:a16="http://schemas.microsoft.com/office/drawing/2014/main" id="{63AB6B04-C93B-4C0C-ACDD-945E4EF7C4FF}"/>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late.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685f48dbd27f4f31"/>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2d2cd8c9ca64b48"/>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d84fbe819df4e81"/>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F4FEDAB0-83BB-4D31-A68F-3FC73B78299B}"/>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35FD254A-A3E7-4B5D-A2AE-3C2D17D8E58A}"/>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C191C799-68CC-46D8-8480-7FBCCFEB6486}"/>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2DCC0C4C-04E6-4C04-B154-C5C0ACBB067E}"/>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FEE60149-F7F3-477F-BB62-242328E5CCEA}"/>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5601944F-E450-4572-AE9A-817FEFB7326B}"/>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36C4BCE6-995D-4DAC-AC2F-4BA803BF012D}"/>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8CFB71AF-C6EE-4DF4-BC7B-54CAA3860220}"/>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3FAF7854-6713-42C0-884F-DF40951667C6}"/>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9AB711E9-6641-4ECC-B58F-B00C3337C14E}"/>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6C77ECA7-8744-4CAF-8A66-58744F50BA56}"/>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2E815397-17F5-4E8F-9943-FD29188CBDE6}"/>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AF2EB5DB-6D49-449D-AA9C-C5D26F7AFD4C}"/>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97C60534-AD5E-4165-8510-83D00929DF00}"/>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FCB3130F-09B5-4ECB-83E6-359A2D7676E4}"/>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865F709E-22FE-4D95-B5F6-C3C2725C5E60}"/>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D0EA4B00-6745-46BA-A00F-D18756134A88}"/>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D900E81F-B713-4A68-95D7-D5E816DAE1FA}"/>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6399BD1B-ADBF-429F-93F7-340976966AC7}"/>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AB1E702F-36CA-4D19-B130-512CEB38B23C}"/>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F4CD8FF2-8824-43D5-9C3C-05A00278E74A}"/>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17DEF68F-1B70-4CC3-921E-38FE6F779C41}"/>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BFC63527-EF7C-45BE-8771-152FC56AA9F2}"/>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657F4DDE-AE68-400E-B7DF-C93EAA0512C4}"/>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413FB3E6-F297-4389-9AE8-83A6E156ABA9}"/>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B88D4E85-E573-483D-9AF7-0D2F446093AC}"/>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C055A31F-C182-40B6-B255-8E66D6A363BA}"/>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Tail STE remains above">
            <a:extLst xmlns:a="http://schemas.openxmlformats.org/drawingml/2006/main">
              <a:ext uri="{FF2B5EF4-FFF2-40B4-BE49-F238E27FC236}">
                <a16:creationId xmlns:a16="http://schemas.microsoft.com/office/drawing/2014/main" id="{88EA4CEB-CD0E-4DFA-AF3E-B122D786660F}"/>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STE remains above</a:t>
            </a:r>
          </a:p>
        </p:txBody>
      </p:sp>
      <p:sp>
        <p:nvSpPr>
          <p:cNvPr id="35" name="the shared threshold">
            <a:extLst xmlns:a="http://schemas.openxmlformats.org/drawingml/2006/main">
              <a:ext uri="{FF2B5EF4-FFF2-40B4-BE49-F238E27FC236}">
                <a16:creationId xmlns:a16="http://schemas.microsoft.com/office/drawing/2014/main" id="{68EEA459-5FA0-4525-9FF3-06038368F4BD}"/>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shared threshold</a:t>
            </a:r>
          </a:p>
        </p:txBody>
      </p:sp>
      <p:sp>
        <p:nvSpPr>
          <p:cNvPr id="36" name="Extra: 0. Missed: 0.">
            <a:extLst xmlns:a="http://schemas.openxmlformats.org/drawingml/2006/main">
              <a:ext uri="{FF2B5EF4-FFF2-40B4-BE49-F238E27FC236}">
                <a16:creationId xmlns:a16="http://schemas.microsoft.com/office/drawing/2014/main" id="{2746059B-550F-4B9A-808F-DBD08B80C303}"/>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907604368"/>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Statistics: phone_M2">
            <a:extLst xmlns:a="http://schemas.openxmlformats.org/drawingml/2006/main">
              <a:ext uri="{FF2B5EF4-FFF2-40B4-BE49-F238E27FC236}">
                <a16:creationId xmlns:a16="http://schemas.microsoft.com/office/drawing/2014/main" id="{481BEF1C-E21C-4EA3-8F2F-4FCA23630AE4}"/>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phone_M2</a:t>
            </a:r>
          </a:p>
        </p:txBody>
      </p:sp>
      <p:sp>
        <p:nvSpPr>
          <p:cNvPr id="2" name="MAE 5 ms">
            <a:extLst xmlns:a="http://schemas.openxmlformats.org/drawingml/2006/main">
              <a:ext uri="{FF2B5EF4-FFF2-40B4-BE49-F238E27FC236}">
                <a16:creationId xmlns:a16="http://schemas.microsoft.com/office/drawing/2014/main" id="{D861D24F-F727-436F-BBA3-F563CA862DDE}"/>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early.">
            <a:extLst xmlns:a="http://schemas.openxmlformats.org/drawingml/2006/main">
              <a:ext uri="{FF2B5EF4-FFF2-40B4-BE49-F238E27FC236}">
                <a16:creationId xmlns:a16="http://schemas.microsoft.com/office/drawing/2014/main" id="{3CFFAD50-4787-479E-B0EF-DFF4E3995DF3}"/>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e89d6b7aba14ff5"/>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ac5287572f8422e"/>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5eb620afc574edb"/>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F9C3F341-BFCA-4B1D-B719-35D14B1EB868}"/>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C39F580C-22C8-46E4-B85A-E6CD94316340}"/>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84DE55AE-389F-40A0-8584-289E196925B0}"/>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15A432A8-7F2E-4F1B-81AD-C3425EEDF608}"/>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6BD4713A-5B30-425C-87B3-E3248710D833}"/>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D07E5ECC-0744-4139-912E-CBD27107B79E}"/>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C85E81B2-AD16-47B8-8E95-115BC0CF53C0}"/>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721D9E83-909D-4569-9F81-FDC6D286D606}"/>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A4FAF1F3-1871-46E5-A4ED-3B6F90B5E145}"/>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5AD40AF3-9A74-452F-A718-553140F444C7}"/>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67D076B3-8CAC-46DC-98BF-4A0E0A20B9A2}"/>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ED51AA38-B464-4705-88AC-643660799EB4}"/>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D0CF2549-9368-4F49-BAE5-0E7BD4B82383}"/>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D987AFE0-A542-45AD-8035-2AF2205BFE6C}"/>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ED71507E-D3E2-42DE-932D-D35FFA08C06E}"/>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8D785A3A-E71F-44FA-9B0A-F63B2F8AFEEE}"/>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DECCE326-172D-420B-873A-6BBB62B9F7C3}"/>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CCBB5B64-E8F6-4DFB-B5BC-32A0CC3B6FA9}"/>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9BBCC3AB-1545-41F1-9942-35456BCAE14A}"/>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933FFE1E-4287-4B1B-BEC0-522527EDB2D8}"/>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9F70D5BB-67DE-4789-A670-32C7CB68CC29}"/>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B407CC46-A92A-4450-A8A3-B9E27AE16073}"/>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3E7EA4DA-D3DD-4C57-8309-7F24FA447B45}"/>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3248E228-D64A-4476-A745-1564F64B5527}"/>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337431016"/>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Statistics: studio_F2">
            <a:extLst xmlns:a="http://schemas.openxmlformats.org/drawingml/2006/main">
              <a:ext uri="{FF2B5EF4-FFF2-40B4-BE49-F238E27FC236}">
                <a16:creationId xmlns:a16="http://schemas.microsoft.com/office/drawing/2014/main" id="{41B179C5-922B-4D49-A088-EF96E58EB5C2}"/>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studio_F2</a:t>
            </a:r>
          </a:p>
        </p:txBody>
      </p:sp>
      <p:sp>
        <p:nvSpPr>
          <p:cNvPr id="2" name="MAE 15 ms">
            <a:extLst xmlns:a="http://schemas.openxmlformats.org/drawingml/2006/main">
              <a:ext uri="{FF2B5EF4-FFF2-40B4-BE49-F238E27FC236}">
                <a16:creationId xmlns:a16="http://schemas.microsoft.com/office/drawing/2014/main" id="{CCBC37A1-57DE-4EB1-839A-3F44A35A947B}"/>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10 ms early. End 20 ms early.">
            <a:extLst xmlns:a="http://schemas.openxmlformats.org/drawingml/2006/main">
              <a:ext uri="{FF2B5EF4-FFF2-40B4-BE49-F238E27FC236}">
                <a16:creationId xmlns:a16="http://schemas.microsoft.com/office/drawing/2014/main" id="{76E99154-0C55-434C-A755-B37797CAF497}"/>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20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fa1c8e77b574a62"/>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b5a32cf031242d0"/>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99bd847cd3b4218"/>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2FA3BDA5-4A80-4634-AEA1-94D107FF7AB1}"/>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47A09740-DECF-4C5A-A9C8-046AEAC4A66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40D83D6C-BA9C-4DED-BF2E-28DBA4C95110}"/>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41057EAD-C796-43F3-B9AA-A815B3C8D7E8}"/>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4DC0E1DF-7890-4590-A7AA-13CAD0F8D8B2}"/>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F6162342-3675-45B6-A198-E19E5E48088A}"/>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6A493A8A-5922-4F99-B664-26FE97F8A9E8}"/>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D47CAB7C-76A2-4935-9EF9-967B59F8D7FC}"/>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3DFF83CE-593B-4B77-8F2A-AB471176DCC7}"/>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FB0B8516-9DD2-46F8-9B05-939CF6EF1AA2}"/>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B7D8DCD2-21A5-4FAD-BE21-01C9F6FADF86}"/>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9274A0DC-F54B-4AFE-9E35-F84A3B21BE67}"/>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F2A1B86D-471A-4BF3-9B1B-ADC2E18C531C}"/>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8E83BC77-2C7E-41C7-B4AB-4AB1A8CE42A2}"/>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41AEA2C4-F1BA-460D-8F89-F940A0B0F098}"/>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EA7AA6DF-E0AD-45B4-856E-225489AF3EF6}"/>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0E03A38F-5A3C-40D4-BAAD-84DB2C9E64C3}"/>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02857264-61EC-4700-8EC9-3E13A41A56CB}"/>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E2375953-CBB5-442C-B9E9-C3B3E7DF5635}"/>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EE950329-B180-4669-8A45-FC700FAC1D88}"/>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D8EA90CD-75CD-444E-9615-867BBAEF7B91}"/>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879E1095-67A0-44BF-8CD5-E4DFC11B7BEB}"/>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93757646-4F04-4E61-A86F-EADC3E6D40D5}"/>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E93AA4FD-AD31-4840-8343-6A73C90E23E1}"/>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Onset window includes speech.">
            <a:extLst xmlns:a="http://schemas.openxmlformats.org/drawingml/2006/main">
              <a:ext uri="{FF2B5EF4-FFF2-40B4-BE49-F238E27FC236}">
                <a16:creationId xmlns:a16="http://schemas.microsoft.com/office/drawing/2014/main" id="{4EDAF790-EEE5-4499-9113-0F4DA6FCC61C}"/>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Onset window includes speech.</a:t>
            </a:r>
          </a:p>
        </p:txBody>
      </p:sp>
      <p:sp>
        <p:nvSpPr>
          <p:cNvPr id="32" name="Tail energy falls below T.">
            <a:extLst xmlns:a="http://schemas.openxmlformats.org/drawingml/2006/main">
              <a:ext uri="{FF2B5EF4-FFF2-40B4-BE49-F238E27FC236}">
                <a16:creationId xmlns:a16="http://schemas.microsoft.com/office/drawing/2014/main" id="{5F5B5286-AA48-49E4-8320-BDA8754F0802}"/>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energy falls below T.</a:t>
            </a:r>
          </a:p>
        </p:txBody>
      </p:sp>
      <p:sp>
        <p:nvSpPr>
          <p:cNvPr id="33" name="Extra: 0. Missed: 0.">
            <a:extLst xmlns:a="http://schemas.openxmlformats.org/drawingml/2006/main">
              <a:ext uri="{FF2B5EF4-FFF2-40B4-BE49-F238E27FC236}">
                <a16:creationId xmlns:a16="http://schemas.microsoft.com/office/drawing/2014/main" id="{3B98B4AC-3D93-4D3E-A164-F9A66EEEE579}"/>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834381712"/>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Statistics: studio_M2">
            <a:extLst xmlns:a="http://schemas.openxmlformats.org/drawingml/2006/main">
              <a:ext uri="{FF2B5EF4-FFF2-40B4-BE49-F238E27FC236}">
                <a16:creationId xmlns:a16="http://schemas.microsoft.com/office/drawing/2014/main" id="{C5D78CB2-1BCF-4B81-9BD9-6BA9B67B5471}"/>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studio_M2</a:t>
            </a:r>
          </a:p>
        </p:txBody>
      </p:sp>
      <p:sp>
        <p:nvSpPr>
          <p:cNvPr id="2" name="MAE 10 ms">
            <a:extLst xmlns:a="http://schemas.openxmlformats.org/drawingml/2006/main">
              <a:ext uri="{FF2B5EF4-FFF2-40B4-BE49-F238E27FC236}">
                <a16:creationId xmlns:a16="http://schemas.microsoft.com/office/drawing/2014/main" id="{557F9895-7B3B-4003-AA3B-1644BD401438}"/>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late. End 10 ms early.">
            <a:extLst xmlns:a="http://schemas.openxmlformats.org/drawingml/2006/main">
              <a:ext uri="{FF2B5EF4-FFF2-40B4-BE49-F238E27FC236}">
                <a16:creationId xmlns:a16="http://schemas.microsoft.com/office/drawing/2014/main" id="{854879B9-CE41-4D0B-97AD-AE854A1F4DE0}"/>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f8685a070e74d53"/>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381398bac454537"/>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02c1fe837ec4c7f"/>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D308C4F3-6713-4581-8548-B56FD22B8013}"/>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D3CF50B9-7B9E-414E-A61C-703D3C1849A1}"/>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F4146882-B696-44F8-B5A6-12C72DD55A7A}"/>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6F2545C7-0B56-437B-A05E-54C1313DACE5}"/>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FD67122C-4301-4838-BC6D-A464186940A8}"/>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0694DD3C-9033-48FE-BE94-AD094B0C26BD}"/>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4E14EDB4-10C3-4188-A3A2-0F238CBD21B6}"/>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06DD2A42-0043-4A69-8C34-6DC9316B4976}"/>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0FAE859C-74F2-4E7F-A60D-D98EC1613205}"/>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F959D563-8611-43BA-80F0-0250562B44D6}"/>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4E417AFE-1C75-4F8E-8BB3-74E0029755D1}"/>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94CE898C-F9C3-4FEF-ABE0-B6ED961E12A2}"/>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6C48B61D-C85D-4585-9B89-D2BF4D6DEA9E}"/>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37D54A5D-DE13-49B5-9BAF-32D606B334E5}"/>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873E03F7-D74E-497A-9851-FE51F61109EA}"/>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C7C75ABF-5937-4D2F-87AB-B9EC970FB209}"/>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DCC60014-07C1-4B5C-9651-5F97646A1AE1}"/>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9D81FFCA-F14E-4EA4-B899-13297A29F0F2}"/>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91C5E3E5-6B76-4E38-9683-113AD45C980D}"/>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C6C0B7B1-6D55-4F7F-BAF2-78AD0D3DFE64}"/>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80B4CCE9-7A1A-418F-B07A-39DDA11B54AD}"/>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662C83D0-0E7B-42DE-9534-07D93230FBEB}"/>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E4403527-FC3C-4162-8601-58DB232E62F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42BEB30F-AD0B-4E36-80FC-D175586D1522}"/>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246004135"/>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 name="Statistics has the lowest mean TEST MAE (ms)">
            <a:extLst xmlns:a="http://schemas.openxmlformats.org/drawingml/2006/main">
              <a:ext uri="{FF2B5EF4-FFF2-40B4-BE49-F238E27FC236}">
                <a16:creationId xmlns:a16="http://schemas.microsoft.com/office/drawing/2014/main" id="{717E887D-6BE4-4224-9F1F-6FC71EBC111D}"/>
              </a:ext>
            </a:extLst>
          </p:cNvPr>
          <p:cNvSpPr>
            <a:spLocks xmlns:a="http://schemas.openxmlformats.org/drawingml/2006/main" noGrp="1"/>
          </p:cNvSpPr>
          <p:nvPr/>
        </p:nvSpPr>
        <p:spPr>
          <a:xfrm xmlns:a="http://schemas.openxmlformats.org/drawingml/2006/main">
            <a:off x="457200" y="3714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15363D"/>
                </a:solidFill>
                <a:latin typeface="Lato"/>
                <a:ea typeface="Lato"/>
                <a:cs typeface="Lato"/>
              </a:defRPr>
            </a:pPr>
            <a:r>
              <a:rPr sz="3450" b="1">
                <a:solidFill>
                  <a:srgbClr val="15363D"/>
                </a:solidFill>
                <a:latin typeface="Lato"/>
                <a:ea typeface="Lato"/>
                <a:cs typeface="Lato"/>
              </a:rPr>
              <a:t>Statistics has the lowest mean TEST MAE (ms)</a:t>
            </a:r>
          </a:p>
        </p:txBody>
      </p:sp>
      <p:graphicFrame>
        <p:nvGraphicFramePr>
          <p:cNvPr id="4" name=""/>
          <p:cNvGraphicFramePr/>
          <p:nvPr/>
        </p:nvGraphicFramePr>
        <p:xfrm>
          <a:off xmlns:a="http://schemas.openxmlformats.org/drawingml/2006/main" x="457200" y="1581150"/>
          <a:ext xmlns:a="http://schemas.openxmlformats.org/drawingml/2006/main" cx="11277600" cy="4343400"/>
        </p:xfrm>
        <a:graphic xmlns:a="http://schemas.openxmlformats.org/drawingml/2006/main">
          <a:graphicData uri="http://schemas.openxmlformats.org/drawingml/2006/table">
            <a:tbl>
              <a:tblPr firstRow="1" bandRow="0"/>
              <a:tblGrid>
                <a:gridCol w="3143250"/>
                <a:gridCol w="2705100"/>
                <a:gridCol w="2714625"/>
                <a:gridCol w="2714625"/>
              </a:tblGrid>
              <a:tr h="723900">
                <a:tc>
                  <a:txBody>
                    <a:bodyPr>
                      <a:noAutofit/>
                    </a:bodyPr>
                    <a:lstStyle/>
                    <a:p>
                      <a:pPr algn="l"/>
                      <a:r>
                        <a:rPr sz="2700" b="1">
                          <a:solidFill>
                            <a:srgbClr val="FFFFFF"/>
                          </a:solidFill>
                          <a:latin typeface="Lato"/>
                          <a:ea typeface="Lato"/>
                          <a:cs typeface="Lato"/>
                        </a:rPr>
                        <a:t>TEST file</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Binary</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Histogram</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Statistics</a:t>
                      </a:r>
                    </a:p>
                  </a:txBody>
                  <a:tcPr marL="91440" marR="91440" marT="45720" marB="45720" anchor="ctr">
                    <a:solidFill>
                      <a:srgbClr val="15363D"/>
                    </a:solidFill>
                  </a:tcPr>
                </a:tc>
              </a:tr>
              <a:tr h="723900">
                <a:tc>
                  <a:txBody>
                    <a:bodyPr>
                      <a:noAutofit/>
                    </a:bodyPr>
                    <a:lstStyle/>
                    <a:p>
                      <a:pPr algn="l"/>
                      <a:r>
                        <a:rPr sz="2700" b="0">
                          <a:solidFill>
                            <a:srgbClr val="15363D"/>
                          </a:solidFill>
                          <a:latin typeface="Lato"/>
                          <a:ea typeface="Lato"/>
                          <a:cs typeface="Lato"/>
                        </a:rPr>
                        <a:t>phone_F2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30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phone_M2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studio_F2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studio_M2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r>
              <a:tr h="723900">
                <a:tc>
                  <a:txBody>
                    <a:bodyPr>
                      <a:noAutofit/>
                    </a:bodyPr>
                    <a:lstStyle/>
                    <a:p>
                      <a:pPr algn="l"/>
                      <a:r>
                        <a:rPr sz="2700" b="1">
                          <a:solidFill>
                            <a:srgbClr val="15363D"/>
                          </a:solidFill>
                          <a:latin typeface="Lato"/>
                          <a:ea typeface="Lato"/>
                          <a:cs typeface="Lato"/>
                        </a:rPr>
                        <a:t>Mean</a:t>
                      </a:r>
                    </a:p>
                  </a:txBody>
                  <a:tcPr marL="91440" marR="91440" marT="45720" marB="45720" anchor="ctr">
                    <a:solidFill>
                      <a:srgbClr val="DDF0E9"/>
                    </a:solidFill>
                  </a:tcPr>
                </a:tc>
                <a:tc>
                  <a:txBody>
                    <a:bodyPr>
                      <a:noAutofit/>
                    </a:bodyPr>
                    <a:lstStyle/>
                    <a:p>
                      <a:pPr algn="ctr"/>
                      <a:r>
                        <a:rPr sz="2700" b="1">
                          <a:solidFill>
                            <a:srgbClr val="15363D"/>
                          </a:solidFill>
                          <a:latin typeface="Lato"/>
                          <a:ea typeface="Lato"/>
                          <a:cs typeface="Lato"/>
                        </a:rPr>
                        <a:t>11.25</a:t>
                      </a:r>
                    </a:p>
                  </a:txBody>
                  <a:tcPr marL="91440" marR="91440" marT="45720" marB="45720" anchor="ctr">
                    <a:solidFill>
                      <a:srgbClr val="DDF0E9"/>
                    </a:solidFill>
                  </a:tcPr>
                </a:tc>
                <a:tc>
                  <a:txBody>
                    <a:bodyPr>
                      <a:noAutofit/>
                    </a:bodyPr>
                    <a:lstStyle/>
                    <a:p>
                      <a:pPr algn="ctr"/>
                      <a:r>
                        <a:rPr sz="2700" b="1">
                          <a:solidFill>
                            <a:srgbClr val="15363D"/>
                          </a:solidFill>
                          <a:latin typeface="Lato"/>
                          <a:ea typeface="Lato"/>
                          <a:cs typeface="Lato"/>
                        </a:rPr>
                        <a:t>11.25</a:t>
                      </a:r>
                    </a:p>
                  </a:txBody>
                  <a:tcPr marL="91440" marR="91440" marT="45720" marB="45720" anchor="ctr">
                    <a:solidFill>
                      <a:srgbClr val="DDF0E9"/>
                    </a:solidFill>
                  </a:tcPr>
                </a:tc>
                <a:tc>
                  <a:txBody>
                    <a:bodyPr>
                      <a:noAutofit/>
                    </a:bodyPr>
                    <a:lstStyle/>
                    <a:p>
                      <a:pPr algn="ctr"/>
                      <a:r>
                        <a:rPr sz="2700" b="1">
                          <a:solidFill>
                            <a:srgbClr val="087F78"/>
                          </a:solidFill>
                          <a:latin typeface="Lato"/>
                          <a:ea typeface="Lato"/>
                          <a:cs typeface="Lato"/>
                        </a:rPr>
                        <a:t>8.75</a:t>
                      </a:r>
                    </a:p>
                  </a:txBody>
                  <a:tcPr marL="91440" marR="91440" marT="45720" marB="45720" anchor="ctr">
                    <a:solidFill>
                      <a:srgbClr val="DDF0E9"/>
                    </a:solidFill>
                  </a:tcPr>
                </a:tc>
              </a:tr>
            </a:tbl>
          </a:graphicData>
        </a:graphic>
      </p:graphicFrame>
    </p:spTree>
    <p:extLst>
      <p:ext uri="{BB962C8B-B14F-4D97-AF65-F5344CB8AC3E}">
        <p14:creationId xmlns:p14="http://schemas.microsoft.com/office/powerpoint/2010/main" val="357306708"/>
      </p:ext>
    </p:extLst>
  </p:cSld>
</p:sld>
</file>

<file path=ppt/slides/slide19.xml><?xml version="1.0" encoding="utf-8"?>
<p:sld xmlns:p="http://schemas.openxmlformats.org/presentationml/2006/main">
  <p:cSld>
    <p:bg>
      <p:bgPr>
        <a:solidFill xmlns:a="http://schemas.openxmlformats.org/drawingml/2006/main">
          <a:srgbClr val="15363D"/>
        </a:solidFill>
      </p:bgPr>
    </p:bg>
    <p:spTree>
      <p:nvGrpSpPr>
        <p:cNvPr id="1" name=""/>
        <p:cNvGrpSpPr/>
        <p:nvPr/>
      </p:nvGrpSpPr>
      <p:grpSpPr>
        <a:xfrm xmlns:a="http://schemas.openxmlformats.org/drawingml/2006/main"/>
      </p:grpSpPr>
      <p:sp>
        <p:nvSpPr>
          <p:cNvPr id="6" name="Thank you">
            <a:extLst xmlns:a="http://schemas.openxmlformats.org/drawingml/2006/main">
              <a:ext uri="{FF2B5EF4-FFF2-40B4-BE49-F238E27FC236}">
                <a16:creationId xmlns:a16="http://schemas.microsoft.com/office/drawing/2014/main" id="{D8676CF3-AA97-4FBA-A459-35610D15222D}"/>
              </a:ext>
            </a:extLst>
          </p:cNvPr>
          <p:cNvSpPr>
            <a:spLocks xmlns:a="http://schemas.openxmlformats.org/drawingml/2006/main" noGrp="1"/>
          </p:cNvSpPr>
          <p:nvPr/>
        </p:nvSpPr>
        <p:spPr>
          <a:xfrm xmlns:a="http://schemas.openxmlformats.org/drawingml/2006/main">
            <a:off x="609600" y="1524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50" b="1">
                <a:solidFill>
                  <a:srgbClr val="FFFFFF"/>
                </a:solidFill>
                <a:latin typeface="Lato"/>
                <a:ea typeface="Lato"/>
                <a:cs typeface="Lato"/>
              </a:defRPr>
            </a:pPr>
            <a:r>
              <a:rPr sz="7050" b="1">
                <a:solidFill>
                  <a:srgbClr val="FFFFFF"/>
                </a:solidFill>
                <a:latin typeface="Lato"/>
                <a:ea typeface="Lato"/>
                <a:cs typeface="Lato"/>
              </a:rPr>
              <a:t>Thank you</a:t>
            </a:r>
          </a:p>
        </p:txBody>
      </p:sp>
      <p:sp>
        <p:nvSpPr>
          <p:cNvPr id="2" name="Group 03">
            <a:extLst xmlns:a="http://schemas.openxmlformats.org/drawingml/2006/main">
              <a:ext uri="{FF2B5EF4-FFF2-40B4-BE49-F238E27FC236}">
                <a16:creationId xmlns:a16="http://schemas.microsoft.com/office/drawing/2014/main" id="{AC697E99-F9D3-463B-AA27-CD177EBBA687}"/>
              </a:ext>
            </a:extLst>
          </p:cNvPr>
          <p:cNvSpPr>
            <a:spLocks xmlns:a="http://schemas.openxmlformats.org/drawingml/2006/main" noGrp="1"/>
          </p:cNvSpPr>
          <p:nvPr/>
        </p:nvSpPr>
        <p:spPr>
          <a:xfrm xmlns:a="http://schemas.openxmlformats.org/drawingml/2006/main">
            <a:off x="609600" y="29718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A9DECF"/>
                </a:solidFill>
                <a:latin typeface="Lato"/>
                <a:ea typeface="Lato"/>
                <a:cs typeface="Lato"/>
              </a:defRPr>
            </a:pPr>
            <a:r>
              <a:rPr sz="2850" b="1">
                <a:solidFill>
                  <a:srgbClr val="A9DECF"/>
                </a:solidFill>
                <a:latin typeface="Lato"/>
                <a:ea typeface="Lato"/>
                <a:cs typeface="Lato"/>
              </a:rPr>
              <a:t>Group 03</a:t>
            </a:r>
          </a:p>
        </p:txBody>
      </p:sp>
      <p:sp>
        <p:nvSpPr>
          <p:cNvPr id="3" name="Võ Thanh Quân">
            <a:extLst xmlns:a="http://schemas.openxmlformats.org/drawingml/2006/main">
              <a:ext uri="{FF2B5EF4-FFF2-40B4-BE49-F238E27FC236}">
                <a16:creationId xmlns:a16="http://schemas.microsoft.com/office/drawing/2014/main" id="{124A3472-C928-4B20-9E89-F5FEBB7CFAD9}"/>
              </a:ext>
            </a:extLst>
          </p:cNvPr>
          <p:cNvSpPr>
            <a:spLocks xmlns:a="http://schemas.openxmlformats.org/drawingml/2006/main" noGrp="1"/>
          </p:cNvSpPr>
          <p:nvPr/>
        </p:nvSpPr>
        <p:spPr>
          <a:xfrm xmlns:a="http://schemas.openxmlformats.org/drawingml/2006/main">
            <a:off x="628650" y="4257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Võ Thanh Quân</a:t>
            </a:r>
          </a:p>
        </p:txBody>
      </p:sp>
      <p:sp>
        <p:nvSpPr>
          <p:cNvPr id="4" name="Vương Quốc Trung">
            <a:extLst xmlns:a="http://schemas.openxmlformats.org/drawingml/2006/main">
              <a:ext uri="{FF2B5EF4-FFF2-40B4-BE49-F238E27FC236}">
                <a16:creationId xmlns:a16="http://schemas.microsoft.com/office/drawing/2014/main" id="{0864D17F-515B-4863-862E-A5E1E3FCFB3A}"/>
              </a:ext>
            </a:extLst>
          </p:cNvPr>
          <p:cNvSpPr>
            <a:spLocks xmlns:a="http://schemas.openxmlformats.org/drawingml/2006/main" noGrp="1"/>
          </p:cNvSpPr>
          <p:nvPr/>
        </p:nvSpPr>
        <p:spPr>
          <a:xfrm xmlns:a="http://schemas.openxmlformats.org/drawingml/2006/main">
            <a:off x="628650" y="47910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Vương Quốc Trung</a:t>
            </a:r>
          </a:p>
        </p:txBody>
      </p:sp>
      <p:sp>
        <p:nvSpPr>
          <p:cNvPr id="5" name="Đinh Huỳnh Nguyên Khang">
            <a:extLst xmlns:a="http://schemas.openxmlformats.org/drawingml/2006/main">
              <a:ext uri="{FF2B5EF4-FFF2-40B4-BE49-F238E27FC236}">
                <a16:creationId xmlns:a16="http://schemas.microsoft.com/office/drawing/2014/main" id="{BFCA6E4D-A1D6-4BD2-8E1B-B96689E26FC8}"/>
              </a:ext>
            </a:extLst>
          </p:cNvPr>
          <p:cNvSpPr>
            <a:spLocks xmlns:a="http://schemas.openxmlformats.org/drawingml/2006/main" noGrp="1"/>
          </p:cNvSpPr>
          <p:nvPr/>
        </p:nvSpPr>
        <p:spPr>
          <a:xfrm xmlns:a="http://schemas.openxmlformats.org/drawingml/2006/main">
            <a:off x="628650" y="53244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Đinh Huỳnh Nguyên Khang</a:t>
            </a:r>
          </a:p>
        </p:txBody>
      </p:sp>
    </p:spTree>
    <p:extLst>
      <p:ext uri="{BB962C8B-B14F-4D97-AF65-F5344CB8AC3E}">
        <p14:creationId xmlns:p14="http://schemas.microsoft.com/office/powerpoint/2010/main" val="450156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2026-10-05T15:04:10.8940000Z</dcterms:created>
  <dcterms:modified xsi:type="dcterms:W3CDTF">2026-10-05T15:04:10.8940000Z</dcterms:modified>
</coreProperties>
</file>